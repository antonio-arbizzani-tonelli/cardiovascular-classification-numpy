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completed portfolio release (14 October 2026) for classifying reported cardiovascular disease in BRFSS 2015 survey data. Challenge scores: F1 0.455 and accuracy 0.882, author-reported AIcrowd display scores rounded to three decimals, recorded on 13 October 2026. Rank 3 is the author's reported position on 14 October 2026: a dated snapshot, not a final placing, not independently verified; no participant count or challenge year is inferred. Sources: evidence/RELEASE_20261014.json, evidence/aicrowd/combined_feedback_20261013.json.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codebook cleaning, diet representation (repository Phase 18), restricted conditional imputation (Phase 24), the frozen historical NumPy booster (Phase 14 source), full-train out-of-fold threshold, challenge submission. Release identifier combined18_24_l2_1, 297 transformed features, 200 trees. "Completed release" describes this portfolio and its selected recorded result; it does not assert that the challenge has ended. The +0.0077 local evidence concerns the historical reference booster, not the final combination. Sources: project/configs/final_model.json, evidence/RELEASE_20261014.json, project/results/eda/phase38_matched_logistic_summary.md.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file: 328,135 rows, 321 predictors plus Id; 28,975 positives and 299,160 negatives. 47,175,779 blank cells (44.79% of the raw training matrix); much of it comes from survey branching, so a single global constant would be wrong. Challenge test file: 109,379 rows. All-negative baseline: accuracy 91.17%, F1 0. Selected challenge feedback: accuracy 0.882, F1 0.455 (author-reported). Sources: project/docs/DATA.md, project/results/eda/dataset_audit.json, evidence/METRICS.json, evidence/aicrowd/combined_feedback_20261013.json.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 codes can mean a category, a missing answer or a real quantity; the BRFSS codebook decides, feature by feature. Do not read 88, 7 or 9 as globally recoded. The preprocessing also fixes 14 codebook parsing gaps. Counts: 1,095,421 nonresponse codes and 899,687 zero-quantity codes in the historical 262,508-row, 295-column development audit before binary recoding; they are transformation counts, not combined-pipeline feature counts or performance gains. Learned quantities are fitted on training rows only. Sources: project/configs/experiments/phase14_codebook_corrections_only.json, project/results/eda/phase33_preprocessing_counts.json.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Excluded raw diet fields: FRUITJU1, FRUIT1, FVBEANS, FVGREEN, FVORANG, VEGETAB1. Retained derived counterparts already in the data: FTJUDA1_, FRUTDA1_, BEANDAY_, GRENDAY_, ORNGDAY_, VEGEDA1_. No new diet variables are synthesized. Restricted filling: unknown/refused answers of INCOME2, PNEUVAC3 and EMPLOY1 with feature-only conditional naive Bayes; blank HTM4 / WTKG3 with anchor-bin ridge models; missing BMI derived from completed height and weight. Everything else that is missing stays missing for the trees. Model input: 289 source columns + 8 missing-state flags = 297 transformed features (297 is not a raw-variable count). Repository identifiers: Phase 18 (diet) + Phase 24 (restricted imputation). Sources: project/configs/experiments/combined18_24_preprocessing.json, project/src/conditional_imputation.py, evidence/aicrowd/combined_manifest_summary_20261013.json.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booster adds Newton trees that minimize the logistic loss; quantile binning is learned on training data and the missing-value branch is chosen at each split. Other settings: 64 bins, seed 20260920. The selected source preserves its historical split search, including an audited edge case in which some observed-versus-missing endpoint candidates can be skipped; it is documented in docs/CODE_REVIEW.md. The release does not claim that this edge case is changed. The repository also implements the six required linear-model functions and two MLP architectures. Sources: project/src/numpy_boosting_phase14.py (SHA-256 6fede579...), project/configs/final_model.json, docs/CODE_REVIEW.md.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Historical nested development: 262,508 development rows, 3 outer folds, 2 inner folds per outer fold select the F1 threshold, which is then frozen for the excluded fold; preprocessing fitted within each training partition. F1 0.442155 for the historical reference booster. Full-train OOF calibration: three stratified OOF folds over all 328,135 labeled rows (fold seed 20260919); pooled F1-maximizing threshold 0.21811010373987366, ties broken by accuracy; calibration F1 0.443882; labels also optimize the threshold, so this is optimistic. AIcrowd: F1 0.455, accuracy 0.882, author-reported display values from 13 October 2026; feedback contributed to selection, so it is not a pristine external test. Threshold nesting controls threshold-selection optimism; repeated model choice still reuses development folds and challenge feedback. Sources: evidence/METRICS.json, project/results/eda/final_combined18_24_submission.json, project/configs/experiments/final_phase14_validation.json, docs/RESULTS.md.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logistic regression (repository Phase 38) uses the same 262,508 development rows, exact codebook cleaning, 295 source columns and 3 outer / 2 inner folds as the historical booster. Its design: training mode or median fill, z-scores, one missingness flag per source, intercept (591 columns); NumPy L-BFGS, L2 1e-4 fixed in advance; all nine fits converged. F1: booster 0.442155 vs matched logistic 0.434467, difference +0.007689. Class-stratified paired bootstrap, 20,000 resamples: 95% interval [+0.004919, +0.010463]; it holds fitted models, folds and thresholds fixed, so it excludes retraining and repeated-selection uncertainty. Per fold: +0.0044, +0.0104, +0.0085. The booster recovers 542 more positives at the cost of 924 more false positives. The gap to the earlier logistic pipeline (0.425628) mixes solver, fill policy, missingness representation and interactions; it is not a cleaning-only ablation. Sources: assets/chart_data/model_comparison.csv, project/results/eda/phase38_matched_logistic_summary.md, evidence/METRICS.json.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historical booster, nested F1 0.442155. MLPs use dedicated preprocessing, ReLU, binary cross-entropy, Adam and training-only epoch selection; both lose on all three outer folds. Top-100 features: permutation ranking fitted inside each training partition; loses on all three folds. Positive weight 1.25 and random undersampling 5:1 also lose on all three folds. Restricted imputation (Phase 24): nested F1 0.441791 (nested-threshold value, not the optimistic screening value 0.44267); later challenge feedback F1 0.454. Diet representation (Phase 18): nested F1 0.441862; challenge F1 0.453. Local and challenge evidence answer different questions; restricted imputation is part of the final release, so imputation is not "rejected". Sources: evidence/METRICS.json, project/docs/MLP.md, project/results/eda/phase29_feature_selection_summary.md, project/results/eda/phase35_positive_weights_summary.md, project/results/eda/phase24_original_restricted_imputation_summary.md.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Raw-predictor booster 0.441457 vs cleaned historical reference 0.442155; difference +0.000698; conditional paired 95% interval [-0.001226, +0.002635]. Per fold, cleaned vs raw: 0.439027 vs 0.438233, 0.444054 vs 0.442862, 0.443512 vs 0.443196. Raw and cleaned pipelines have 321 and 295 source variables; each samples 128 features per node, so candidate fractions differ. This is historical preprocessing evidence, not an isolated test of the final combination. Cleaning is kept because it makes the representation correct, not because it measurably raised F1. Sources: project/results/experiments/phase33_raw_preprocessing_comparison.json, project/results/eda/phase33_raw_preprocessing_summary.md.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Repository identifiers: historical reference = Phase 14; diet representation = Phase 18; restricted imputation = Phase 24; leaf L2 = 5 = Phase 25; selected = combined18_24_l2_1. Selection rule: highest displayed AIcrowd F1 among completed candidates with recorded feedback at the 14 October 2026 cutoff. The +0.003 rounded difference is not a significance claim; choosing the best of several leaderboard submissions also makes the winning score optimistic. Two alternatives report 0.883 accuracy with lower F1; accuracy did not determine selection. Submission URLs, a screenshot and independently verified challenge predictions are unavailable. Rank 3 is author-reported on 14 October and not inferred from this table. Sources: assets/chart_data/aicrowd_progression.csv, evidence/aicrowd/candidates_feedback_20261013.json, evidence/aicrowd/combined_feedback_20261013.json, evidence/RELEASE_20261014.json.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Historical Phase 14 reference, pooled nested development predictions on 262,508 rows: TP 12,855, FN 10,325, FP 22,112, TN 217,216; precision 0.367632, recall 0.554573, average precision 0.4286. The final submission contains 13,999 positive and 95,380 negative predictions; official test labels are unavailable locally, so these are prediction counts, not a confusion matrix. An operational threshold needs a defined decision, error costs and fresh validation. Do not translate respondents into patients treated, cases prevented or savings.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HAREHAB1 records outpatient rehabilitation after a heart attack, asked conditional on a heart-attack response. All 620 historical development respondents with a recorded code are positive (620 of 262,508 rows, 0.24%). Historical ablation (repository Phase 15): removing the feature lowers nested F1 from 0.442155 to 0.431039 (delta -0.011116). The feature is rare but perfectly separating where present. The selected combined pipeline retains it. A prospective study needs a feature-availability policy and fresh evaluation, including timing checks on other variables. Sources: evidence/METRICS.json (temporal_proxy), project/docs/FINAL_REPORT.md.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(evidence/VERIFICATION.json, 14 October 2026): 242 synthetic project tests passed locally (Python 3.14.3, NumPy 2.4.2) and in a clean public Git archive of the release commit; repository verification passed (105 Python files, 289 JSON files, 115 indexed record hashes); the public preprocessing replayed the trusted local model with maximum probability difference 0.0 and the selected CSV SHA-256. Full training and the challenge submission were not repeated. The CI workflow targets Python 3.9 / NumPy 1.23.1; no completed CI run for this release is recorded in the verification file, so none is claimed. The next step is a proposal, not completed work. No production deployment, clinical use or business impact is claimed. Repository: https://github.com/antonio-arbizzani-tonelli/cardiovascular-classification-numpy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Frozen booster source SHA-256: 6fede57915b07a6ea7675292833f8ad79269e665f09977bffd2a9562ce1aaf98. Source preservation enables exact replay; it does not change the historical split-search behaviour documented in docs/CODE_REVIEW.md. Selected CSV SHA-256: 1e4817ab85020156f579ab33fc5384c8aecd24fd8453ce6e37a3dcc094a45854 (109,379 rows; 13,999 positive). Original course environment: Python 3.9 / NumPy 1.23.1. Sources: project/configs/final_model.json, project/README.md, evidence/aicrowd/combined_manifest_summary_20261013.json, evidence/SELECTED_REPLAY_20261014.json.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values are in docs/RESULTS.md, evidence/METRICS.json and assets/chart_data/model_comparison.csv. Linear and MLP rows use their own model-specific preprocessing, so rows compare complete pipelines. The matched logistic row shares the historical booster's codebook cleaning, 295 source variables and folds. Leaderboard: https://www.aicrowd.com/challenges/epfl-machine-learning-project-1/leaderboards (snapshot 14 October 2026; position reported by the author; independently_verified false in evidence/RELEASE_20261014.json). Sources: evidence/METRICS.json, assets/chart_data/model_comparison.csv, evidence/RELEASE_20261014.json, evidence/aicrowd/.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8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4284B"/>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536700"/>
            <a:ext cx="10566400" cy="4508500"/>
          </a:xfrm>
          <a:prstGeom prst="rect">
            <a:avLst/>
          </a:prstGeom>
          <a:noFill/>
          <a:ln/>
        </p:spPr>
        <p:txBody>
          <a:bodyPr wrap="square" lIns="0" tIns="0" rIns="0" bIns="0" rtlCol="0" anchor="t"/>
          <a:lstStyle>
            <a:lvl1pPr algn="l" indent="0" marL="0">
              <a:lnSpc>
                <a:spcPct val="140000"/>
              </a:lnSpc>
              <a:buNone/>
              <a:defRPr lang="en-US" sz="1600" dirty="0">
                <a:solidFill>
                  <a:srgbClr val="5B6678"/>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8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19100"/>
          </a:xfrm>
          <a:prstGeom prst="rect">
            <a:avLst/>
          </a:prstGeom>
          <a:noFill/>
          <a:ln/>
        </p:spPr>
        <p:txBody>
          <a:bodyPr wrap="square" lIns="0" tIns="0" rIns="0" bIns="0" rtlCol="0" anchor="t"/>
          <a:lstStyle>
            <a:lvl1pPr algn="l" indent="0" marL="0">
              <a:lnSpc>
                <a:spcPct val="115000"/>
              </a:lnSpc>
              <a:buNone/>
              <a:defRPr lang="en-US" sz="3000" dirty="0">
                <a:solidFill>
                  <a:srgbClr val="14284B"/>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536700"/>
            <a:ext cx="10566400" cy="4508500"/>
          </a:xfrm>
          <a:prstGeom prst="rect">
            <a:avLst/>
          </a:prstGeom>
          <a:noFill/>
          <a:ln/>
        </p:spPr>
        <p:txBody>
          <a:bodyPr wrap="square" lIns="0" tIns="0" rIns="0" bIns="0" rtlCol="0" anchor="t"/>
          <a:lstStyle>
            <a:lvl1pPr algn="l" indent="0" marL="0">
              <a:lnSpc>
                <a:spcPct val="140000"/>
              </a:lnSpc>
              <a:buNone/>
              <a:defRPr lang="en-US" sz="1600" dirty="0">
                <a:solidFill>
                  <a:srgbClr val="5B6678"/>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www.aicrowd.com/challenges/epfl-machine-learning-project-1/leaderboards"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antonio-arbizzani-tonelli/cardiovascular-classification-numpy" TargetMode="Externa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spc="150" kern="0" dirty="0">
                <a:solidFill>
                  <a:srgbClr val="6FD6CC"/>
                </a:solidFill>
                <a:latin typeface="IBM Plex Sans" pitchFamily="34" charset="0"/>
                <a:ea typeface="IBM Plex Sans" pitchFamily="34" charset="-122"/>
                <a:cs typeface="IBM Plex Sans" pitchFamily="34" charset="-120"/>
              </a:rPr>
              <a:t>ANTONIO ARBIZZANI TONELLI · EPFL MACHINE LEARNING CS-433</a:t>
            </a:r>
            <a:endParaRPr lang="en-US" sz="1400" dirty="0"/>
          </a:p>
        </p:txBody>
      </p:sp>
      <p:sp>
        <p:nvSpPr>
          <p:cNvPr id="3" name="Text 1"/>
          <p:cNvSpPr/>
          <p:nvPr>
            <p:ph type="title"/>
          </p:nvPr>
        </p:nvSpPr>
        <p:spPr>
          <a:xfrm>
            <a:off x="812800" y="1701899"/>
            <a:ext cx="10883392" cy="1198860"/>
          </a:xfrm>
          <a:prstGeom prst="rect">
            <a:avLst/>
          </a:prstGeom>
          <a:noFill/>
          <a:ln/>
        </p:spPr>
        <p:txBody>
          <a:bodyPr wrap="square" lIns="0" tIns="0" rIns="0" bIns="0" rtlCol="0" anchor="t">
            <a:normAutofit/>
          </a:bodyPr>
          <a:lstStyle/>
          <a:p>
            <a:pPr algn="l" indent="0" marL="0">
              <a:lnSpc>
                <a:spcPts val="4620"/>
              </a:lnSpc>
              <a:buNone/>
            </a:pPr>
            <a:r>
              <a:rPr lang="en-US" sz="4400" b="1" i="0" dirty="0">
                <a:solidFill>
                  <a:srgbClr val="F5F7FA"/>
                </a:solidFill>
                <a:latin typeface="IBM Plex Sans" pitchFamily="34" charset="0"/>
                <a:ea typeface="IBM Plex Sans" pitchFamily="34" charset="-122"/>
                <a:cs typeface="IBM Plex Sans" pitchFamily="34" charset="-120"/>
              </a:rPr>
              <a:t>Cardiovascular disease classification in NumPy</a:t>
            </a:r>
            <a:endParaRPr lang="en-US" sz="4400" dirty="0"/>
          </a:p>
        </p:txBody>
      </p:sp>
      <p:sp>
        <p:nvSpPr>
          <p:cNvPr id="4" name="Text 2"/>
          <p:cNvSpPr/>
          <p:nvPr/>
        </p:nvSpPr>
        <p:spPr>
          <a:xfrm>
            <a:off x="812800" y="3053159"/>
            <a:ext cx="10883392"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4E3"/>
                </a:solidFill>
                <a:latin typeface="IBM Plex Sans" pitchFamily="34" charset="0"/>
                <a:ea typeface="IBM Plex Sans" pitchFamily="34" charset="-122"/>
                <a:cs typeface="IBM Plex Sans" pitchFamily="34" charset="-120"/>
              </a:rPr>
              <a:t>Codebook cleaning, diet representation and restricted imputation, followed by histogram gradient boosting written in NumPy.</a:t>
            </a:r>
            <a:endParaRPr lang="en-US" sz="1600" dirty="0"/>
          </a:p>
        </p:txBody>
      </p:sp>
      <p:sp>
        <p:nvSpPr>
          <p:cNvPr id="5" name="Shape 3"/>
          <p:cNvSpPr/>
          <p:nvPr/>
        </p:nvSpPr>
        <p:spPr>
          <a:xfrm>
            <a:off x="815975" y="4265414"/>
            <a:ext cx="3380284" cy="1410891"/>
          </a:xfrm>
          <a:prstGeom prst="roundRect">
            <a:avLst>
              <a:gd name="adj" fmla="val 6976"/>
            </a:avLst>
          </a:prstGeom>
          <a:solidFill>
            <a:srgbClr val="1E3563"/>
          </a:solidFill>
          <a:ln w="6350">
            <a:solidFill>
              <a:srgbClr val="3A5388"/>
            </a:solidFill>
            <a:prstDash val="solid"/>
          </a:ln>
        </p:spPr>
      </p:sp>
      <p:sp>
        <p:nvSpPr>
          <p:cNvPr id="6" name="Text 4"/>
          <p:cNvSpPr/>
          <p:nvPr/>
        </p:nvSpPr>
        <p:spPr>
          <a:xfrm>
            <a:off x="996950" y="4446389"/>
            <a:ext cx="3108884"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C9D4E3"/>
                </a:solidFill>
                <a:latin typeface="IBM Plex Sans" pitchFamily="34" charset="0"/>
                <a:ea typeface="IBM Plex Sans" pitchFamily="34" charset="-122"/>
                <a:cs typeface="IBM Plex Sans" pitchFamily="34" charset="-120"/>
              </a:rPr>
              <a:t>AIcrowd F1</a:t>
            </a:r>
            <a:endParaRPr lang="en-US" sz="1400" dirty="0"/>
          </a:p>
        </p:txBody>
      </p:sp>
      <p:sp>
        <p:nvSpPr>
          <p:cNvPr id="7" name="Text 5"/>
          <p:cNvSpPr/>
          <p:nvPr/>
        </p:nvSpPr>
        <p:spPr>
          <a:xfrm>
            <a:off x="996950" y="4728319"/>
            <a:ext cx="3108884"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FD6CC"/>
                </a:solidFill>
                <a:latin typeface="IBM Plex Sans" pitchFamily="34" charset="0"/>
                <a:ea typeface="IBM Plex Sans" pitchFamily="34" charset="-122"/>
                <a:cs typeface="IBM Plex Sans" pitchFamily="34" charset="-120"/>
              </a:rPr>
              <a:t>0.455</a:t>
            </a:r>
            <a:endParaRPr lang="en-US" sz="3600" dirty="0"/>
          </a:p>
        </p:txBody>
      </p:sp>
      <p:sp>
        <p:nvSpPr>
          <p:cNvPr id="8" name="Text 6"/>
          <p:cNvSpPr/>
          <p:nvPr/>
        </p:nvSpPr>
        <p:spPr>
          <a:xfrm>
            <a:off x="996950" y="5282009"/>
            <a:ext cx="31088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E3"/>
                </a:solidFill>
                <a:latin typeface="IBM Plex Sans" pitchFamily="34" charset="0"/>
                <a:ea typeface="IBM Plex Sans" pitchFamily="34" charset="-122"/>
                <a:cs typeface="IBM Plex Sans" pitchFamily="34" charset="-120"/>
              </a:rPr>
              <a:t>Reported challenge feedback</a:t>
            </a:r>
            <a:endParaRPr lang="en-US" sz="1200" dirty="0"/>
          </a:p>
        </p:txBody>
      </p:sp>
      <p:sp>
        <p:nvSpPr>
          <p:cNvPr id="9" name="Shape 7"/>
          <p:cNvSpPr/>
          <p:nvPr/>
        </p:nvSpPr>
        <p:spPr>
          <a:xfrm>
            <a:off x="4405809" y="4265414"/>
            <a:ext cx="3380333" cy="1410891"/>
          </a:xfrm>
          <a:prstGeom prst="roundRect">
            <a:avLst>
              <a:gd name="adj" fmla="val 6976"/>
            </a:avLst>
          </a:prstGeom>
          <a:solidFill>
            <a:srgbClr val="1E3563"/>
          </a:solidFill>
          <a:ln w="6350">
            <a:solidFill>
              <a:srgbClr val="3A5388"/>
            </a:solidFill>
            <a:prstDash val="solid"/>
          </a:ln>
        </p:spPr>
      </p:sp>
      <p:sp>
        <p:nvSpPr>
          <p:cNvPr id="10" name="Text 8"/>
          <p:cNvSpPr/>
          <p:nvPr/>
        </p:nvSpPr>
        <p:spPr>
          <a:xfrm>
            <a:off x="4586784" y="4446389"/>
            <a:ext cx="3108935"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C9D4E3"/>
                </a:solidFill>
                <a:latin typeface="IBM Plex Sans" pitchFamily="34" charset="0"/>
                <a:ea typeface="IBM Plex Sans" pitchFamily="34" charset="-122"/>
                <a:cs typeface="IBM Plex Sans" pitchFamily="34" charset="-120"/>
              </a:rPr>
              <a:t>AIcrowd accuracy</a:t>
            </a:r>
            <a:endParaRPr lang="en-US" sz="1400" dirty="0"/>
          </a:p>
        </p:txBody>
      </p:sp>
      <p:sp>
        <p:nvSpPr>
          <p:cNvPr id="11" name="Text 9"/>
          <p:cNvSpPr/>
          <p:nvPr/>
        </p:nvSpPr>
        <p:spPr>
          <a:xfrm>
            <a:off x="4586784" y="4728319"/>
            <a:ext cx="3108935"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6FD6CC"/>
                </a:solidFill>
                <a:latin typeface="IBM Plex Sans" pitchFamily="34" charset="0"/>
                <a:ea typeface="IBM Plex Sans" pitchFamily="34" charset="-122"/>
                <a:cs typeface="IBM Plex Sans" pitchFamily="34" charset="-120"/>
              </a:rPr>
              <a:t>0.882</a:t>
            </a:r>
            <a:endParaRPr lang="en-US" sz="3600" dirty="0"/>
          </a:p>
        </p:txBody>
      </p:sp>
      <p:sp>
        <p:nvSpPr>
          <p:cNvPr id="12" name="Text 10"/>
          <p:cNvSpPr/>
          <p:nvPr/>
        </p:nvSpPr>
        <p:spPr>
          <a:xfrm>
            <a:off x="4586784" y="5282009"/>
            <a:ext cx="31089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E3"/>
                </a:solidFill>
                <a:latin typeface="IBM Plex Sans" pitchFamily="34" charset="0"/>
                <a:ea typeface="IBM Plex Sans" pitchFamily="34" charset="-122"/>
                <a:cs typeface="IBM Plex Sans" pitchFamily="34" charset="-120"/>
              </a:rPr>
              <a:t>Reported challenge feedback</a:t>
            </a:r>
            <a:endParaRPr lang="en-US" sz="1200" dirty="0"/>
          </a:p>
        </p:txBody>
      </p:sp>
      <p:sp>
        <p:nvSpPr>
          <p:cNvPr id="13" name="Shape 11"/>
          <p:cNvSpPr/>
          <p:nvPr/>
        </p:nvSpPr>
        <p:spPr>
          <a:xfrm>
            <a:off x="7995692" y="4265414"/>
            <a:ext cx="3380333" cy="1410891"/>
          </a:xfrm>
          <a:prstGeom prst="roundRect">
            <a:avLst>
              <a:gd name="adj" fmla="val 6976"/>
            </a:avLst>
          </a:prstGeom>
          <a:solidFill>
            <a:srgbClr val="1E3563"/>
          </a:solidFill>
          <a:ln w="6350">
            <a:solidFill>
              <a:srgbClr val="3A5388"/>
            </a:solidFill>
            <a:prstDash val="solid"/>
          </a:ln>
        </p:spPr>
      </p:sp>
      <p:sp>
        <p:nvSpPr>
          <p:cNvPr id="14" name="Text 12"/>
          <p:cNvSpPr/>
          <p:nvPr/>
        </p:nvSpPr>
        <p:spPr>
          <a:xfrm>
            <a:off x="8176667" y="4446389"/>
            <a:ext cx="3108935"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C9D4E3"/>
                </a:solidFill>
                <a:latin typeface="IBM Plex Sans" pitchFamily="34" charset="0"/>
                <a:ea typeface="IBM Plex Sans" pitchFamily="34" charset="-122"/>
                <a:cs typeface="IBM Plex Sans" pitchFamily="34" charset="-120"/>
              </a:rPr>
              <a:t>AIcrowd leaderboard</a:t>
            </a:r>
            <a:endParaRPr lang="en-US" sz="1400" dirty="0"/>
          </a:p>
        </p:txBody>
      </p:sp>
      <p:sp>
        <p:nvSpPr>
          <p:cNvPr id="15" name="Text 13"/>
          <p:cNvSpPr/>
          <p:nvPr/>
        </p:nvSpPr>
        <p:spPr>
          <a:xfrm>
            <a:off x="8176667" y="4728319"/>
            <a:ext cx="3108935"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5F7FA"/>
                </a:solidFill>
                <a:latin typeface="IBM Plex Sans" pitchFamily="34" charset="0"/>
                <a:ea typeface="IBM Plex Sans" pitchFamily="34" charset="-122"/>
                <a:cs typeface="IBM Plex Sans" pitchFamily="34" charset="-120"/>
              </a:rPr>
              <a:t>Ranked 3rd</a:t>
            </a:r>
            <a:endParaRPr lang="en-US" sz="3600" dirty="0"/>
          </a:p>
        </p:txBody>
      </p:sp>
      <p:sp>
        <p:nvSpPr>
          <p:cNvPr id="16" name="Text 14"/>
          <p:cNvSpPr/>
          <p:nvPr/>
        </p:nvSpPr>
        <p:spPr>
          <a:xfrm>
            <a:off x="8176667" y="5282009"/>
            <a:ext cx="31089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E3"/>
                </a:solidFill>
                <a:latin typeface="IBM Plex Sans" pitchFamily="34" charset="0"/>
                <a:ea typeface="IBM Plex Sans" pitchFamily="34" charset="-122"/>
                <a:cs typeface="IBM Plex Sans" pitchFamily="34" charset="-120"/>
              </a:rPr>
              <a:t>Leaderboard snapshot: 14 October 2026</a:t>
            </a:r>
            <a:endParaRPr lang="en-US" sz="1200" dirty="0"/>
          </a:p>
        </p:txBody>
      </p:sp>
      <p:sp>
        <p:nvSpPr>
          <p:cNvPr id="17" name="Text 15"/>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8CE"/>
                </a:solidFill>
                <a:latin typeface="IBM Plex Sans" pitchFamily="34" charset="0"/>
                <a:ea typeface="IBM Plex Sans" pitchFamily="34" charset="-122"/>
                <a:cs typeface="IBM Plex Sans" pitchFamily="34" charset="-120"/>
              </a:rPr>
              <a:t>Position reported by the author; challenge scores from recorded author-reported AIcrowd feedback · </a:t>
            </a:r>
            <a:r>
              <a:rPr lang="en-US" sz="1200" u="sng" dirty="0">
                <a:solidFill>
                  <a:srgbClr val="6FD6CC"/>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AIcrowd leaderboard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One inspectable pipeline produces the result</a:t>
            </a:r>
            <a:endParaRPr lang="en-US" sz="3000" dirty="0"/>
          </a:p>
        </p:txBody>
      </p:sp>
      <p:sp>
        <p:nvSpPr>
          <p:cNvPr id="3" name="Shape 1"/>
          <p:cNvSpPr/>
          <p:nvPr/>
        </p:nvSpPr>
        <p:spPr>
          <a:xfrm>
            <a:off x="812800" y="1603722"/>
            <a:ext cx="1676400" cy="1447651"/>
          </a:xfrm>
          <a:prstGeom prst="roundRect">
            <a:avLst>
              <a:gd name="adj" fmla="val 7018"/>
            </a:avLst>
          </a:prstGeom>
          <a:solidFill>
            <a:srgbClr val="CFE8E5"/>
          </a:solidFill>
          <a:ln/>
        </p:spPr>
      </p:sp>
      <p:sp>
        <p:nvSpPr>
          <p:cNvPr id="4" name="Text 2"/>
          <p:cNvSpPr/>
          <p:nvPr/>
        </p:nvSpPr>
        <p:spPr>
          <a:xfrm>
            <a:off x="965200" y="1756122"/>
            <a:ext cx="142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E70"/>
                </a:solidFill>
                <a:latin typeface="IBM Plex Sans" pitchFamily="34" charset="0"/>
                <a:ea typeface="IBM Plex Sans" pitchFamily="34" charset="-122"/>
                <a:cs typeface="IBM Plex Sans" pitchFamily="34" charset="-120"/>
              </a:rPr>
              <a:t>1</a:t>
            </a:r>
            <a:endParaRPr lang="en-US" sz="1400" dirty="0"/>
          </a:p>
        </p:txBody>
      </p:sp>
      <p:sp>
        <p:nvSpPr>
          <p:cNvPr id="5" name="Text 3"/>
          <p:cNvSpPr/>
          <p:nvPr/>
        </p:nvSpPr>
        <p:spPr>
          <a:xfrm>
            <a:off x="965200" y="2055813"/>
            <a:ext cx="1524000"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284B"/>
                </a:solidFill>
                <a:latin typeface="IBM Plex Sans" pitchFamily="34" charset="0"/>
                <a:ea typeface="IBM Plex Sans" pitchFamily="34" charset="-122"/>
                <a:cs typeface="IBM Plex Sans" pitchFamily="34" charset="-120"/>
              </a:rPr>
              <a:t>Codebook cleaning</a:t>
            </a:r>
            <a:endParaRPr lang="en-US" sz="1200" dirty="0"/>
          </a:p>
        </p:txBody>
      </p:sp>
      <p:sp>
        <p:nvSpPr>
          <p:cNvPr id="6" name="Text 4"/>
          <p:cNvSpPr/>
          <p:nvPr/>
        </p:nvSpPr>
        <p:spPr>
          <a:xfrm>
            <a:off x="965200" y="2289473"/>
            <a:ext cx="14224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Survey codes by meaning</a:t>
            </a:r>
            <a:endParaRPr lang="en-US" sz="1200" dirty="0"/>
          </a:p>
        </p:txBody>
      </p:sp>
      <p:sp>
        <p:nvSpPr>
          <p:cNvPr id="7" name="Shape 5"/>
          <p:cNvSpPr/>
          <p:nvPr/>
        </p:nvSpPr>
        <p:spPr>
          <a:xfrm>
            <a:off x="2590800" y="1603722"/>
            <a:ext cx="1676400" cy="1447651"/>
          </a:xfrm>
          <a:prstGeom prst="roundRect">
            <a:avLst>
              <a:gd name="adj" fmla="val 7018"/>
            </a:avLst>
          </a:prstGeom>
          <a:solidFill>
            <a:srgbClr val="CFE8E5"/>
          </a:solidFill>
          <a:ln/>
        </p:spPr>
      </p:sp>
      <p:sp>
        <p:nvSpPr>
          <p:cNvPr id="8" name="Text 6"/>
          <p:cNvSpPr/>
          <p:nvPr/>
        </p:nvSpPr>
        <p:spPr>
          <a:xfrm>
            <a:off x="2743200" y="1756122"/>
            <a:ext cx="142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E70"/>
                </a:solidFill>
                <a:latin typeface="IBM Plex Sans" pitchFamily="34" charset="0"/>
                <a:ea typeface="IBM Plex Sans" pitchFamily="34" charset="-122"/>
                <a:cs typeface="IBM Plex Sans" pitchFamily="34" charset="-120"/>
              </a:rPr>
              <a:t>2</a:t>
            </a:r>
            <a:endParaRPr lang="en-US" sz="1400" dirty="0"/>
          </a:p>
        </p:txBody>
      </p:sp>
      <p:sp>
        <p:nvSpPr>
          <p:cNvPr id="9" name="Text 7"/>
          <p:cNvSpPr/>
          <p:nvPr/>
        </p:nvSpPr>
        <p:spPr>
          <a:xfrm>
            <a:off x="2743200" y="2055813"/>
            <a:ext cx="1422400" cy="39112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284B"/>
                </a:solidFill>
                <a:latin typeface="IBM Plex Sans" pitchFamily="34" charset="0"/>
                <a:ea typeface="IBM Plex Sans" pitchFamily="34" charset="-122"/>
                <a:cs typeface="IBM Plex Sans" pitchFamily="34" charset="-120"/>
              </a:rPr>
              <a:t>Diet representation</a:t>
            </a:r>
            <a:endParaRPr lang="en-US" sz="1200" dirty="0"/>
          </a:p>
        </p:txBody>
      </p:sp>
      <p:sp>
        <p:nvSpPr>
          <p:cNvPr id="10" name="Text 8"/>
          <p:cNvSpPr/>
          <p:nvPr/>
        </p:nvSpPr>
        <p:spPr>
          <a:xfrm>
            <a:off x="2743200" y="2472333"/>
            <a:ext cx="1422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Keep per-day fields</a:t>
            </a:r>
            <a:endParaRPr lang="en-US" sz="1200" dirty="0"/>
          </a:p>
        </p:txBody>
      </p:sp>
      <p:sp>
        <p:nvSpPr>
          <p:cNvPr id="11" name="Shape 9"/>
          <p:cNvSpPr/>
          <p:nvPr/>
        </p:nvSpPr>
        <p:spPr>
          <a:xfrm>
            <a:off x="4368800" y="1603722"/>
            <a:ext cx="1676400" cy="1447651"/>
          </a:xfrm>
          <a:prstGeom prst="roundRect">
            <a:avLst>
              <a:gd name="adj" fmla="val 7018"/>
            </a:avLst>
          </a:prstGeom>
          <a:solidFill>
            <a:srgbClr val="CFE8E5"/>
          </a:solidFill>
          <a:ln/>
        </p:spPr>
      </p:sp>
      <p:sp>
        <p:nvSpPr>
          <p:cNvPr id="12" name="Text 10"/>
          <p:cNvSpPr/>
          <p:nvPr/>
        </p:nvSpPr>
        <p:spPr>
          <a:xfrm>
            <a:off x="4521200" y="1756122"/>
            <a:ext cx="142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E70"/>
                </a:solidFill>
                <a:latin typeface="IBM Plex Sans" pitchFamily="34" charset="0"/>
                <a:ea typeface="IBM Plex Sans" pitchFamily="34" charset="-122"/>
                <a:cs typeface="IBM Plex Sans" pitchFamily="34" charset="-120"/>
              </a:rPr>
              <a:t>3</a:t>
            </a:r>
            <a:endParaRPr lang="en-US" sz="1400" dirty="0"/>
          </a:p>
        </p:txBody>
      </p:sp>
      <p:sp>
        <p:nvSpPr>
          <p:cNvPr id="13" name="Text 11"/>
          <p:cNvSpPr/>
          <p:nvPr/>
        </p:nvSpPr>
        <p:spPr>
          <a:xfrm>
            <a:off x="4521200" y="2055813"/>
            <a:ext cx="1422400" cy="39112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284B"/>
                </a:solidFill>
                <a:latin typeface="IBM Plex Sans" pitchFamily="34" charset="0"/>
                <a:ea typeface="IBM Plex Sans" pitchFamily="34" charset="-122"/>
                <a:cs typeface="IBM Plex Sans" pitchFamily="34" charset="-120"/>
              </a:rPr>
              <a:t>Restricted imputation</a:t>
            </a:r>
            <a:endParaRPr lang="en-US" sz="1200" dirty="0"/>
          </a:p>
        </p:txBody>
      </p:sp>
      <p:sp>
        <p:nvSpPr>
          <p:cNvPr id="14" name="Text 12"/>
          <p:cNvSpPr/>
          <p:nvPr/>
        </p:nvSpPr>
        <p:spPr>
          <a:xfrm>
            <a:off x="4521200" y="2472333"/>
            <a:ext cx="14224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Fitted on training rows</a:t>
            </a:r>
            <a:endParaRPr lang="en-US" sz="1200" dirty="0"/>
          </a:p>
        </p:txBody>
      </p:sp>
      <p:sp>
        <p:nvSpPr>
          <p:cNvPr id="15" name="Shape 13"/>
          <p:cNvSpPr/>
          <p:nvPr/>
        </p:nvSpPr>
        <p:spPr>
          <a:xfrm>
            <a:off x="6146800" y="1603722"/>
            <a:ext cx="1676400" cy="1447651"/>
          </a:xfrm>
          <a:prstGeom prst="roundRect">
            <a:avLst>
              <a:gd name="adj" fmla="val 7018"/>
            </a:avLst>
          </a:prstGeom>
          <a:solidFill>
            <a:srgbClr val="CFE8E5"/>
          </a:solidFill>
          <a:ln/>
        </p:spPr>
      </p:sp>
      <p:sp>
        <p:nvSpPr>
          <p:cNvPr id="16" name="Text 14"/>
          <p:cNvSpPr/>
          <p:nvPr/>
        </p:nvSpPr>
        <p:spPr>
          <a:xfrm>
            <a:off x="6299200" y="1756122"/>
            <a:ext cx="142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E70"/>
                </a:solidFill>
                <a:latin typeface="IBM Plex Sans" pitchFamily="34" charset="0"/>
                <a:ea typeface="IBM Plex Sans" pitchFamily="34" charset="-122"/>
                <a:cs typeface="IBM Plex Sans" pitchFamily="34" charset="-120"/>
              </a:rPr>
              <a:t>4</a:t>
            </a:r>
            <a:endParaRPr lang="en-US" sz="1400" dirty="0"/>
          </a:p>
        </p:txBody>
      </p:sp>
      <p:sp>
        <p:nvSpPr>
          <p:cNvPr id="17" name="Text 15"/>
          <p:cNvSpPr/>
          <p:nvPr/>
        </p:nvSpPr>
        <p:spPr>
          <a:xfrm>
            <a:off x="6299200" y="2055813"/>
            <a:ext cx="1422400"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284B"/>
                </a:solidFill>
                <a:latin typeface="IBM Plex Sans" pitchFamily="34" charset="0"/>
                <a:ea typeface="IBM Plex Sans" pitchFamily="34" charset="-122"/>
                <a:cs typeface="IBM Plex Sans" pitchFamily="34" charset="-120"/>
              </a:rPr>
              <a:t>NumPy boosting</a:t>
            </a:r>
            <a:endParaRPr lang="en-US" sz="1200" dirty="0"/>
          </a:p>
        </p:txBody>
      </p:sp>
      <p:sp>
        <p:nvSpPr>
          <p:cNvPr id="18" name="Text 16"/>
          <p:cNvSpPr/>
          <p:nvPr/>
        </p:nvSpPr>
        <p:spPr>
          <a:xfrm>
            <a:off x="6299200" y="2289473"/>
            <a:ext cx="14224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200 trees, depth 5</a:t>
            </a:r>
            <a:endParaRPr lang="en-US" sz="1200" dirty="0"/>
          </a:p>
        </p:txBody>
      </p:sp>
      <p:sp>
        <p:nvSpPr>
          <p:cNvPr id="19" name="Shape 17"/>
          <p:cNvSpPr/>
          <p:nvPr/>
        </p:nvSpPr>
        <p:spPr>
          <a:xfrm>
            <a:off x="7924800" y="1603722"/>
            <a:ext cx="1676400" cy="1447651"/>
          </a:xfrm>
          <a:prstGeom prst="roundRect">
            <a:avLst>
              <a:gd name="adj" fmla="val 7018"/>
            </a:avLst>
          </a:prstGeom>
          <a:solidFill>
            <a:srgbClr val="CFE8E5"/>
          </a:solidFill>
          <a:ln/>
        </p:spPr>
      </p:sp>
      <p:sp>
        <p:nvSpPr>
          <p:cNvPr id="20" name="Text 18"/>
          <p:cNvSpPr/>
          <p:nvPr/>
        </p:nvSpPr>
        <p:spPr>
          <a:xfrm>
            <a:off x="8077200" y="1756122"/>
            <a:ext cx="142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E70"/>
                </a:solidFill>
                <a:latin typeface="IBM Plex Sans" pitchFamily="34" charset="0"/>
                <a:ea typeface="IBM Plex Sans" pitchFamily="34" charset="-122"/>
                <a:cs typeface="IBM Plex Sans" pitchFamily="34" charset="-120"/>
              </a:rPr>
              <a:t>5</a:t>
            </a:r>
            <a:endParaRPr lang="en-US" sz="1400" dirty="0"/>
          </a:p>
        </p:txBody>
      </p:sp>
      <p:sp>
        <p:nvSpPr>
          <p:cNvPr id="21" name="Text 19"/>
          <p:cNvSpPr/>
          <p:nvPr/>
        </p:nvSpPr>
        <p:spPr>
          <a:xfrm>
            <a:off x="8077200" y="2055813"/>
            <a:ext cx="1422400"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284B"/>
                </a:solidFill>
                <a:latin typeface="IBM Plex Sans" pitchFamily="34" charset="0"/>
                <a:ea typeface="IBM Plex Sans" pitchFamily="34" charset="-122"/>
                <a:cs typeface="IBM Plex Sans" pitchFamily="34" charset="-120"/>
              </a:rPr>
              <a:t>OOF threshold</a:t>
            </a:r>
            <a:endParaRPr lang="en-US" sz="1200" dirty="0"/>
          </a:p>
        </p:txBody>
      </p:sp>
      <p:sp>
        <p:nvSpPr>
          <p:cNvPr id="22" name="Text 20"/>
          <p:cNvSpPr/>
          <p:nvPr/>
        </p:nvSpPr>
        <p:spPr>
          <a:xfrm>
            <a:off x="8077200" y="2289473"/>
            <a:ext cx="14224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Calibrated on all rows</a:t>
            </a:r>
            <a:endParaRPr lang="en-US" sz="1200" dirty="0"/>
          </a:p>
        </p:txBody>
      </p:sp>
      <p:sp>
        <p:nvSpPr>
          <p:cNvPr id="23" name="Shape 21"/>
          <p:cNvSpPr/>
          <p:nvPr/>
        </p:nvSpPr>
        <p:spPr>
          <a:xfrm>
            <a:off x="9702800" y="1603722"/>
            <a:ext cx="1676400" cy="1447651"/>
          </a:xfrm>
          <a:prstGeom prst="roundRect">
            <a:avLst>
              <a:gd name="adj" fmla="val 7018"/>
            </a:avLst>
          </a:prstGeom>
          <a:solidFill>
            <a:srgbClr val="CFE8E5"/>
          </a:solidFill>
          <a:ln/>
        </p:spPr>
      </p:sp>
      <p:sp>
        <p:nvSpPr>
          <p:cNvPr id="24" name="Text 22"/>
          <p:cNvSpPr/>
          <p:nvPr/>
        </p:nvSpPr>
        <p:spPr>
          <a:xfrm>
            <a:off x="9855200" y="1756122"/>
            <a:ext cx="14224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B6E70"/>
                </a:solidFill>
                <a:latin typeface="IBM Plex Sans" pitchFamily="34" charset="0"/>
                <a:ea typeface="IBM Plex Sans" pitchFamily="34" charset="-122"/>
                <a:cs typeface="IBM Plex Sans" pitchFamily="34" charset="-120"/>
              </a:rPr>
              <a:t>6</a:t>
            </a:r>
            <a:endParaRPr lang="en-US" sz="1400" dirty="0"/>
          </a:p>
        </p:txBody>
      </p:sp>
      <p:sp>
        <p:nvSpPr>
          <p:cNvPr id="25" name="Text 23"/>
          <p:cNvSpPr/>
          <p:nvPr/>
        </p:nvSpPr>
        <p:spPr>
          <a:xfrm>
            <a:off x="9855200" y="2055813"/>
            <a:ext cx="1422400"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4284B"/>
                </a:solidFill>
                <a:latin typeface="IBM Plex Sans" pitchFamily="34" charset="0"/>
                <a:ea typeface="IBM Plex Sans" pitchFamily="34" charset="-122"/>
                <a:cs typeface="IBM Plex Sans" pitchFamily="34" charset="-120"/>
              </a:rPr>
              <a:t>Submission</a:t>
            </a:r>
            <a:endParaRPr lang="en-US" sz="1200" dirty="0"/>
          </a:p>
        </p:txBody>
      </p:sp>
      <p:sp>
        <p:nvSpPr>
          <p:cNvPr id="26" name="Text 24"/>
          <p:cNvSpPr/>
          <p:nvPr/>
        </p:nvSpPr>
        <p:spPr>
          <a:xfrm>
            <a:off x="9855200" y="2289473"/>
            <a:ext cx="14224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109,379 predictions</a:t>
            </a:r>
            <a:endParaRPr lang="en-US" sz="1200" dirty="0"/>
          </a:p>
        </p:txBody>
      </p:sp>
      <p:sp>
        <p:nvSpPr>
          <p:cNvPr id="27" name="Shape 25"/>
          <p:cNvSpPr/>
          <p:nvPr/>
        </p:nvSpPr>
        <p:spPr>
          <a:xfrm>
            <a:off x="812800" y="3423146"/>
            <a:ext cx="3420517" cy="1798141"/>
          </a:xfrm>
          <a:prstGeom prst="roundRect">
            <a:avLst>
              <a:gd name="adj" fmla="val 5650"/>
            </a:avLst>
          </a:prstGeom>
          <a:solidFill>
            <a:srgbClr val="EAF0EF"/>
          </a:solidFill>
          <a:ln/>
        </p:spPr>
      </p:sp>
      <p:sp>
        <p:nvSpPr>
          <p:cNvPr id="28" name="Text 26"/>
          <p:cNvSpPr/>
          <p:nvPr/>
        </p:nvSpPr>
        <p:spPr>
          <a:xfrm>
            <a:off x="990600" y="3600946"/>
            <a:ext cx="852289" cy="289520"/>
          </a:xfrm>
          <a:custGeom>
            <a:avLst/>
            <a:gdLst/>
            <a:ahLst/>
            <a:cxnLst/>
            <a:rect l="l" t="t" r="r" b="b"/>
            <a:pathLst>
              <a:path w="852289" h="289520">
                <a:moveTo>
                  <a:pt x="144760" y="0"/>
                </a:moveTo>
                <a:lnTo>
                  <a:pt x="707529" y="0"/>
                </a:lnTo>
                <a:arcTo hR="144760" wR="144760" stAng="16200000" swAng="5400000"/>
                <a:lnTo>
                  <a:pt x="852289" y="144760"/>
                </a:lnTo>
                <a:arcTo hR="144760" wR="144760" stAng="0" swAng="5400000"/>
                <a:lnTo>
                  <a:pt x="144760" y="289520"/>
                </a:lnTo>
                <a:arcTo hR="144760" wR="144760" stAng="5400000" swAng="5400000"/>
                <a:lnTo>
                  <a:pt x="0" y="144760"/>
                </a:lnTo>
                <a:arcTo hR="144760" wR="144760" stAng="10800000" swAng="5400000"/>
                <a:close/>
              </a:path>
            </a:pathLst>
          </a:custGeom>
          <a:solidFill>
            <a:srgbClr val="0E7C7B"/>
          </a:solidFill>
          <a:ln/>
        </p:spPr>
        <p:txBody>
          <a:bodyPr wrap="none" lIns="0" tIns="0" rIns="0" bIns="0" rtlCol="0" anchor="ctr">
            <a:normAutofit/>
          </a:bodyPr>
          <a:lstStyle/>
          <a:p>
            <a:pPr algn="ctr" indent="0" marL="0">
              <a:lnSpc>
                <a:spcPts val="1680"/>
              </a:lnSpc>
              <a:buNone/>
            </a:pPr>
            <a:r>
              <a:rPr lang="en-US" sz="1200" b="1" spc="100" kern="0" dirty="0">
                <a:solidFill>
                  <a:srgbClr val="FCFDFB"/>
                </a:solidFill>
                <a:latin typeface="IBM Plex Sans" pitchFamily="34" charset="0"/>
                <a:ea typeface="IBM Plex Sans" pitchFamily="34" charset="-122"/>
                <a:cs typeface="IBM Plex Sans" pitchFamily="34" charset="-120"/>
              </a:rPr>
              <a:t>RESULT</a:t>
            </a:r>
            <a:endParaRPr lang="en-US" sz="1200" dirty="0"/>
          </a:p>
        </p:txBody>
      </p:sp>
      <p:sp>
        <p:nvSpPr>
          <p:cNvPr id="29" name="Text 27"/>
          <p:cNvSpPr/>
          <p:nvPr/>
        </p:nvSpPr>
        <p:spPr>
          <a:xfrm>
            <a:off x="990600" y="3979366"/>
            <a:ext cx="3156864"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0B6E70"/>
                </a:solidFill>
                <a:latin typeface="IBM Plex Sans" pitchFamily="34" charset="0"/>
                <a:ea typeface="IBM Plex Sans" pitchFamily="34" charset="-122"/>
                <a:cs typeface="IBM Plex Sans" pitchFamily="34" charset="-120"/>
              </a:rPr>
              <a:t>F1 0.455</a:t>
            </a:r>
            <a:endParaRPr lang="en-US" sz="2400" dirty="0"/>
          </a:p>
        </p:txBody>
      </p:sp>
      <p:sp>
        <p:nvSpPr>
          <p:cNvPr id="30" name="Text 28"/>
          <p:cNvSpPr/>
          <p:nvPr/>
        </p:nvSpPr>
        <p:spPr>
          <a:xfrm>
            <a:off x="990600" y="4403527"/>
            <a:ext cx="315686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Reported AIcrowd feedback, accuracy 0.882. Ranked 3rd on 14 October 2026 (author-reported).</a:t>
            </a:r>
            <a:endParaRPr lang="en-US" sz="1200" dirty="0"/>
          </a:p>
        </p:txBody>
      </p:sp>
      <p:sp>
        <p:nvSpPr>
          <p:cNvPr id="31" name="Shape 29"/>
          <p:cNvSpPr/>
          <p:nvPr/>
        </p:nvSpPr>
        <p:spPr>
          <a:xfrm>
            <a:off x="4385717" y="3423146"/>
            <a:ext cx="3420566" cy="1798141"/>
          </a:xfrm>
          <a:prstGeom prst="roundRect">
            <a:avLst>
              <a:gd name="adj" fmla="val 5650"/>
            </a:avLst>
          </a:prstGeom>
          <a:solidFill>
            <a:srgbClr val="EAF0EF"/>
          </a:solidFill>
          <a:ln/>
        </p:spPr>
      </p:sp>
      <p:sp>
        <p:nvSpPr>
          <p:cNvPr id="32" name="Text 30"/>
          <p:cNvSpPr/>
          <p:nvPr/>
        </p:nvSpPr>
        <p:spPr>
          <a:xfrm>
            <a:off x="4563517" y="3600946"/>
            <a:ext cx="1651446" cy="289520"/>
          </a:xfrm>
          <a:custGeom>
            <a:avLst/>
            <a:gdLst/>
            <a:ahLst/>
            <a:cxnLst/>
            <a:rect l="l" t="t" r="r" b="b"/>
            <a:pathLst>
              <a:path w="1651446" h="289520">
                <a:moveTo>
                  <a:pt x="144760" y="0"/>
                </a:moveTo>
                <a:lnTo>
                  <a:pt x="1506686" y="0"/>
                </a:lnTo>
                <a:arcTo hR="144760" wR="144760" stAng="16200000" swAng="5400000"/>
                <a:lnTo>
                  <a:pt x="1651446" y="144760"/>
                </a:lnTo>
                <a:arcTo hR="144760" wR="144760" stAng="0" swAng="5400000"/>
                <a:lnTo>
                  <a:pt x="144760" y="289520"/>
                </a:lnTo>
                <a:arcTo hR="144760" wR="144760" stAng="5400000" swAng="5400000"/>
                <a:lnTo>
                  <a:pt x="0" y="144760"/>
                </a:lnTo>
                <a:arcTo hR="144760" wR="144760" stAng="10800000" swAng="5400000"/>
                <a:close/>
              </a:path>
            </a:pathLst>
          </a:custGeom>
          <a:solidFill>
            <a:srgbClr val="14284B"/>
          </a:solidFill>
          <a:ln/>
        </p:spPr>
        <p:txBody>
          <a:bodyPr wrap="none" lIns="0" tIns="0" rIns="0" bIns="0" rtlCol="0" anchor="ctr">
            <a:normAutofit/>
          </a:bodyPr>
          <a:lstStyle/>
          <a:p>
            <a:pPr algn="ctr" indent="0" marL="0">
              <a:lnSpc>
                <a:spcPts val="1680"/>
              </a:lnSpc>
              <a:buNone/>
            </a:pPr>
            <a:r>
              <a:rPr lang="en-US" sz="1200" b="1" spc="100" kern="0" dirty="0">
                <a:solidFill>
                  <a:srgbClr val="FCFDFB"/>
                </a:solidFill>
                <a:latin typeface="IBM Plex Sans" pitchFamily="34" charset="0"/>
                <a:ea typeface="IBM Plex Sans" pitchFamily="34" charset="-122"/>
                <a:cs typeface="IBM Plex Sans" pitchFamily="34" charset="-120"/>
              </a:rPr>
              <a:t>LOCAL EVIDENCE</a:t>
            </a:r>
            <a:endParaRPr lang="en-US" sz="1200" dirty="0"/>
          </a:p>
        </p:txBody>
      </p:sp>
      <p:sp>
        <p:nvSpPr>
          <p:cNvPr id="33" name="Text 31"/>
          <p:cNvSpPr/>
          <p:nvPr/>
        </p:nvSpPr>
        <p:spPr>
          <a:xfrm>
            <a:off x="4563517" y="3979366"/>
            <a:ext cx="3156915"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4284B"/>
                </a:solidFill>
                <a:latin typeface="IBM Plex Sans" pitchFamily="34" charset="0"/>
                <a:ea typeface="IBM Plex Sans" pitchFamily="34" charset="-122"/>
                <a:cs typeface="IBM Plex Sans" pitchFamily="34" charset="-120"/>
              </a:rPr>
              <a:t>+0.0077 F1</a:t>
            </a:r>
            <a:endParaRPr lang="en-US" sz="2400" dirty="0"/>
          </a:p>
        </p:txBody>
      </p:sp>
      <p:sp>
        <p:nvSpPr>
          <p:cNvPr id="34" name="Text 32"/>
          <p:cNvSpPr/>
          <p:nvPr/>
        </p:nvSpPr>
        <p:spPr>
          <a:xfrm>
            <a:off x="4563517" y="4403527"/>
            <a:ext cx="315691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Historical booster vs matched logistic regression on the same rows, cleaning and nested folds.</a:t>
            </a:r>
            <a:endParaRPr lang="en-US" sz="1200" dirty="0"/>
          </a:p>
        </p:txBody>
      </p:sp>
      <p:sp>
        <p:nvSpPr>
          <p:cNvPr id="35" name="Shape 33"/>
          <p:cNvSpPr/>
          <p:nvPr/>
        </p:nvSpPr>
        <p:spPr>
          <a:xfrm>
            <a:off x="7958683" y="3423146"/>
            <a:ext cx="3420517" cy="1798141"/>
          </a:xfrm>
          <a:prstGeom prst="roundRect">
            <a:avLst>
              <a:gd name="adj" fmla="val 5650"/>
            </a:avLst>
          </a:prstGeom>
          <a:solidFill>
            <a:srgbClr val="EAF0EF"/>
          </a:solidFill>
          <a:ln/>
        </p:spPr>
      </p:sp>
      <p:sp>
        <p:nvSpPr>
          <p:cNvPr id="36" name="Text 34"/>
          <p:cNvSpPr/>
          <p:nvPr/>
        </p:nvSpPr>
        <p:spPr>
          <a:xfrm>
            <a:off x="8136483" y="3600946"/>
            <a:ext cx="816670" cy="289520"/>
          </a:xfrm>
          <a:custGeom>
            <a:avLst/>
            <a:gdLst/>
            <a:ahLst/>
            <a:cxnLst/>
            <a:rect l="l" t="t" r="r" b="b"/>
            <a:pathLst>
              <a:path w="816670" h="289520">
                <a:moveTo>
                  <a:pt x="144760" y="0"/>
                </a:moveTo>
                <a:lnTo>
                  <a:pt x="671909" y="0"/>
                </a:lnTo>
                <a:arcTo hR="144760" wR="144760" stAng="16200000" swAng="5400000"/>
                <a:lnTo>
                  <a:pt x="816670" y="144760"/>
                </a:lnTo>
                <a:arcTo hR="144760" wR="144760" stAng="0" swAng="5400000"/>
                <a:lnTo>
                  <a:pt x="144760" y="289520"/>
                </a:lnTo>
                <a:arcTo hR="144760" wR="144760" stAng="5400000" swAng="5400000"/>
                <a:lnTo>
                  <a:pt x="0" y="144760"/>
                </a:lnTo>
                <a:arcTo hR="144760" wR="144760" stAng="10800000" swAng="5400000"/>
                <a:close/>
              </a:path>
            </a:pathLst>
          </a:custGeom>
          <a:solidFill>
            <a:srgbClr val="B34E12"/>
          </a:solidFill>
          <a:ln/>
        </p:spPr>
        <p:txBody>
          <a:bodyPr wrap="none" lIns="0" tIns="0" rIns="0" bIns="0" rtlCol="0" anchor="ctr">
            <a:normAutofit/>
          </a:bodyPr>
          <a:lstStyle/>
          <a:p>
            <a:pPr algn="ctr" indent="0" marL="0">
              <a:lnSpc>
                <a:spcPts val="1680"/>
              </a:lnSpc>
              <a:buNone/>
            </a:pPr>
            <a:r>
              <a:rPr lang="en-US" sz="1200" b="1" spc="100" kern="0" dirty="0">
                <a:solidFill>
                  <a:srgbClr val="FCFDFB"/>
                </a:solidFill>
                <a:latin typeface="IBM Plex Sans" pitchFamily="34" charset="0"/>
                <a:ea typeface="IBM Plex Sans" pitchFamily="34" charset="-122"/>
                <a:cs typeface="IBM Plex Sans" pitchFamily="34" charset="-120"/>
              </a:rPr>
              <a:t>LIMITS</a:t>
            </a:r>
            <a:endParaRPr lang="en-US" sz="1200" dirty="0"/>
          </a:p>
        </p:txBody>
      </p:sp>
      <p:sp>
        <p:nvSpPr>
          <p:cNvPr id="37" name="Text 35"/>
          <p:cNvSpPr/>
          <p:nvPr/>
        </p:nvSpPr>
        <p:spPr>
          <a:xfrm>
            <a:off x="8136483" y="3979366"/>
            <a:ext cx="3156864"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B34E12"/>
                </a:solidFill>
                <a:latin typeface="IBM Plex Sans" pitchFamily="34" charset="0"/>
                <a:ea typeface="IBM Plex Sans" pitchFamily="34" charset="-122"/>
                <a:cs typeface="IBM Plex Sans" pitchFamily="34" charset="-120"/>
              </a:rPr>
              <a:t>Reported disease</a:t>
            </a:r>
            <a:endParaRPr lang="en-US" sz="2400" dirty="0"/>
          </a:p>
        </p:txBody>
      </p:sp>
      <p:sp>
        <p:nvSpPr>
          <p:cNvPr id="38" name="Text 36"/>
          <p:cNvSpPr/>
          <p:nvPr/>
        </p:nvSpPr>
        <p:spPr>
          <a:xfrm>
            <a:off x="8136483" y="4403527"/>
            <a:ext cx="315686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No nested estimate exists for the final combination. HAREHAB1 holds post-event information.</a:t>
            </a:r>
            <a:endParaRPr lang="en-US" sz="1200" dirty="0"/>
          </a:p>
        </p:txBody>
      </p:sp>
      <p:sp>
        <p:nvSpPr>
          <p:cNvPr id="39" name="Text 37"/>
          <p:cNvSpPr/>
          <p:nvPr/>
        </p:nvSpPr>
        <p:spPr>
          <a:xfrm>
            <a:off x="812800" y="55931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Model and threshold are fixed for the 14 October 2026 release. Challenge feedback informed the final choice.</a:t>
            </a:r>
            <a:endParaRPr lang="en-US" sz="1400" dirty="0"/>
          </a:p>
        </p:txBody>
      </p:sp>
      <p:sp>
        <p:nvSpPr>
          <p:cNvPr id="40" name="Text 38"/>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project/configs/final_model.json, evidence/RELEASE_20261014.json</a:t>
            </a:r>
            <a:endParaRPr lang="en-US" sz="1200" dirty="0"/>
          </a:p>
        </p:txBody>
      </p:sp>
      <p:sp>
        <p:nvSpPr>
          <p:cNvPr id="41" name="Text 3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2 / 14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A rare positive class and heavy missingness</a:t>
            </a:r>
            <a:endParaRPr lang="en-US" sz="3000" dirty="0"/>
          </a:p>
        </p:txBody>
      </p:sp>
      <p:sp>
        <p:nvSpPr>
          <p:cNvPr id="3" name="Shape 1"/>
          <p:cNvSpPr/>
          <p:nvPr/>
        </p:nvSpPr>
        <p:spPr>
          <a:xfrm>
            <a:off x="812800" y="1705719"/>
            <a:ext cx="2647950" cy="1506141"/>
          </a:xfrm>
          <a:prstGeom prst="roundRect">
            <a:avLst>
              <a:gd name="adj" fmla="val 6746"/>
            </a:avLst>
          </a:prstGeom>
          <a:solidFill>
            <a:srgbClr val="EAF0EF"/>
          </a:solidFill>
          <a:ln/>
        </p:spPr>
      </p:sp>
      <p:sp>
        <p:nvSpPr>
          <p:cNvPr id="4" name="Text 2"/>
          <p:cNvSpPr/>
          <p:nvPr/>
        </p:nvSpPr>
        <p:spPr>
          <a:xfrm>
            <a:off x="990600" y="1883519"/>
            <a:ext cx="2361120"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4284B"/>
                </a:solidFill>
                <a:latin typeface="IBM Plex Sans" pitchFamily="34" charset="0"/>
                <a:ea typeface="IBM Plex Sans" pitchFamily="34" charset="-122"/>
                <a:cs typeface="IBM Plex Sans" pitchFamily="34" charset="-120"/>
              </a:rPr>
              <a:t>328,135</a:t>
            </a:r>
            <a:endParaRPr lang="en-US" sz="4400" dirty="0"/>
          </a:p>
        </p:txBody>
      </p:sp>
      <p:sp>
        <p:nvSpPr>
          <p:cNvPr id="5" name="Text 3"/>
          <p:cNvSpPr/>
          <p:nvPr/>
        </p:nvSpPr>
        <p:spPr>
          <a:xfrm>
            <a:off x="990600" y="2536279"/>
            <a:ext cx="236112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labeled respondents; 109,379 challenge test rows</a:t>
            </a:r>
            <a:endParaRPr lang="en-US" sz="1400" dirty="0"/>
          </a:p>
        </p:txBody>
      </p:sp>
      <p:sp>
        <p:nvSpPr>
          <p:cNvPr id="6" name="Shape 4"/>
          <p:cNvSpPr/>
          <p:nvPr/>
        </p:nvSpPr>
        <p:spPr>
          <a:xfrm>
            <a:off x="3613150" y="1705719"/>
            <a:ext cx="2647950" cy="1506141"/>
          </a:xfrm>
          <a:prstGeom prst="roundRect">
            <a:avLst>
              <a:gd name="adj" fmla="val 6746"/>
            </a:avLst>
          </a:prstGeom>
          <a:solidFill>
            <a:srgbClr val="EAF0EF"/>
          </a:solidFill>
          <a:ln/>
        </p:spPr>
      </p:sp>
      <p:sp>
        <p:nvSpPr>
          <p:cNvPr id="7" name="Text 5"/>
          <p:cNvSpPr/>
          <p:nvPr/>
        </p:nvSpPr>
        <p:spPr>
          <a:xfrm>
            <a:off x="3790950" y="1883519"/>
            <a:ext cx="2361120"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0B6E70"/>
                </a:solidFill>
                <a:latin typeface="IBM Plex Sans" pitchFamily="34" charset="0"/>
                <a:ea typeface="IBM Plex Sans" pitchFamily="34" charset="-122"/>
                <a:cs typeface="IBM Plex Sans" pitchFamily="34" charset="-120"/>
              </a:rPr>
              <a:t>8.83%</a:t>
            </a:r>
            <a:endParaRPr lang="en-US" sz="4400" dirty="0"/>
          </a:p>
        </p:txBody>
      </p:sp>
      <p:sp>
        <p:nvSpPr>
          <p:cNvPr id="8" name="Text 6"/>
          <p:cNvSpPr/>
          <p:nvPr/>
        </p:nvSpPr>
        <p:spPr>
          <a:xfrm>
            <a:off x="3790950" y="2536279"/>
            <a:ext cx="236112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positive labels (28,975 respondents)</a:t>
            </a:r>
            <a:endParaRPr lang="en-US" sz="1400" dirty="0"/>
          </a:p>
        </p:txBody>
      </p:sp>
      <p:sp>
        <p:nvSpPr>
          <p:cNvPr id="9" name="Shape 7"/>
          <p:cNvSpPr/>
          <p:nvPr/>
        </p:nvSpPr>
        <p:spPr>
          <a:xfrm>
            <a:off x="812800" y="3364260"/>
            <a:ext cx="2647950" cy="1506141"/>
          </a:xfrm>
          <a:prstGeom prst="roundRect">
            <a:avLst>
              <a:gd name="adj" fmla="val 6746"/>
            </a:avLst>
          </a:prstGeom>
          <a:solidFill>
            <a:srgbClr val="EAF0EF"/>
          </a:solidFill>
          <a:ln/>
        </p:spPr>
      </p:sp>
      <p:sp>
        <p:nvSpPr>
          <p:cNvPr id="10" name="Text 8"/>
          <p:cNvSpPr/>
          <p:nvPr/>
        </p:nvSpPr>
        <p:spPr>
          <a:xfrm>
            <a:off x="990600" y="3542060"/>
            <a:ext cx="2361120"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4284B"/>
                </a:solidFill>
                <a:latin typeface="IBM Plex Sans" pitchFamily="34" charset="0"/>
                <a:ea typeface="IBM Plex Sans" pitchFamily="34" charset="-122"/>
                <a:cs typeface="IBM Plex Sans" pitchFamily="34" charset="-120"/>
              </a:rPr>
              <a:t>44.79%</a:t>
            </a:r>
            <a:endParaRPr lang="en-US" sz="4400" dirty="0"/>
          </a:p>
        </p:txBody>
      </p:sp>
      <p:sp>
        <p:nvSpPr>
          <p:cNvPr id="11" name="Text 9"/>
          <p:cNvSpPr/>
          <p:nvPr/>
        </p:nvSpPr>
        <p:spPr>
          <a:xfrm>
            <a:off x="990600" y="4194820"/>
            <a:ext cx="236112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of raw predictor cells are missing</a:t>
            </a:r>
            <a:endParaRPr lang="en-US" sz="1400" dirty="0"/>
          </a:p>
        </p:txBody>
      </p:sp>
      <p:sp>
        <p:nvSpPr>
          <p:cNvPr id="12" name="Shape 10"/>
          <p:cNvSpPr/>
          <p:nvPr/>
        </p:nvSpPr>
        <p:spPr>
          <a:xfrm>
            <a:off x="3613150" y="3364260"/>
            <a:ext cx="2647950" cy="1506141"/>
          </a:xfrm>
          <a:prstGeom prst="roundRect">
            <a:avLst>
              <a:gd name="adj" fmla="val 6746"/>
            </a:avLst>
          </a:prstGeom>
          <a:solidFill>
            <a:srgbClr val="EAF0EF"/>
          </a:solidFill>
          <a:ln/>
        </p:spPr>
      </p:sp>
      <p:sp>
        <p:nvSpPr>
          <p:cNvPr id="13" name="Text 11"/>
          <p:cNvSpPr/>
          <p:nvPr/>
        </p:nvSpPr>
        <p:spPr>
          <a:xfrm>
            <a:off x="3790950" y="3542060"/>
            <a:ext cx="2361120"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4284B"/>
                </a:solidFill>
                <a:latin typeface="IBM Plex Sans" pitchFamily="34" charset="0"/>
                <a:ea typeface="IBM Plex Sans" pitchFamily="34" charset="-122"/>
                <a:cs typeface="IBM Plex Sans" pitchFamily="34" charset="-120"/>
              </a:rPr>
              <a:t>321</a:t>
            </a:r>
            <a:endParaRPr lang="en-US" sz="4400" dirty="0"/>
          </a:p>
        </p:txBody>
      </p:sp>
      <p:sp>
        <p:nvSpPr>
          <p:cNvPr id="14" name="Text 12"/>
          <p:cNvSpPr/>
          <p:nvPr/>
        </p:nvSpPr>
        <p:spPr>
          <a:xfrm>
            <a:off x="3790950" y="4194820"/>
            <a:ext cx="236112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raw predictors in the survey extract</a:t>
            </a:r>
            <a:endParaRPr lang="en-US" sz="1400" dirty="0"/>
          </a:p>
        </p:txBody>
      </p:sp>
      <p:sp>
        <p:nvSpPr>
          <p:cNvPr id="15" name="Shape 13"/>
          <p:cNvSpPr/>
          <p:nvPr/>
        </p:nvSpPr>
        <p:spPr>
          <a:xfrm>
            <a:off x="6464300" y="1705719"/>
            <a:ext cx="4914900" cy="3164681"/>
          </a:xfrm>
          <a:prstGeom prst="roundRect">
            <a:avLst>
              <a:gd name="adj" fmla="val 3210"/>
            </a:avLst>
          </a:prstGeom>
          <a:solidFill>
            <a:srgbClr val="14284B"/>
          </a:solidFill>
          <a:ln/>
        </p:spPr>
      </p:sp>
      <p:sp>
        <p:nvSpPr>
          <p:cNvPr id="16" name="Text 14"/>
          <p:cNvSpPr/>
          <p:nvPr/>
        </p:nvSpPr>
        <p:spPr>
          <a:xfrm>
            <a:off x="6692900" y="1934319"/>
            <a:ext cx="4591431"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A"/>
                </a:solidFill>
                <a:latin typeface="IBM Plex Sans" pitchFamily="34" charset="0"/>
                <a:ea typeface="IBM Plex Sans" pitchFamily="34" charset="-122"/>
                <a:cs typeface="IBM Plex Sans" pitchFamily="34" charset="-120"/>
              </a:rPr>
              <a:t>Why F1 guides selection</a:t>
            </a:r>
            <a:endParaRPr lang="en-US" sz="1800" dirty="0"/>
          </a:p>
        </p:txBody>
      </p:sp>
      <p:sp>
        <p:nvSpPr>
          <p:cNvPr id="17" name="Text 15"/>
          <p:cNvSpPr/>
          <p:nvPr/>
        </p:nvSpPr>
        <p:spPr>
          <a:xfrm>
            <a:off x="6692900" y="2335609"/>
            <a:ext cx="459143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4E3"/>
                </a:solidFill>
                <a:latin typeface="IBM Plex Sans" pitchFamily="34" charset="0"/>
                <a:ea typeface="IBM Plex Sans" pitchFamily="34" charset="-122"/>
                <a:cs typeface="IBM Plex Sans" pitchFamily="34" charset="-120"/>
              </a:rPr>
              <a:t>Predicting every respondent as negative gives 91.17% accuracy and F1 0: no positive is found.</a:t>
            </a:r>
            <a:endParaRPr lang="en-US" sz="1400" dirty="0"/>
          </a:p>
        </p:txBody>
      </p:sp>
      <p:sp>
        <p:nvSpPr>
          <p:cNvPr id="18" name="Shape 16"/>
          <p:cNvSpPr/>
          <p:nvPr/>
        </p:nvSpPr>
        <p:spPr>
          <a:xfrm>
            <a:off x="6692900" y="2960390"/>
            <a:ext cx="368300" cy="355600"/>
          </a:xfrm>
          <a:custGeom>
            <a:avLst/>
            <a:gdLst/>
            <a:ahLst/>
            <a:cxnLst/>
            <a:rect l="l" t="t" r="r" b="b"/>
            <a:pathLst>
              <a:path w="368300" h="355600">
                <a:moveTo>
                  <a:pt x="0" y="50800"/>
                </a:moveTo>
                <a:arcTo hR="50800" wR="50800" stAng="10800000" swAng="5400000"/>
                <a:lnTo>
                  <a:pt x="368300" y="0"/>
                </a:lnTo>
                <a:lnTo>
                  <a:pt x="368300" y="355600"/>
                </a:lnTo>
                <a:lnTo>
                  <a:pt x="50800" y="355600"/>
                </a:lnTo>
                <a:arcTo hR="50800" wR="50800" stAng="5400000" swAng="5400000"/>
                <a:close/>
              </a:path>
            </a:pathLst>
          </a:custGeom>
          <a:solidFill>
            <a:srgbClr val="6FD6CC"/>
          </a:solidFill>
          <a:ln/>
        </p:spPr>
      </p:sp>
      <p:sp>
        <p:nvSpPr>
          <p:cNvPr id="19" name="Shape 17"/>
          <p:cNvSpPr/>
          <p:nvPr/>
        </p:nvSpPr>
        <p:spPr>
          <a:xfrm>
            <a:off x="7061200" y="2960390"/>
            <a:ext cx="3835400" cy="355600"/>
          </a:xfrm>
          <a:prstGeom prst="rect">
            <a:avLst/>
          </a:prstGeom>
          <a:solidFill>
            <a:srgbClr val="4F6791"/>
          </a:solidFill>
          <a:ln/>
        </p:spPr>
      </p:sp>
      <p:sp>
        <p:nvSpPr>
          <p:cNvPr id="20" name="Text 18"/>
          <p:cNvSpPr/>
          <p:nvPr/>
        </p:nvSpPr>
        <p:spPr>
          <a:xfrm>
            <a:off x="6692900" y="3442990"/>
            <a:ext cx="127194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FD6CC"/>
                </a:solidFill>
                <a:latin typeface="IBM Plex Sans" pitchFamily="34" charset="0"/>
                <a:ea typeface="IBM Plex Sans" pitchFamily="34" charset="-122"/>
                <a:cs typeface="IBM Plex Sans" pitchFamily="34" charset="-120"/>
              </a:rPr>
              <a:t>8.83% positive</a:t>
            </a:r>
            <a:endParaRPr lang="en-US" sz="1200" dirty="0"/>
          </a:p>
        </p:txBody>
      </p:sp>
      <p:sp>
        <p:nvSpPr>
          <p:cNvPr id="21" name="Text 19"/>
          <p:cNvSpPr/>
          <p:nvPr/>
        </p:nvSpPr>
        <p:spPr>
          <a:xfrm>
            <a:off x="9712861" y="3442990"/>
            <a:ext cx="1437739" cy="23872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C9D4E3"/>
                </a:solidFill>
                <a:latin typeface="IBM Plex Sans" pitchFamily="34" charset="0"/>
                <a:ea typeface="IBM Plex Sans" pitchFamily="34" charset="-122"/>
                <a:cs typeface="IBM Plex Sans" pitchFamily="34" charset="-120"/>
              </a:rPr>
              <a:t>91.17% negative</a:t>
            </a:r>
            <a:endParaRPr lang="en-US" sz="1200" dirty="0"/>
          </a:p>
        </p:txBody>
      </p:sp>
      <p:sp>
        <p:nvSpPr>
          <p:cNvPr id="22" name="Text 20"/>
          <p:cNvSpPr/>
          <p:nvPr/>
        </p:nvSpPr>
        <p:spPr>
          <a:xfrm>
            <a:off x="6692900" y="3783310"/>
            <a:ext cx="4591431"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5F7FA"/>
                </a:solidFill>
                <a:latin typeface="IBM Plex Sans" pitchFamily="34" charset="0"/>
                <a:ea typeface="IBM Plex Sans" pitchFamily="34" charset="-122"/>
                <a:cs typeface="IBM Plex Sans" pitchFamily="34" charset="-120"/>
              </a:rPr>
              <a:t>On labeled data, an all-negative baseline gives 91.17% accuracy and F1 0. AIcrowd reports F1 0.455 and accuracy 0.882.</a:t>
            </a:r>
            <a:endParaRPr lang="en-US" sz="1400" dirty="0"/>
          </a:p>
        </p:txBody>
      </p:sp>
      <p:sp>
        <p:nvSpPr>
          <p:cNvPr id="23" name="Text 21"/>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Target </a:t>
            </a:r>
            <a:r>
              <a:rPr lang="en-US" sz="1400" b="1" dirty="0">
                <a:solidFill>
                  <a:srgbClr val="5B6678"/>
                </a:solidFill>
                <a:latin typeface="IBM Plex Sans" pitchFamily="34" charset="0"/>
                <a:ea typeface="IBM Plex Sans" pitchFamily="34" charset="-122"/>
                <a:cs typeface="IBM Plex Sans" pitchFamily="34" charset="-120"/>
              </a:rPr>
              <a:t>_MICHD</a:t>
            </a:r>
            <a:r>
              <a:rPr lang="en-US" sz="1400" dirty="0">
                <a:solidFill>
                  <a:srgbClr val="5B6678"/>
                </a:solidFill>
                <a:latin typeface="IBM Plex Sans" pitchFamily="34" charset="0"/>
                <a:ea typeface="IBM Plex Sans" pitchFamily="34" charset="-122"/>
                <a:cs typeface="IBM Plex Sans" pitchFamily="34" charset="-120"/>
              </a:rPr>
              <a:t>: reported myocardial infarction or coronary heart disease in BRFSS 2015. A cross-sectional classification task, not prospective risk prediction.</a:t>
            </a:r>
            <a:endParaRPr lang="en-US" sz="1400" dirty="0"/>
          </a:p>
        </p:txBody>
      </p:sp>
      <p:sp>
        <p:nvSpPr>
          <p:cNvPr id="24" name="Text 22"/>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evidence/METRICS.json, project/docs/DATA.md</a:t>
            </a:r>
            <a:endParaRPr lang="en-US" sz="1200" dirty="0"/>
          </a:p>
        </p:txBody>
      </p:sp>
      <p:sp>
        <p:nvSpPr>
          <p:cNvPr id="25" name="Text 2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3 / 14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Survey codes are interpreted before any fit</a:t>
            </a:r>
            <a:endParaRPr lang="en-US" sz="3000" dirty="0"/>
          </a:p>
        </p:txBody>
      </p:sp>
      <p:sp>
        <p:nvSpPr>
          <p:cNvPr id="3" name="Shape 1"/>
          <p:cNvSpPr/>
          <p:nvPr/>
        </p:nvSpPr>
        <p:spPr>
          <a:xfrm>
            <a:off x="812800" y="1742579"/>
            <a:ext cx="3386634" cy="2341711"/>
          </a:xfrm>
          <a:prstGeom prst="roundRect">
            <a:avLst>
              <a:gd name="adj" fmla="val 4339"/>
            </a:avLst>
          </a:prstGeom>
          <a:solidFill>
            <a:srgbClr val="EAF0EF"/>
          </a:solidFill>
          <a:ln/>
        </p:spPr>
      </p:sp>
      <p:sp>
        <p:nvSpPr>
          <p:cNvPr id="4" name="Text 2"/>
          <p:cNvSpPr/>
          <p:nvPr/>
        </p:nvSpPr>
        <p:spPr>
          <a:xfrm>
            <a:off x="990600" y="1920379"/>
            <a:ext cx="3121965"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Survey code</a:t>
            </a:r>
            <a:endParaRPr lang="en-US" sz="1200" dirty="0"/>
          </a:p>
        </p:txBody>
      </p:sp>
      <p:sp>
        <p:nvSpPr>
          <p:cNvPr id="5" name="Text 3"/>
          <p:cNvSpPr/>
          <p:nvPr/>
        </p:nvSpPr>
        <p:spPr>
          <a:xfrm>
            <a:off x="990600" y="2169269"/>
            <a:ext cx="3121965"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4284B"/>
                </a:solidFill>
                <a:latin typeface="IBM Plex Mono" pitchFamily="49" charset="0"/>
                <a:ea typeface="IBM Plex Mono" pitchFamily="49" charset="-122"/>
                <a:cs typeface="IBM Plex Mono" pitchFamily="49" charset="-120"/>
              </a:rPr>
              <a:t>ALCDAY5 = 888</a:t>
            </a:r>
            <a:endParaRPr lang="en-US" sz="1800" dirty="0"/>
          </a:p>
        </p:txBody>
      </p:sp>
      <p:sp>
        <p:nvSpPr>
          <p:cNvPr id="6" name="Text 4"/>
          <p:cNvSpPr/>
          <p:nvPr/>
        </p:nvSpPr>
        <p:spPr>
          <a:xfrm>
            <a:off x="990600" y="2494359"/>
            <a:ext cx="3121965"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Recoded as</a:t>
            </a:r>
            <a:endParaRPr lang="en-US" sz="1200" dirty="0"/>
          </a:p>
        </p:txBody>
      </p:sp>
      <p:sp>
        <p:nvSpPr>
          <p:cNvPr id="7" name="Text 5"/>
          <p:cNvSpPr/>
          <p:nvPr/>
        </p:nvSpPr>
        <p:spPr>
          <a:xfrm>
            <a:off x="990600" y="2743250"/>
            <a:ext cx="3121965"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0B6E70"/>
                </a:solidFill>
                <a:latin typeface="IBM Plex Sans" pitchFamily="34" charset="0"/>
                <a:ea typeface="IBM Plex Sans" pitchFamily="34" charset="-122"/>
                <a:cs typeface="IBM Plex Sans" pitchFamily="34" charset="-120"/>
              </a:rPr>
              <a:t>0</a:t>
            </a:r>
            <a:endParaRPr lang="en-US" sz="4400" dirty="0"/>
          </a:p>
        </p:txBody>
      </p:sp>
      <p:sp>
        <p:nvSpPr>
          <p:cNvPr id="8" name="Text 6"/>
          <p:cNvSpPr/>
          <p:nvPr/>
        </p:nvSpPr>
        <p:spPr>
          <a:xfrm>
            <a:off x="990600" y="3408710"/>
            <a:ext cx="3121965"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No alcohol consumption means zero drinking days.</a:t>
            </a:r>
            <a:endParaRPr lang="en-US" sz="1400" dirty="0"/>
          </a:p>
        </p:txBody>
      </p:sp>
      <p:sp>
        <p:nvSpPr>
          <p:cNvPr id="9" name="Shape 7"/>
          <p:cNvSpPr/>
          <p:nvPr/>
        </p:nvSpPr>
        <p:spPr>
          <a:xfrm>
            <a:off x="4402634" y="1742579"/>
            <a:ext cx="3386683" cy="2341711"/>
          </a:xfrm>
          <a:prstGeom prst="roundRect">
            <a:avLst>
              <a:gd name="adj" fmla="val 4339"/>
            </a:avLst>
          </a:prstGeom>
          <a:solidFill>
            <a:srgbClr val="EAF0EF"/>
          </a:solidFill>
          <a:ln/>
        </p:spPr>
      </p:sp>
      <p:sp>
        <p:nvSpPr>
          <p:cNvPr id="10" name="Text 8"/>
          <p:cNvSpPr/>
          <p:nvPr/>
        </p:nvSpPr>
        <p:spPr>
          <a:xfrm>
            <a:off x="4580434" y="1920379"/>
            <a:ext cx="3122016"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Survey code</a:t>
            </a:r>
            <a:endParaRPr lang="en-US" sz="1200" dirty="0"/>
          </a:p>
        </p:txBody>
      </p:sp>
      <p:sp>
        <p:nvSpPr>
          <p:cNvPr id="11" name="Text 9"/>
          <p:cNvSpPr/>
          <p:nvPr/>
        </p:nvSpPr>
        <p:spPr>
          <a:xfrm>
            <a:off x="4580434" y="2169269"/>
            <a:ext cx="3122016"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4284B"/>
                </a:solidFill>
                <a:latin typeface="IBM Plex Mono" pitchFamily="49" charset="0"/>
                <a:ea typeface="IBM Plex Mono" pitchFamily="49" charset="-122"/>
                <a:cs typeface="IBM Plex Mono" pitchFamily="49" charset="-120"/>
              </a:rPr>
              <a:t>PHYSHLTH = 88</a:t>
            </a:r>
            <a:endParaRPr lang="en-US" sz="1800" dirty="0"/>
          </a:p>
        </p:txBody>
      </p:sp>
      <p:sp>
        <p:nvSpPr>
          <p:cNvPr id="12" name="Text 10"/>
          <p:cNvSpPr/>
          <p:nvPr/>
        </p:nvSpPr>
        <p:spPr>
          <a:xfrm>
            <a:off x="4580434" y="2494359"/>
            <a:ext cx="3122016"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Recoded as</a:t>
            </a:r>
            <a:endParaRPr lang="en-US" sz="1200" dirty="0"/>
          </a:p>
        </p:txBody>
      </p:sp>
      <p:sp>
        <p:nvSpPr>
          <p:cNvPr id="13" name="Text 11"/>
          <p:cNvSpPr/>
          <p:nvPr/>
        </p:nvSpPr>
        <p:spPr>
          <a:xfrm>
            <a:off x="4580434" y="2743250"/>
            <a:ext cx="3122016"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0B6E70"/>
                </a:solidFill>
                <a:latin typeface="IBM Plex Sans" pitchFamily="34" charset="0"/>
                <a:ea typeface="IBM Plex Sans" pitchFamily="34" charset="-122"/>
                <a:cs typeface="IBM Plex Sans" pitchFamily="34" charset="-120"/>
              </a:rPr>
              <a:t>0</a:t>
            </a:r>
            <a:endParaRPr lang="en-US" sz="4400" dirty="0"/>
          </a:p>
        </p:txBody>
      </p:sp>
      <p:sp>
        <p:nvSpPr>
          <p:cNvPr id="14" name="Text 12"/>
          <p:cNvSpPr/>
          <p:nvPr/>
        </p:nvSpPr>
        <p:spPr>
          <a:xfrm>
            <a:off x="4580434" y="3408710"/>
            <a:ext cx="31220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Zero unhealthy days is a real quantity, not a category.</a:t>
            </a:r>
            <a:endParaRPr lang="en-US" sz="1400" dirty="0"/>
          </a:p>
        </p:txBody>
      </p:sp>
      <p:sp>
        <p:nvSpPr>
          <p:cNvPr id="15" name="Shape 13"/>
          <p:cNvSpPr/>
          <p:nvPr/>
        </p:nvSpPr>
        <p:spPr>
          <a:xfrm>
            <a:off x="7992517" y="1742579"/>
            <a:ext cx="3386683" cy="2341711"/>
          </a:xfrm>
          <a:prstGeom prst="roundRect">
            <a:avLst>
              <a:gd name="adj" fmla="val 4339"/>
            </a:avLst>
          </a:prstGeom>
          <a:solidFill>
            <a:srgbClr val="EAF0EF"/>
          </a:solidFill>
          <a:ln/>
        </p:spPr>
      </p:sp>
      <p:sp>
        <p:nvSpPr>
          <p:cNvPr id="16" name="Text 14"/>
          <p:cNvSpPr/>
          <p:nvPr/>
        </p:nvSpPr>
        <p:spPr>
          <a:xfrm>
            <a:off x="8170317" y="1920379"/>
            <a:ext cx="3122016"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Survey code</a:t>
            </a:r>
            <a:endParaRPr lang="en-US" sz="1200" dirty="0"/>
          </a:p>
        </p:txBody>
      </p:sp>
      <p:sp>
        <p:nvSpPr>
          <p:cNvPr id="17" name="Text 15"/>
          <p:cNvSpPr/>
          <p:nvPr/>
        </p:nvSpPr>
        <p:spPr>
          <a:xfrm>
            <a:off x="8170317" y="2169269"/>
            <a:ext cx="3122016"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4284B"/>
                </a:solidFill>
                <a:latin typeface="IBM Plex Mono" pitchFamily="49" charset="0"/>
                <a:ea typeface="IBM Plex Mono" pitchFamily="49" charset="-122"/>
                <a:cs typeface="IBM Plex Mono" pitchFamily="49" charset="-120"/>
              </a:rPr>
              <a:t>Nonresponse codes</a:t>
            </a:r>
            <a:endParaRPr lang="en-US" sz="1800" dirty="0"/>
          </a:p>
        </p:txBody>
      </p:sp>
      <p:sp>
        <p:nvSpPr>
          <p:cNvPr id="18" name="Text 16"/>
          <p:cNvSpPr/>
          <p:nvPr/>
        </p:nvSpPr>
        <p:spPr>
          <a:xfrm>
            <a:off x="8170317" y="2494359"/>
            <a:ext cx="3122016"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Recoded as</a:t>
            </a:r>
            <a:endParaRPr lang="en-US" sz="1200" dirty="0"/>
          </a:p>
        </p:txBody>
      </p:sp>
      <p:sp>
        <p:nvSpPr>
          <p:cNvPr id="19" name="Text 17"/>
          <p:cNvSpPr/>
          <p:nvPr/>
        </p:nvSpPr>
        <p:spPr>
          <a:xfrm>
            <a:off x="8170317" y="2743250"/>
            <a:ext cx="3122016"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B34E12"/>
                </a:solidFill>
                <a:latin typeface="IBM Plex Sans" pitchFamily="34" charset="0"/>
                <a:ea typeface="IBM Plex Sans" pitchFamily="34" charset="-122"/>
                <a:cs typeface="IBM Plex Sans" pitchFamily="34" charset="-120"/>
              </a:rPr>
              <a:t>missing</a:t>
            </a:r>
            <a:endParaRPr lang="en-US" sz="4400" dirty="0"/>
          </a:p>
        </p:txBody>
      </p:sp>
      <p:sp>
        <p:nvSpPr>
          <p:cNvPr id="20" name="Text 18"/>
          <p:cNvSpPr/>
          <p:nvPr/>
        </p:nvSpPr>
        <p:spPr>
          <a:xfrm>
            <a:off x="8170317" y="3408710"/>
            <a:ext cx="312201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Each variable's own unknown and refused codes, not a global 7/9 rule.</a:t>
            </a:r>
            <a:endParaRPr lang="en-US" sz="1400" dirty="0"/>
          </a:p>
        </p:txBody>
      </p:sp>
      <p:sp>
        <p:nvSpPr>
          <p:cNvPr id="21" name="Shape 19"/>
          <p:cNvSpPr/>
          <p:nvPr/>
        </p:nvSpPr>
        <p:spPr>
          <a:xfrm>
            <a:off x="812800" y="4594920"/>
            <a:ext cx="2794000" cy="1247080"/>
          </a:xfrm>
          <a:prstGeom prst="roundRect">
            <a:avLst>
              <a:gd name="adj" fmla="val 8147"/>
            </a:avLst>
          </a:prstGeom>
          <a:solidFill>
            <a:srgbClr val="CFE8E5"/>
          </a:solidFill>
          <a:ln/>
        </p:spPr>
      </p:sp>
      <p:sp>
        <p:nvSpPr>
          <p:cNvPr id="22" name="Text 20"/>
          <p:cNvSpPr/>
          <p:nvPr/>
        </p:nvSpPr>
        <p:spPr>
          <a:xfrm>
            <a:off x="990600" y="4747320"/>
            <a:ext cx="251155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1,095,421</a:t>
            </a:r>
            <a:endParaRPr lang="en-US" sz="3000" dirty="0"/>
          </a:p>
        </p:txBody>
      </p:sp>
      <p:sp>
        <p:nvSpPr>
          <p:cNvPr id="23" name="Text 21"/>
          <p:cNvSpPr/>
          <p:nvPr/>
        </p:nvSpPr>
        <p:spPr>
          <a:xfrm>
            <a:off x="990600" y="5191820"/>
            <a:ext cx="251155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nonresponse codes set to missing</a:t>
            </a:r>
            <a:endParaRPr lang="en-US" sz="1400" dirty="0"/>
          </a:p>
        </p:txBody>
      </p:sp>
      <p:sp>
        <p:nvSpPr>
          <p:cNvPr id="24" name="Shape 22"/>
          <p:cNvSpPr/>
          <p:nvPr/>
        </p:nvSpPr>
        <p:spPr>
          <a:xfrm>
            <a:off x="3759200" y="4594920"/>
            <a:ext cx="2794000" cy="1247080"/>
          </a:xfrm>
          <a:prstGeom prst="roundRect">
            <a:avLst>
              <a:gd name="adj" fmla="val 8147"/>
            </a:avLst>
          </a:prstGeom>
          <a:solidFill>
            <a:srgbClr val="CFE8E5"/>
          </a:solidFill>
          <a:ln/>
        </p:spPr>
      </p:sp>
      <p:sp>
        <p:nvSpPr>
          <p:cNvPr id="25" name="Text 23"/>
          <p:cNvSpPr/>
          <p:nvPr/>
        </p:nvSpPr>
        <p:spPr>
          <a:xfrm>
            <a:off x="3937000" y="4747320"/>
            <a:ext cx="251155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899,687</a:t>
            </a:r>
            <a:endParaRPr lang="en-US" sz="3000" dirty="0"/>
          </a:p>
        </p:txBody>
      </p:sp>
      <p:sp>
        <p:nvSpPr>
          <p:cNvPr id="26" name="Text 24"/>
          <p:cNvSpPr/>
          <p:nvPr/>
        </p:nvSpPr>
        <p:spPr>
          <a:xfrm>
            <a:off x="3937000" y="5191820"/>
            <a:ext cx="251155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zero-quantity codes set to 0</a:t>
            </a:r>
            <a:endParaRPr lang="en-US" sz="1400" dirty="0"/>
          </a:p>
        </p:txBody>
      </p:sp>
      <p:sp>
        <p:nvSpPr>
          <p:cNvPr id="27" name="Text 25"/>
          <p:cNvSpPr/>
          <p:nvPr/>
        </p:nvSpPr>
        <p:spPr>
          <a:xfrm>
            <a:off x="6705600" y="4594920"/>
            <a:ext cx="4813808" cy="12724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Counts from the historical audit of 262,508 development rows. They describe the transformation, not a performance gain.</a:t>
            </a:r>
            <a:endParaRPr lang="en-US" sz="1400" dirty="0"/>
          </a:p>
        </p:txBody>
      </p:sp>
      <p:sp>
        <p:nvSpPr>
          <p:cNvPr id="28" name="Text 26"/>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configs/experiments/ (codebook plan), results/eda/ (preprocessing counts)</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4 / 14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0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The final representation adds two targeted changes</a:t>
            </a:r>
            <a:endParaRPr lang="en-US" sz="3000" dirty="0"/>
          </a:p>
        </p:txBody>
      </p:sp>
      <p:sp>
        <p:nvSpPr>
          <p:cNvPr id="3" name="Shape 1"/>
          <p:cNvSpPr/>
          <p:nvPr/>
        </p:nvSpPr>
        <p:spPr>
          <a:xfrm>
            <a:off x="815975" y="1739404"/>
            <a:ext cx="4819650" cy="1492151"/>
          </a:xfrm>
          <a:prstGeom prst="roundRect">
            <a:avLst>
              <a:gd name="adj" fmla="val 6596"/>
            </a:avLst>
          </a:prstGeom>
          <a:solidFill>
            <a:srgbClr val="FCFDFB"/>
          </a:solidFill>
          <a:ln w="6350">
            <a:solidFill>
              <a:srgbClr val="D3DCD9"/>
            </a:solidFill>
            <a:prstDash val="solid"/>
          </a:ln>
        </p:spPr>
      </p:sp>
      <p:sp>
        <p:nvSpPr>
          <p:cNvPr id="4" name="Text 2"/>
          <p:cNvSpPr/>
          <p:nvPr/>
        </p:nvSpPr>
        <p:spPr>
          <a:xfrm>
            <a:off x="996950" y="1920379"/>
            <a:ext cx="4591431"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Diet representation</a:t>
            </a:r>
            <a:endParaRPr lang="en-US" sz="1800" dirty="0"/>
          </a:p>
        </p:txBody>
      </p:sp>
      <p:sp>
        <p:nvSpPr>
          <p:cNvPr id="5" name="Text 3"/>
          <p:cNvSpPr/>
          <p:nvPr/>
        </p:nvSpPr>
        <p:spPr>
          <a:xfrm>
            <a:off x="996950" y="2258169"/>
            <a:ext cx="459143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Remove six raw diet questions that mix day, week and month codes; keep the existing derived per-day fields.</a:t>
            </a:r>
            <a:endParaRPr lang="en-US" sz="1400" dirty="0"/>
          </a:p>
        </p:txBody>
      </p:sp>
      <p:sp>
        <p:nvSpPr>
          <p:cNvPr id="6" name="Text 4"/>
          <p:cNvSpPr/>
          <p:nvPr/>
        </p:nvSpPr>
        <p:spPr>
          <a:xfrm>
            <a:off x="996950" y="2819450"/>
            <a:ext cx="4591431" cy="25653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0B6E70"/>
                </a:solidFill>
                <a:latin typeface="IBM Plex Mono" pitchFamily="49" charset="0"/>
                <a:ea typeface="IBM Plex Mono" pitchFamily="49" charset="-122"/>
                <a:cs typeface="IBM Plex Mono" pitchFamily="49" charset="-120"/>
              </a:rPr>
              <a:t>FRUIT1 → FRUTDA1_ (kept)</a:t>
            </a:r>
            <a:endParaRPr lang="en-US" sz="1400" dirty="0"/>
          </a:p>
        </p:txBody>
      </p:sp>
      <p:sp>
        <p:nvSpPr>
          <p:cNvPr id="7" name="Shape 5"/>
          <p:cNvSpPr/>
          <p:nvPr/>
        </p:nvSpPr>
        <p:spPr>
          <a:xfrm>
            <a:off x="815975" y="3390305"/>
            <a:ext cx="4819650" cy="1446411"/>
          </a:xfrm>
          <a:prstGeom prst="roundRect">
            <a:avLst>
              <a:gd name="adj" fmla="val 6805"/>
            </a:avLst>
          </a:prstGeom>
          <a:solidFill>
            <a:srgbClr val="FCFDFB"/>
          </a:solidFill>
          <a:ln w="6350">
            <a:solidFill>
              <a:srgbClr val="D3DCD9"/>
            </a:solidFill>
            <a:prstDash val="solid"/>
          </a:ln>
        </p:spPr>
      </p:sp>
      <p:sp>
        <p:nvSpPr>
          <p:cNvPr id="8" name="Text 6"/>
          <p:cNvSpPr/>
          <p:nvPr/>
        </p:nvSpPr>
        <p:spPr>
          <a:xfrm>
            <a:off x="996950" y="3571280"/>
            <a:ext cx="4591431"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Restricted imputation</a:t>
            </a:r>
            <a:endParaRPr lang="en-US" sz="1800" dirty="0"/>
          </a:p>
        </p:txBody>
      </p:sp>
      <p:sp>
        <p:nvSpPr>
          <p:cNvPr id="9" name="Text 7"/>
          <p:cNvSpPr/>
          <p:nvPr/>
        </p:nvSpPr>
        <p:spPr>
          <a:xfrm>
            <a:off x="996950" y="3909070"/>
            <a:ext cx="4591431"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Fill only selected unknown or refused answers (income, employment, pneumonia vaccine) and blank height and weight from training features; derive missing BMI.</a:t>
            </a:r>
            <a:endParaRPr lang="en-US" sz="1400" dirty="0"/>
          </a:p>
        </p:txBody>
      </p:sp>
      <p:pic>
        <p:nvPicPr>
          <p:cNvPr id="10" name="Image 0" descr="arrow-right">    </p:cNvPr>
          <p:cNvPicPr>
            <a:picLocks noChangeAspect="1"/>
          </p:cNvPicPr>
          <p:nvPr/>
        </p:nvPicPr>
        <p:blipFill>
          <a:blip r:embed="rId1"/>
          <a:srcRect l="0" r="0" t="0" b="0"/>
          <a:stretch/>
        </p:blipFill>
        <p:spPr>
          <a:xfrm>
            <a:off x="5816600" y="2424460"/>
            <a:ext cx="457200" cy="228600"/>
          </a:xfrm>
          <a:prstGeom prst="rect">
            <a:avLst/>
          </a:prstGeom>
        </p:spPr>
      </p:pic>
      <p:pic>
        <p:nvPicPr>
          <p:cNvPr id="11" name="Image 1" descr="arrow-right">    </p:cNvPr>
          <p:cNvPicPr>
            <a:picLocks noChangeAspect="1"/>
          </p:cNvPicPr>
          <p:nvPr/>
        </p:nvPicPr>
        <p:blipFill>
          <a:blip r:embed="rId2"/>
          <a:srcRect l="0" r="0" t="0" b="0"/>
          <a:stretch/>
        </p:blipFill>
        <p:spPr>
          <a:xfrm>
            <a:off x="5816600" y="3923060"/>
            <a:ext cx="457200" cy="228600"/>
          </a:xfrm>
          <a:prstGeom prst="rect">
            <a:avLst/>
          </a:prstGeom>
        </p:spPr>
      </p:pic>
      <p:sp>
        <p:nvSpPr>
          <p:cNvPr id="12" name="Shape 8"/>
          <p:cNvSpPr/>
          <p:nvPr/>
        </p:nvSpPr>
        <p:spPr>
          <a:xfrm>
            <a:off x="6451600" y="2234009"/>
            <a:ext cx="4927600" cy="2108101"/>
          </a:xfrm>
          <a:prstGeom prst="roundRect">
            <a:avLst>
              <a:gd name="adj" fmla="val 4820"/>
            </a:avLst>
          </a:prstGeom>
          <a:solidFill>
            <a:srgbClr val="14284B"/>
          </a:solidFill>
          <a:ln/>
        </p:spPr>
      </p:sp>
      <p:sp>
        <p:nvSpPr>
          <p:cNvPr id="13" name="Text 9"/>
          <p:cNvSpPr/>
          <p:nvPr/>
        </p:nvSpPr>
        <p:spPr>
          <a:xfrm>
            <a:off x="6705600" y="2488009"/>
            <a:ext cx="4552188"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5F7FA"/>
                </a:solidFill>
                <a:latin typeface="IBM Plex Sans" pitchFamily="34" charset="0"/>
                <a:ea typeface="IBM Plex Sans" pitchFamily="34" charset="-122"/>
                <a:cs typeface="IBM Plex Sans" pitchFamily="34" charset="-120"/>
              </a:rPr>
              <a:t>297 model features</a:t>
            </a:r>
            <a:endParaRPr lang="en-US" sz="3000" dirty="0"/>
          </a:p>
        </p:txBody>
      </p:sp>
      <p:sp>
        <p:nvSpPr>
          <p:cNvPr id="14" name="Text 10"/>
          <p:cNvSpPr/>
          <p:nvPr/>
        </p:nvSpPr>
        <p:spPr>
          <a:xfrm>
            <a:off x="6705600" y="3008709"/>
            <a:ext cx="4552188"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6FD6CC"/>
                </a:solidFill>
                <a:latin typeface="IBM Plex Sans" pitchFamily="34" charset="0"/>
                <a:ea typeface="IBM Plex Sans" pitchFamily="34" charset="-122"/>
                <a:cs typeface="IBM Plex Sans" pitchFamily="34" charset="-120"/>
              </a:rPr>
              <a:t>289 source columns + 8 missing-state flags</a:t>
            </a:r>
            <a:endParaRPr lang="en-US" sz="1400" dirty="0"/>
          </a:p>
        </p:txBody>
      </p:sp>
      <p:sp>
        <p:nvSpPr>
          <p:cNvPr id="15" name="Text 11"/>
          <p:cNvSpPr/>
          <p:nvPr/>
        </p:nvSpPr>
        <p:spPr>
          <a:xfrm>
            <a:off x="6705600" y="3341439"/>
            <a:ext cx="455218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4E3"/>
                </a:solidFill>
                <a:latin typeface="IBM Plex Sans" pitchFamily="34" charset="0"/>
                <a:ea typeface="IBM Plex Sans" pitchFamily="34" charset="-122"/>
                <a:cs typeface="IBM Plex Sans" pitchFamily="34" charset="-120"/>
              </a:rPr>
              <a:t>Structural missingness is preserved. Imputers use features, never disease labels, and are fitted inside each training partition.</a:t>
            </a:r>
            <a:endParaRPr lang="en-US" sz="1400" dirty="0"/>
          </a:p>
        </p:txBody>
      </p:sp>
      <p:sp>
        <p:nvSpPr>
          <p:cNvPr id="16" name="Text 12"/>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Both changes are in the final pipeline because of challenge feedback; under local nested validation they were neutral (see the evidence section).</a:t>
            </a:r>
            <a:endParaRPr lang="en-US" sz="1400" dirty="0"/>
          </a:p>
        </p:txBody>
      </p:sp>
      <p:sp>
        <p:nvSpPr>
          <p:cNvPr id="17" name="Text 13"/>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configs/experiments/combined18_24_preprocessing.json, src/conditional_imputation.py</a:t>
            </a:r>
            <a:endParaRPr lang="en-US" sz="1200" dirty="0"/>
          </a:p>
        </p:txBody>
      </p:sp>
      <p:sp>
        <p:nvSpPr>
          <p:cNvPr id="18"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5 / 14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Histogram gradient boosting, implemented in NumPy</a:t>
            </a:r>
            <a:endParaRPr lang="en-US" sz="3000" dirty="0"/>
          </a:p>
        </p:txBody>
      </p:sp>
      <p:sp>
        <p:nvSpPr>
          <p:cNvPr id="3" name="Shape 1"/>
          <p:cNvSpPr/>
          <p:nvPr/>
        </p:nvSpPr>
        <p:spPr>
          <a:xfrm>
            <a:off x="812800" y="1753493"/>
            <a:ext cx="2222500" cy="1440061"/>
          </a:xfrm>
          <a:prstGeom prst="roundRect">
            <a:avLst>
              <a:gd name="adj" fmla="val 7055"/>
            </a:avLst>
          </a:prstGeom>
          <a:solidFill>
            <a:srgbClr val="EAF0EF"/>
          </a:solidFill>
          <a:ln/>
        </p:spPr>
      </p:sp>
      <p:sp>
        <p:nvSpPr>
          <p:cNvPr id="4" name="Text 2"/>
          <p:cNvSpPr/>
          <p:nvPr/>
        </p:nvSpPr>
        <p:spPr>
          <a:xfrm>
            <a:off x="990600" y="1931293"/>
            <a:ext cx="1922907"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1 Bin</a:t>
            </a:r>
            <a:endParaRPr lang="en-US" sz="1800" dirty="0"/>
          </a:p>
        </p:txBody>
      </p:sp>
      <p:sp>
        <p:nvSpPr>
          <p:cNvPr id="5" name="Text 3"/>
          <p:cNvSpPr/>
          <p:nvPr/>
        </p:nvSpPr>
        <p:spPr>
          <a:xfrm>
            <a:off x="990600" y="2269083"/>
            <a:ext cx="192290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64 quantile bins per feature, learned on training rows</a:t>
            </a:r>
            <a:endParaRPr lang="en-US" sz="1400" dirty="0"/>
          </a:p>
        </p:txBody>
      </p:sp>
      <p:pic>
        <p:nvPicPr>
          <p:cNvPr id="6" name="Image 0" descr="arrow-right">    </p:cNvPr>
          <p:cNvPicPr>
            <a:picLocks noChangeAspect="1"/>
          </p:cNvPicPr>
          <p:nvPr/>
        </p:nvPicPr>
        <p:blipFill>
          <a:blip r:embed="rId1"/>
          <a:srcRect l="0" r="0" t="0" b="0"/>
          <a:stretch/>
        </p:blipFill>
        <p:spPr>
          <a:xfrm>
            <a:off x="3136900" y="2384623"/>
            <a:ext cx="355600" cy="177800"/>
          </a:xfrm>
          <a:prstGeom prst="rect">
            <a:avLst/>
          </a:prstGeom>
        </p:spPr>
      </p:pic>
      <p:sp>
        <p:nvSpPr>
          <p:cNvPr id="7" name="Shape 4"/>
          <p:cNvSpPr/>
          <p:nvPr/>
        </p:nvSpPr>
        <p:spPr>
          <a:xfrm>
            <a:off x="3594100" y="1629073"/>
            <a:ext cx="2222500" cy="1688951"/>
          </a:xfrm>
          <a:prstGeom prst="roundRect">
            <a:avLst>
              <a:gd name="adj" fmla="val 6016"/>
            </a:avLst>
          </a:prstGeom>
          <a:solidFill>
            <a:srgbClr val="EAF0EF"/>
          </a:solidFill>
          <a:ln/>
        </p:spPr>
      </p:sp>
      <p:sp>
        <p:nvSpPr>
          <p:cNvPr id="8" name="Text 5"/>
          <p:cNvSpPr/>
          <p:nvPr/>
        </p:nvSpPr>
        <p:spPr>
          <a:xfrm>
            <a:off x="3771900" y="1806873"/>
            <a:ext cx="1922907"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2 Fit</a:t>
            </a:r>
            <a:endParaRPr lang="en-US" sz="1800" dirty="0"/>
          </a:p>
        </p:txBody>
      </p:sp>
      <p:sp>
        <p:nvSpPr>
          <p:cNvPr id="9" name="Text 6"/>
          <p:cNvSpPr/>
          <p:nvPr/>
        </p:nvSpPr>
        <p:spPr>
          <a:xfrm>
            <a:off x="3771900" y="2144663"/>
            <a:ext cx="1922907"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Each tree takes a Newton step on the logistic loss, depth up to 5</a:t>
            </a:r>
            <a:endParaRPr lang="en-US" sz="1400" dirty="0"/>
          </a:p>
        </p:txBody>
      </p:sp>
      <p:pic>
        <p:nvPicPr>
          <p:cNvPr id="10" name="Image 1" descr="arrow-right">    </p:cNvPr>
          <p:cNvPicPr>
            <a:picLocks noChangeAspect="1"/>
          </p:cNvPicPr>
          <p:nvPr/>
        </p:nvPicPr>
        <p:blipFill>
          <a:blip r:embed="rId2"/>
          <a:srcRect l="0" r="0" t="0" b="0"/>
          <a:stretch/>
        </p:blipFill>
        <p:spPr>
          <a:xfrm>
            <a:off x="5918200" y="2384623"/>
            <a:ext cx="355600" cy="177800"/>
          </a:xfrm>
          <a:prstGeom prst="rect">
            <a:avLst/>
          </a:prstGeom>
        </p:spPr>
      </p:pic>
      <p:sp>
        <p:nvSpPr>
          <p:cNvPr id="11" name="Shape 7"/>
          <p:cNvSpPr/>
          <p:nvPr/>
        </p:nvSpPr>
        <p:spPr>
          <a:xfrm>
            <a:off x="6375400" y="1753493"/>
            <a:ext cx="2222500" cy="1440061"/>
          </a:xfrm>
          <a:prstGeom prst="roundRect">
            <a:avLst>
              <a:gd name="adj" fmla="val 7055"/>
            </a:avLst>
          </a:prstGeom>
          <a:solidFill>
            <a:srgbClr val="EAF0EF"/>
          </a:solidFill>
          <a:ln/>
        </p:spPr>
      </p:sp>
      <p:sp>
        <p:nvSpPr>
          <p:cNvPr id="12" name="Text 8"/>
          <p:cNvSpPr/>
          <p:nvPr/>
        </p:nvSpPr>
        <p:spPr>
          <a:xfrm>
            <a:off x="6553200" y="1931293"/>
            <a:ext cx="1922907"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3 Sum</a:t>
            </a:r>
            <a:endParaRPr lang="en-US" sz="1800" dirty="0"/>
          </a:p>
        </p:txBody>
      </p:sp>
      <p:sp>
        <p:nvSpPr>
          <p:cNvPr id="13" name="Text 9"/>
          <p:cNvSpPr/>
          <p:nvPr/>
        </p:nvSpPr>
        <p:spPr>
          <a:xfrm>
            <a:off x="6553200" y="2269083"/>
            <a:ext cx="192290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200 tree outputs are added with learning rate 0.05</a:t>
            </a:r>
            <a:endParaRPr lang="en-US" sz="1400" dirty="0"/>
          </a:p>
        </p:txBody>
      </p:sp>
      <p:pic>
        <p:nvPicPr>
          <p:cNvPr id="14" name="Image 2" descr="arrow-right">    </p:cNvPr>
          <p:cNvPicPr>
            <a:picLocks noChangeAspect="1"/>
          </p:cNvPicPr>
          <p:nvPr/>
        </p:nvPicPr>
        <p:blipFill>
          <a:blip r:embed="rId3"/>
          <a:srcRect l="0" r="0" t="0" b="0"/>
          <a:stretch/>
        </p:blipFill>
        <p:spPr>
          <a:xfrm>
            <a:off x="8699500" y="2384623"/>
            <a:ext cx="355600" cy="177800"/>
          </a:xfrm>
          <a:prstGeom prst="rect">
            <a:avLst/>
          </a:prstGeom>
        </p:spPr>
      </p:pic>
      <p:sp>
        <p:nvSpPr>
          <p:cNvPr id="15" name="Shape 10"/>
          <p:cNvSpPr/>
          <p:nvPr/>
        </p:nvSpPr>
        <p:spPr>
          <a:xfrm>
            <a:off x="9156700" y="1753493"/>
            <a:ext cx="2222500" cy="1440061"/>
          </a:xfrm>
          <a:prstGeom prst="roundRect">
            <a:avLst>
              <a:gd name="adj" fmla="val 7055"/>
            </a:avLst>
          </a:prstGeom>
          <a:solidFill>
            <a:srgbClr val="EAF0EF"/>
          </a:solidFill>
          <a:ln/>
        </p:spPr>
      </p:sp>
      <p:sp>
        <p:nvSpPr>
          <p:cNvPr id="16" name="Text 11"/>
          <p:cNvSpPr/>
          <p:nvPr/>
        </p:nvSpPr>
        <p:spPr>
          <a:xfrm>
            <a:off x="9334500" y="1931293"/>
            <a:ext cx="1922907"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4 Decide</a:t>
            </a:r>
            <a:endParaRPr lang="en-US" sz="1800" dirty="0"/>
          </a:p>
        </p:txBody>
      </p:sp>
      <p:sp>
        <p:nvSpPr>
          <p:cNvPr id="17" name="Text 12"/>
          <p:cNvSpPr/>
          <p:nvPr/>
        </p:nvSpPr>
        <p:spPr>
          <a:xfrm>
            <a:off x="9334500" y="2269083"/>
            <a:ext cx="192290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Probability above the calibrated threshold 0.2181 is positive</a:t>
            </a:r>
            <a:endParaRPr lang="en-US" sz="1400" dirty="0"/>
          </a:p>
        </p:txBody>
      </p:sp>
      <p:sp>
        <p:nvSpPr>
          <p:cNvPr id="18" name="Shape 13"/>
          <p:cNvSpPr/>
          <p:nvPr/>
        </p:nvSpPr>
        <p:spPr>
          <a:xfrm>
            <a:off x="812800" y="3715246"/>
            <a:ext cx="5207000" cy="1231801"/>
          </a:xfrm>
          <a:prstGeom prst="roundRect">
            <a:avLst>
              <a:gd name="adj" fmla="val 8248"/>
            </a:avLst>
          </a:prstGeom>
          <a:solidFill>
            <a:srgbClr val="EAF0EF"/>
          </a:solidFill>
          <a:ln/>
        </p:spPr>
      </p:sp>
      <p:sp>
        <p:nvSpPr>
          <p:cNvPr id="19" name="Text 14"/>
          <p:cNvSpPr/>
          <p:nvPr/>
        </p:nvSpPr>
        <p:spPr>
          <a:xfrm>
            <a:off x="990600" y="3893046"/>
            <a:ext cx="1654373" cy="289520"/>
          </a:xfrm>
          <a:custGeom>
            <a:avLst/>
            <a:gdLst/>
            <a:ahLst/>
            <a:cxnLst/>
            <a:rect l="l" t="t" r="r" b="b"/>
            <a:pathLst>
              <a:path w="1654373" h="289520">
                <a:moveTo>
                  <a:pt x="144760" y="0"/>
                </a:moveTo>
                <a:lnTo>
                  <a:pt x="1509613" y="0"/>
                </a:lnTo>
                <a:arcTo hR="144760" wR="144760" stAng="16200000" swAng="5400000"/>
                <a:lnTo>
                  <a:pt x="1654373" y="144760"/>
                </a:lnTo>
                <a:arcTo hR="144760" wR="144760" stAng="0" swAng="5400000"/>
                <a:lnTo>
                  <a:pt x="144760" y="289520"/>
                </a:lnTo>
                <a:arcTo hR="144760" wR="144760" stAng="5400000" swAng="5400000"/>
                <a:lnTo>
                  <a:pt x="0" y="144760"/>
                </a:lnTo>
                <a:arcTo hR="144760" wR="144760" stAng="10800000" swAng="5400000"/>
                <a:close/>
              </a:path>
            </a:pathLst>
          </a:custGeom>
          <a:solidFill>
            <a:srgbClr val="0E7C7B"/>
          </a:solidFill>
          <a:ln/>
        </p:spPr>
        <p:txBody>
          <a:bodyPr wrap="none" lIns="0" tIns="0" rIns="0" bIns="0" rtlCol="0" anchor="ctr">
            <a:normAutofit/>
          </a:bodyPr>
          <a:lstStyle/>
          <a:p>
            <a:pPr algn="ctr" indent="0" marL="0">
              <a:lnSpc>
                <a:spcPts val="1680"/>
              </a:lnSpc>
              <a:buNone/>
            </a:pPr>
            <a:r>
              <a:rPr lang="en-US" sz="1200" b="1" spc="100" kern="0" dirty="0">
                <a:solidFill>
                  <a:srgbClr val="FCFDFB"/>
                </a:solidFill>
                <a:latin typeface="IBM Plex Sans" pitchFamily="34" charset="0"/>
                <a:ea typeface="IBM Plex Sans" pitchFamily="34" charset="-122"/>
                <a:cs typeface="IBM Plex Sans" pitchFamily="34" charset="-120"/>
              </a:rPr>
              <a:t>MISSING VALUES</a:t>
            </a:r>
            <a:endParaRPr lang="en-US" sz="1200" dirty="0"/>
          </a:p>
        </p:txBody>
      </p:sp>
      <p:sp>
        <p:nvSpPr>
          <p:cNvPr id="20" name="Text 15"/>
          <p:cNvSpPr/>
          <p:nvPr/>
        </p:nvSpPr>
        <p:spPr>
          <a:xfrm>
            <a:off x="990600" y="4271466"/>
            <a:ext cx="499694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Each split tests both directions for missing responses, so no global constant replaces them.</a:t>
            </a:r>
            <a:endParaRPr lang="en-US" sz="1400" dirty="0"/>
          </a:p>
        </p:txBody>
      </p:sp>
      <p:sp>
        <p:nvSpPr>
          <p:cNvPr id="21" name="Shape 16"/>
          <p:cNvSpPr/>
          <p:nvPr/>
        </p:nvSpPr>
        <p:spPr>
          <a:xfrm>
            <a:off x="6172200" y="3715246"/>
            <a:ext cx="5207000" cy="1231801"/>
          </a:xfrm>
          <a:prstGeom prst="roundRect">
            <a:avLst>
              <a:gd name="adj" fmla="val 8248"/>
            </a:avLst>
          </a:prstGeom>
          <a:solidFill>
            <a:srgbClr val="EAF0EF"/>
          </a:solidFill>
          <a:ln/>
        </p:spPr>
      </p:sp>
      <p:sp>
        <p:nvSpPr>
          <p:cNvPr id="22" name="Text 17"/>
          <p:cNvSpPr/>
          <p:nvPr/>
        </p:nvSpPr>
        <p:spPr>
          <a:xfrm>
            <a:off x="6350000" y="3893046"/>
            <a:ext cx="1637457" cy="289520"/>
          </a:xfrm>
          <a:custGeom>
            <a:avLst/>
            <a:gdLst/>
            <a:ahLst/>
            <a:cxnLst/>
            <a:rect l="l" t="t" r="r" b="b"/>
            <a:pathLst>
              <a:path w="1637457" h="289520">
                <a:moveTo>
                  <a:pt x="144760" y="0"/>
                </a:moveTo>
                <a:lnTo>
                  <a:pt x="1492696" y="0"/>
                </a:lnTo>
                <a:arcTo hR="144760" wR="144760" stAng="16200000" swAng="5400000"/>
                <a:lnTo>
                  <a:pt x="1637457" y="144760"/>
                </a:lnTo>
                <a:arcTo hR="144760" wR="144760" stAng="0" swAng="5400000"/>
                <a:lnTo>
                  <a:pt x="144760" y="289520"/>
                </a:lnTo>
                <a:arcTo hR="144760" wR="144760" stAng="5400000" swAng="5400000"/>
                <a:lnTo>
                  <a:pt x="0" y="144760"/>
                </a:lnTo>
                <a:arcTo hR="144760" wR="144760" stAng="10800000" swAng="5400000"/>
                <a:close/>
              </a:path>
            </a:pathLst>
          </a:custGeom>
          <a:solidFill>
            <a:srgbClr val="14284B"/>
          </a:solidFill>
          <a:ln/>
        </p:spPr>
        <p:txBody>
          <a:bodyPr wrap="none" lIns="0" tIns="0" rIns="0" bIns="0" rtlCol="0" anchor="ctr">
            <a:normAutofit/>
          </a:bodyPr>
          <a:lstStyle/>
          <a:p>
            <a:pPr algn="ctr" indent="0" marL="0">
              <a:lnSpc>
                <a:spcPts val="1680"/>
              </a:lnSpc>
              <a:buNone/>
            </a:pPr>
            <a:r>
              <a:rPr lang="en-US" sz="1200" b="1" spc="100" kern="0" dirty="0">
                <a:solidFill>
                  <a:srgbClr val="FCFDFB"/>
                </a:solidFill>
                <a:latin typeface="IBM Plex Sans" pitchFamily="34" charset="0"/>
                <a:ea typeface="IBM Plex Sans" pitchFamily="34" charset="-122"/>
                <a:cs typeface="IBM Plex Sans" pitchFamily="34" charset="-120"/>
              </a:rPr>
              <a:t>CONFIGURATION</a:t>
            </a:r>
            <a:endParaRPr lang="en-US" sz="1200" dirty="0"/>
          </a:p>
        </p:txBody>
      </p:sp>
      <p:sp>
        <p:nvSpPr>
          <p:cNvPr id="23" name="Text 18"/>
          <p:cNvSpPr/>
          <p:nvPr/>
        </p:nvSpPr>
        <p:spPr>
          <a:xfrm>
            <a:off x="6350000" y="4271466"/>
            <a:ext cx="499694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200 trees · depth 5 · 128 candidate features per node · at least 200 rows per leaf · leaf L2 1</a:t>
            </a:r>
            <a:endParaRPr lang="en-US" sz="1400" dirty="0"/>
          </a:p>
        </p:txBody>
      </p:sp>
      <p:sp>
        <p:nvSpPr>
          <p:cNvPr id="24" name="Text 19"/>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Training uses NumPy and the Python standard library. The booster source is the historical implementation, kept byte-identical so the release replays exactly.</a:t>
            </a:r>
            <a:endParaRPr lang="en-US" sz="1400" dirty="0"/>
          </a:p>
        </p:txBody>
      </p:sp>
      <p:sp>
        <p:nvSpPr>
          <p:cNvPr id="25" name="Text 20"/>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src/numpy_boosting_phase14.py, configs/final_model.json</a:t>
            </a:r>
            <a:endParaRPr lang="en-US" sz="1200" dirty="0"/>
          </a:p>
        </p:txBody>
      </p:sp>
      <p:sp>
        <p:nvSpPr>
          <p:cNvPr id="26"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6 / 14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Each reported score answers a different question</a:t>
            </a:r>
            <a:endParaRPr lang="en-US" sz="3000" dirty="0"/>
          </a:p>
        </p:txBody>
      </p:sp>
      <p:sp>
        <p:nvSpPr>
          <p:cNvPr id="3" name="Shape 1"/>
          <p:cNvSpPr/>
          <p:nvPr/>
        </p:nvSpPr>
        <p:spPr>
          <a:xfrm>
            <a:off x="812800" y="1559719"/>
            <a:ext cx="10566400" cy="853380"/>
          </a:xfrm>
          <a:prstGeom prst="roundRect">
            <a:avLst>
              <a:gd name="adj" fmla="val 11906"/>
            </a:avLst>
          </a:prstGeom>
          <a:solidFill>
            <a:srgbClr val="EAF0EF"/>
          </a:solidFill>
          <a:ln/>
        </p:spPr>
      </p:sp>
      <p:sp>
        <p:nvSpPr>
          <p:cNvPr id="4" name="Text 2"/>
          <p:cNvSpPr/>
          <p:nvPr/>
        </p:nvSpPr>
        <p:spPr>
          <a:xfrm>
            <a:off x="990600" y="1776859"/>
            <a:ext cx="1962150"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0.4422</a:t>
            </a:r>
            <a:endParaRPr lang="en-US" sz="3000" dirty="0"/>
          </a:p>
        </p:txBody>
      </p:sp>
      <p:sp>
        <p:nvSpPr>
          <p:cNvPr id="5" name="Text 3"/>
          <p:cNvSpPr/>
          <p:nvPr/>
        </p:nvSpPr>
        <p:spPr>
          <a:xfrm>
            <a:off x="3098800" y="1712119"/>
            <a:ext cx="834567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Historical nested development</a:t>
            </a:r>
            <a:endParaRPr lang="en-US" sz="1800" dirty="0"/>
          </a:p>
        </p:txBody>
      </p:sp>
      <p:sp>
        <p:nvSpPr>
          <p:cNvPr id="6" name="Text 4"/>
          <p:cNvSpPr/>
          <p:nvPr/>
        </p:nvSpPr>
        <p:spPr>
          <a:xfrm>
            <a:off x="3098800" y="2011809"/>
            <a:ext cx="834567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Historical reference booster, scored on excluded outer folds of 262,508 rows.</a:t>
            </a:r>
            <a:endParaRPr lang="en-US" sz="1400" dirty="0"/>
          </a:p>
        </p:txBody>
      </p:sp>
      <p:sp>
        <p:nvSpPr>
          <p:cNvPr id="7" name="Shape 5"/>
          <p:cNvSpPr/>
          <p:nvPr/>
        </p:nvSpPr>
        <p:spPr>
          <a:xfrm>
            <a:off x="812800" y="2501999"/>
            <a:ext cx="10566400" cy="853380"/>
          </a:xfrm>
          <a:prstGeom prst="roundRect">
            <a:avLst>
              <a:gd name="adj" fmla="val 11906"/>
            </a:avLst>
          </a:prstGeom>
          <a:solidFill>
            <a:srgbClr val="EAF0EF"/>
          </a:solidFill>
          <a:ln/>
        </p:spPr>
      </p:sp>
      <p:sp>
        <p:nvSpPr>
          <p:cNvPr id="8" name="Text 6"/>
          <p:cNvSpPr/>
          <p:nvPr/>
        </p:nvSpPr>
        <p:spPr>
          <a:xfrm>
            <a:off x="990600" y="2719139"/>
            <a:ext cx="1962150"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0.4439</a:t>
            </a:r>
            <a:endParaRPr lang="en-US" sz="3000" dirty="0"/>
          </a:p>
        </p:txBody>
      </p:sp>
      <p:sp>
        <p:nvSpPr>
          <p:cNvPr id="9" name="Text 7"/>
          <p:cNvSpPr/>
          <p:nvPr/>
        </p:nvSpPr>
        <p:spPr>
          <a:xfrm>
            <a:off x="3098800" y="2654399"/>
            <a:ext cx="834567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Full-train OOF calibration · selected pipeline</a:t>
            </a:r>
            <a:endParaRPr lang="en-US" sz="1800" dirty="0"/>
          </a:p>
        </p:txBody>
      </p:sp>
      <p:sp>
        <p:nvSpPr>
          <p:cNvPr id="10" name="Text 8"/>
          <p:cNvSpPr/>
          <p:nvPr/>
        </p:nvSpPr>
        <p:spPr>
          <a:xfrm>
            <a:off x="3098800" y="2954089"/>
            <a:ext cx="834567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Picks the threshold on all 328,135 rows; the same labels score it: not a test.</a:t>
            </a:r>
            <a:endParaRPr lang="en-US" sz="1400" dirty="0"/>
          </a:p>
        </p:txBody>
      </p:sp>
      <p:sp>
        <p:nvSpPr>
          <p:cNvPr id="11" name="Shape 9"/>
          <p:cNvSpPr/>
          <p:nvPr/>
        </p:nvSpPr>
        <p:spPr>
          <a:xfrm>
            <a:off x="812800" y="3444280"/>
            <a:ext cx="10566400" cy="853380"/>
          </a:xfrm>
          <a:prstGeom prst="roundRect">
            <a:avLst>
              <a:gd name="adj" fmla="val 11906"/>
            </a:avLst>
          </a:prstGeom>
          <a:solidFill>
            <a:srgbClr val="CFE8E5"/>
          </a:solidFill>
          <a:ln/>
        </p:spPr>
      </p:sp>
      <p:sp>
        <p:nvSpPr>
          <p:cNvPr id="12" name="Text 10"/>
          <p:cNvSpPr/>
          <p:nvPr/>
        </p:nvSpPr>
        <p:spPr>
          <a:xfrm>
            <a:off x="990600" y="3661420"/>
            <a:ext cx="1962150"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B6E70"/>
                </a:solidFill>
                <a:latin typeface="IBM Plex Sans" pitchFamily="34" charset="0"/>
                <a:ea typeface="IBM Plex Sans" pitchFamily="34" charset="-122"/>
                <a:cs typeface="IBM Plex Sans" pitchFamily="34" charset="-120"/>
              </a:rPr>
              <a:t>0.455</a:t>
            </a:r>
            <a:endParaRPr lang="en-US" sz="3000" dirty="0"/>
          </a:p>
        </p:txBody>
      </p:sp>
      <p:sp>
        <p:nvSpPr>
          <p:cNvPr id="13" name="Text 11"/>
          <p:cNvSpPr/>
          <p:nvPr/>
        </p:nvSpPr>
        <p:spPr>
          <a:xfrm>
            <a:off x="3098800" y="3596680"/>
            <a:ext cx="8345678"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AIcrowd feedback · selected pipeline</a:t>
            </a:r>
            <a:endParaRPr lang="en-US" sz="1800" dirty="0"/>
          </a:p>
        </p:txBody>
      </p:sp>
      <p:sp>
        <p:nvSpPr>
          <p:cNvPr id="14" name="Text 12"/>
          <p:cNvSpPr/>
          <p:nvPr/>
        </p:nvSpPr>
        <p:spPr>
          <a:xfrm>
            <a:off x="3098800" y="3896370"/>
            <a:ext cx="8345678"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Reported challenge score, three decimals; it informed the final choice.</a:t>
            </a:r>
            <a:endParaRPr lang="en-US" sz="1400" dirty="0"/>
          </a:p>
        </p:txBody>
      </p:sp>
      <p:sp>
        <p:nvSpPr>
          <p:cNvPr id="15" name="Shape 13"/>
          <p:cNvSpPr/>
          <p:nvPr/>
        </p:nvSpPr>
        <p:spPr>
          <a:xfrm>
            <a:off x="819150" y="4392910"/>
            <a:ext cx="10553700" cy="866080"/>
          </a:xfrm>
          <a:prstGeom prst="roundRect">
            <a:avLst>
              <a:gd name="adj" fmla="val 10998"/>
            </a:avLst>
          </a:prstGeom>
          <a:solidFill>
            <a:srgbClr val="F7F8F5"/>
          </a:solidFill>
          <a:ln w="12700">
            <a:solidFill>
              <a:srgbClr val="B34E12"/>
            </a:solidFill>
            <a:prstDash val="solid"/>
          </a:ln>
        </p:spPr>
      </p:sp>
      <p:sp>
        <p:nvSpPr>
          <p:cNvPr id="16" name="Text 14"/>
          <p:cNvSpPr/>
          <p:nvPr/>
        </p:nvSpPr>
        <p:spPr>
          <a:xfrm>
            <a:off x="1003300" y="4616400"/>
            <a:ext cx="1962150"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B34E12"/>
                </a:solidFill>
                <a:latin typeface="IBM Plex Sans" pitchFamily="34" charset="0"/>
                <a:ea typeface="IBM Plex Sans" pitchFamily="34" charset="-122"/>
                <a:cs typeface="IBM Plex Sans" pitchFamily="34" charset="-120"/>
              </a:rPr>
              <a:t>n/a</a:t>
            </a:r>
            <a:endParaRPr lang="en-US" sz="3000" dirty="0"/>
          </a:p>
        </p:txBody>
      </p:sp>
      <p:sp>
        <p:nvSpPr>
          <p:cNvPr id="17" name="Text 15"/>
          <p:cNvSpPr/>
          <p:nvPr/>
        </p:nvSpPr>
        <p:spPr>
          <a:xfrm>
            <a:off x="3111500" y="4551660"/>
            <a:ext cx="8319516"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Nested estimate · selected pipeline</a:t>
            </a:r>
            <a:endParaRPr lang="en-US" sz="1800" dirty="0"/>
          </a:p>
        </p:txBody>
      </p:sp>
      <p:sp>
        <p:nvSpPr>
          <p:cNvPr id="18" name="Text 16"/>
          <p:cNvSpPr/>
          <p:nvPr/>
        </p:nvSpPr>
        <p:spPr>
          <a:xfrm>
            <a:off x="3111500" y="4851350"/>
            <a:ext cx="831951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Not recorded; historical nested scores are not reassigned to it.</a:t>
            </a:r>
            <a:endParaRPr lang="en-US" sz="1400" dirty="0"/>
          </a:p>
        </p:txBody>
      </p:sp>
      <p:sp>
        <p:nvSpPr>
          <p:cNvPr id="19" name="Text 17"/>
          <p:cNvSpPr/>
          <p:nvPr/>
        </p:nvSpPr>
        <p:spPr>
          <a:xfrm>
            <a:off x="812800" y="55931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These are not successive improvements: the numbers come from different protocols, populations and pipelines.</a:t>
            </a:r>
            <a:endParaRPr lang="en-US" sz="1400" dirty="0"/>
          </a:p>
        </p:txBody>
      </p:sp>
      <p:sp>
        <p:nvSpPr>
          <p:cNvPr id="20" name="Text 18"/>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evidence/METRICS.json, results/eda/final_combined18_24_submission.json</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7 / 14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Locally, the booster beat a matched linear baseline</a:t>
            </a:r>
            <a:endParaRPr lang="en-US" sz="3000" dirty="0"/>
          </a:p>
        </p:txBody>
      </p:sp>
      <p:sp>
        <p:nvSpPr>
          <p:cNvPr id="3" name="Text 1"/>
          <p:cNvSpPr/>
          <p:nvPr/>
        </p:nvSpPr>
        <p:spPr>
          <a:xfrm>
            <a:off x="812800" y="1765350"/>
            <a:ext cx="729919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5B6678"/>
                </a:solidFill>
                <a:latin typeface="IBM Plex Sans" pitchFamily="34" charset="0"/>
                <a:ea typeface="IBM Plex Sans" pitchFamily="34" charset="-122"/>
                <a:cs typeface="IBM Plex Sans" pitchFamily="34" charset="-120"/>
              </a:rPr>
              <a:t>Historical nested development F1 (axis 0 to 0.50)</a:t>
            </a:r>
            <a:endParaRPr lang="en-US" sz="1200" dirty="0"/>
          </a:p>
        </p:txBody>
      </p:sp>
      <p:sp>
        <p:nvSpPr>
          <p:cNvPr id="4" name="Text 2"/>
          <p:cNvSpPr/>
          <p:nvPr/>
        </p:nvSpPr>
        <p:spPr>
          <a:xfrm>
            <a:off x="732790" y="2141240"/>
            <a:ext cx="2747010" cy="208260"/>
          </a:xfrm>
          <a:prstGeom prst="rect">
            <a:avLst/>
          </a:prstGeom>
          <a:noFill/>
          <a:ln/>
        </p:spPr>
        <p:txBody>
          <a:bodyPr wrap="square" lIns="0" tIns="0" rIns="0" bIns="0" rtlCol="0" anchor="t">
            <a:normAutofit/>
          </a:bodyPr>
          <a:lstStyle/>
          <a:p>
            <a:pPr algn="r" indent="0" marL="0">
              <a:lnSpc>
                <a:spcPts val="1440"/>
              </a:lnSpc>
              <a:buNone/>
            </a:pPr>
            <a:r>
              <a:rPr lang="en-US" sz="1200" b="1" dirty="0">
                <a:solidFill>
                  <a:srgbClr val="14284B"/>
                </a:solidFill>
                <a:latin typeface="IBM Plex Sans" pitchFamily="34" charset="0"/>
                <a:ea typeface="IBM Plex Sans" pitchFamily="34" charset="-122"/>
                <a:cs typeface="IBM Plex Sans" pitchFamily="34" charset="-120"/>
              </a:rPr>
              <a:t>Booster, historical reference</a:t>
            </a:r>
            <a:endParaRPr lang="en-US" sz="1200" dirty="0"/>
          </a:p>
        </p:txBody>
      </p:sp>
      <p:sp>
        <p:nvSpPr>
          <p:cNvPr id="5" name="Shape 3"/>
          <p:cNvSpPr/>
          <p:nvPr/>
        </p:nvSpPr>
        <p:spPr>
          <a:xfrm>
            <a:off x="3587750" y="2067570"/>
            <a:ext cx="0" cy="330200"/>
          </a:xfrm>
          <a:prstGeom prst="line">
            <a:avLst/>
          </a:prstGeom>
          <a:noFill/>
          <a:ln w="12700">
            <a:solidFill>
              <a:srgbClr val="5B6678"/>
            </a:solidFill>
            <a:prstDash val="solid"/>
          </a:ln>
        </p:spPr>
      </p:sp>
      <p:sp>
        <p:nvSpPr>
          <p:cNvPr id="6" name="Shape 4"/>
          <p:cNvSpPr/>
          <p:nvPr/>
        </p:nvSpPr>
        <p:spPr>
          <a:xfrm>
            <a:off x="3594100" y="2067570"/>
            <a:ext cx="3143250" cy="330200"/>
          </a:xfrm>
          <a:prstGeom prst="rect">
            <a:avLst/>
          </a:prstGeom>
          <a:solidFill>
            <a:srgbClr val="14284B"/>
          </a:solidFill>
          <a:ln/>
        </p:spPr>
      </p:sp>
      <p:sp>
        <p:nvSpPr>
          <p:cNvPr id="7" name="Text 5"/>
          <p:cNvSpPr/>
          <p:nvPr/>
        </p:nvSpPr>
        <p:spPr>
          <a:xfrm>
            <a:off x="6813550" y="2126010"/>
            <a:ext cx="60537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0.4422</a:t>
            </a:r>
            <a:endParaRPr lang="en-US" sz="1200" dirty="0"/>
          </a:p>
        </p:txBody>
      </p:sp>
      <p:sp>
        <p:nvSpPr>
          <p:cNvPr id="8" name="Text 6"/>
          <p:cNvSpPr/>
          <p:nvPr/>
        </p:nvSpPr>
        <p:spPr>
          <a:xfrm>
            <a:off x="732790" y="2560340"/>
            <a:ext cx="2747010" cy="20826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34435C"/>
                </a:solidFill>
                <a:latin typeface="IBM Plex Sans" pitchFamily="34" charset="0"/>
                <a:ea typeface="IBM Plex Sans" pitchFamily="34" charset="-122"/>
                <a:cs typeface="IBM Plex Sans" pitchFamily="34" charset="-120"/>
              </a:rPr>
              <a:t>Logistic, matched cleaning</a:t>
            </a:r>
            <a:endParaRPr lang="en-US" sz="1200" dirty="0"/>
          </a:p>
        </p:txBody>
      </p:sp>
      <p:sp>
        <p:nvSpPr>
          <p:cNvPr id="9" name="Shape 7"/>
          <p:cNvSpPr/>
          <p:nvPr/>
        </p:nvSpPr>
        <p:spPr>
          <a:xfrm>
            <a:off x="3587750" y="2486670"/>
            <a:ext cx="0" cy="330200"/>
          </a:xfrm>
          <a:prstGeom prst="line">
            <a:avLst/>
          </a:prstGeom>
          <a:noFill/>
          <a:ln w="12700">
            <a:solidFill>
              <a:srgbClr val="5B6678"/>
            </a:solidFill>
            <a:prstDash val="solid"/>
          </a:ln>
        </p:spPr>
      </p:sp>
      <p:sp>
        <p:nvSpPr>
          <p:cNvPr id="10" name="Shape 8"/>
          <p:cNvSpPr/>
          <p:nvPr/>
        </p:nvSpPr>
        <p:spPr>
          <a:xfrm>
            <a:off x="3594100" y="2486670"/>
            <a:ext cx="3092450" cy="330200"/>
          </a:xfrm>
          <a:prstGeom prst="rect">
            <a:avLst/>
          </a:prstGeom>
          <a:solidFill>
            <a:srgbClr val="7A8FAB"/>
          </a:solidFill>
          <a:ln/>
        </p:spPr>
      </p:sp>
      <p:sp>
        <p:nvSpPr>
          <p:cNvPr id="11" name="Text 9"/>
          <p:cNvSpPr/>
          <p:nvPr/>
        </p:nvSpPr>
        <p:spPr>
          <a:xfrm>
            <a:off x="6762750" y="2545110"/>
            <a:ext cx="60334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0.4345</a:t>
            </a:r>
            <a:endParaRPr lang="en-US" sz="1200" dirty="0"/>
          </a:p>
        </p:txBody>
      </p:sp>
      <p:sp>
        <p:nvSpPr>
          <p:cNvPr id="12" name="Text 10"/>
          <p:cNvSpPr/>
          <p:nvPr/>
        </p:nvSpPr>
        <p:spPr>
          <a:xfrm>
            <a:off x="732790" y="2979440"/>
            <a:ext cx="2747010" cy="20826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34435C"/>
                </a:solidFill>
                <a:latin typeface="IBM Plex Sans" pitchFamily="34" charset="0"/>
                <a:ea typeface="IBM Plex Sans" pitchFamily="34" charset="-122"/>
                <a:cs typeface="IBM Plex Sans" pitchFamily="34" charset="-120"/>
              </a:rPr>
              <a:t>Logistic, earlier pipeline</a:t>
            </a:r>
            <a:endParaRPr lang="en-US" sz="1200" dirty="0"/>
          </a:p>
        </p:txBody>
      </p:sp>
      <p:sp>
        <p:nvSpPr>
          <p:cNvPr id="13" name="Shape 11"/>
          <p:cNvSpPr/>
          <p:nvPr/>
        </p:nvSpPr>
        <p:spPr>
          <a:xfrm>
            <a:off x="3587750" y="2905770"/>
            <a:ext cx="0" cy="330200"/>
          </a:xfrm>
          <a:prstGeom prst="line">
            <a:avLst/>
          </a:prstGeom>
          <a:noFill/>
          <a:ln w="12700">
            <a:solidFill>
              <a:srgbClr val="5B6678"/>
            </a:solidFill>
            <a:prstDash val="solid"/>
          </a:ln>
        </p:spPr>
      </p:sp>
      <p:sp>
        <p:nvSpPr>
          <p:cNvPr id="14" name="Shape 12"/>
          <p:cNvSpPr/>
          <p:nvPr/>
        </p:nvSpPr>
        <p:spPr>
          <a:xfrm>
            <a:off x="3594100" y="2905770"/>
            <a:ext cx="3028950" cy="330200"/>
          </a:xfrm>
          <a:prstGeom prst="rect">
            <a:avLst/>
          </a:prstGeom>
          <a:solidFill>
            <a:srgbClr val="C3CCD6"/>
          </a:solidFill>
          <a:ln/>
        </p:spPr>
      </p:sp>
      <p:sp>
        <p:nvSpPr>
          <p:cNvPr id="15" name="Text 13"/>
          <p:cNvSpPr/>
          <p:nvPr/>
        </p:nvSpPr>
        <p:spPr>
          <a:xfrm>
            <a:off x="6699250" y="2964210"/>
            <a:ext cx="60334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0.4256</a:t>
            </a:r>
            <a:endParaRPr lang="en-US" sz="1200" dirty="0"/>
          </a:p>
        </p:txBody>
      </p:sp>
      <p:sp>
        <p:nvSpPr>
          <p:cNvPr id="16" name="Text 14"/>
          <p:cNvSpPr/>
          <p:nvPr/>
        </p:nvSpPr>
        <p:spPr>
          <a:xfrm>
            <a:off x="732790" y="3398540"/>
            <a:ext cx="2747010" cy="20826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34435C"/>
                </a:solidFill>
                <a:latin typeface="IBM Plex Sans" pitchFamily="34" charset="0"/>
                <a:ea typeface="IBM Plex Sans" pitchFamily="34" charset="-122"/>
                <a:cs typeface="IBM Plex Sans" pitchFamily="34" charset="-120"/>
              </a:rPr>
              <a:t>Ridge, earlier pipeline</a:t>
            </a:r>
            <a:endParaRPr lang="en-US" sz="1200" dirty="0"/>
          </a:p>
        </p:txBody>
      </p:sp>
      <p:sp>
        <p:nvSpPr>
          <p:cNvPr id="17" name="Shape 15"/>
          <p:cNvSpPr/>
          <p:nvPr/>
        </p:nvSpPr>
        <p:spPr>
          <a:xfrm>
            <a:off x="3587750" y="3324870"/>
            <a:ext cx="0" cy="330200"/>
          </a:xfrm>
          <a:prstGeom prst="line">
            <a:avLst/>
          </a:prstGeom>
          <a:noFill/>
          <a:ln w="12700">
            <a:solidFill>
              <a:srgbClr val="5B6678"/>
            </a:solidFill>
            <a:prstDash val="solid"/>
          </a:ln>
        </p:spPr>
      </p:sp>
      <p:sp>
        <p:nvSpPr>
          <p:cNvPr id="18" name="Shape 16"/>
          <p:cNvSpPr/>
          <p:nvPr/>
        </p:nvSpPr>
        <p:spPr>
          <a:xfrm>
            <a:off x="3594100" y="3324870"/>
            <a:ext cx="2984500" cy="330200"/>
          </a:xfrm>
          <a:prstGeom prst="rect">
            <a:avLst/>
          </a:prstGeom>
          <a:solidFill>
            <a:srgbClr val="C3CCD6"/>
          </a:solidFill>
          <a:ln/>
        </p:spPr>
      </p:sp>
      <p:sp>
        <p:nvSpPr>
          <p:cNvPr id="19" name="Text 17"/>
          <p:cNvSpPr/>
          <p:nvPr/>
        </p:nvSpPr>
        <p:spPr>
          <a:xfrm>
            <a:off x="6654800" y="3383310"/>
            <a:ext cx="60334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0.4195</a:t>
            </a:r>
            <a:endParaRPr lang="en-US" sz="1200" dirty="0"/>
          </a:p>
        </p:txBody>
      </p:sp>
      <p:sp>
        <p:nvSpPr>
          <p:cNvPr id="20" name="Text 18"/>
          <p:cNvSpPr/>
          <p:nvPr/>
        </p:nvSpPr>
        <p:spPr>
          <a:xfrm>
            <a:off x="732790" y="3817640"/>
            <a:ext cx="2747010" cy="20826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34435C"/>
                </a:solidFill>
                <a:latin typeface="IBM Plex Sans" pitchFamily="34" charset="0"/>
                <a:ea typeface="IBM Plex Sans" pitchFamily="34" charset="-122"/>
                <a:cs typeface="IBM Plex Sans" pitchFamily="34" charset="-120"/>
              </a:rPr>
              <a:t>MLP 64 → 32</a:t>
            </a:r>
            <a:endParaRPr lang="en-US" sz="1200" dirty="0"/>
          </a:p>
        </p:txBody>
      </p:sp>
      <p:sp>
        <p:nvSpPr>
          <p:cNvPr id="21" name="Shape 19"/>
          <p:cNvSpPr/>
          <p:nvPr/>
        </p:nvSpPr>
        <p:spPr>
          <a:xfrm>
            <a:off x="3587750" y="3743970"/>
            <a:ext cx="0" cy="330200"/>
          </a:xfrm>
          <a:prstGeom prst="line">
            <a:avLst/>
          </a:prstGeom>
          <a:noFill/>
          <a:ln w="12700">
            <a:solidFill>
              <a:srgbClr val="5B6678"/>
            </a:solidFill>
            <a:prstDash val="solid"/>
          </a:ln>
        </p:spPr>
      </p:sp>
      <p:sp>
        <p:nvSpPr>
          <p:cNvPr id="22" name="Shape 20"/>
          <p:cNvSpPr/>
          <p:nvPr/>
        </p:nvSpPr>
        <p:spPr>
          <a:xfrm>
            <a:off x="3594100" y="3743970"/>
            <a:ext cx="3016250" cy="330200"/>
          </a:xfrm>
          <a:prstGeom prst="rect">
            <a:avLst/>
          </a:prstGeom>
          <a:solidFill>
            <a:srgbClr val="C3CCD6"/>
          </a:solidFill>
          <a:ln/>
        </p:spPr>
      </p:sp>
      <p:sp>
        <p:nvSpPr>
          <p:cNvPr id="23" name="Text 21"/>
          <p:cNvSpPr/>
          <p:nvPr/>
        </p:nvSpPr>
        <p:spPr>
          <a:xfrm>
            <a:off x="6686550" y="3802410"/>
            <a:ext cx="60334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0.4245</a:t>
            </a:r>
            <a:endParaRPr lang="en-US" sz="1200" dirty="0"/>
          </a:p>
        </p:txBody>
      </p:sp>
      <p:sp>
        <p:nvSpPr>
          <p:cNvPr id="24" name="Text 22"/>
          <p:cNvSpPr/>
          <p:nvPr/>
        </p:nvSpPr>
        <p:spPr>
          <a:xfrm>
            <a:off x="732790" y="4236740"/>
            <a:ext cx="2747010" cy="20826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34435C"/>
                </a:solidFill>
                <a:latin typeface="IBM Plex Sans" pitchFamily="34" charset="0"/>
                <a:ea typeface="IBM Plex Sans" pitchFamily="34" charset="-122"/>
                <a:cs typeface="IBM Plex Sans" pitchFamily="34" charset="-120"/>
              </a:rPr>
              <a:t>MLP 128 → 64</a:t>
            </a:r>
            <a:endParaRPr lang="en-US" sz="1200" dirty="0"/>
          </a:p>
        </p:txBody>
      </p:sp>
      <p:sp>
        <p:nvSpPr>
          <p:cNvPr id="25" name="Shape 23"/>
          <p:cNvSpPr/>
          <p:nvPr/>
        </p:nvSpPr>
        <p:spPr>
          <a:xfrm>
            <a:off x="3587750" y="4163070"/>
            <a:ext cx="0" cy="330200"/>
          </a:xfrm>
          <a:prstGeom prst="line">
            <a:avLst/>
          </a:prstGeom>
          <a:noFill/>
          <a:ln w="12700">
            <a:solidFill>
              <a:srgbClr val="5B6678"/>
            </a:solidFill>
            <a:prstDash val="solid"/>
          </a:ln>
        </p:spPr>
      </p:sp>
      <p:sp>
        <p:nvSpPr>
          <p:cNvPr id="26" name="Shape 24"/>
          <p:cNvSpPr/>
          <p:nvPr/>
        </p:nvSpPr>
        <p:spPr>
          <a:xfrm>
            <a:off x="3594100" y="4163070"/>
            <a:ext cx="2984500" cy="330200"/>
          </a:xfrm>
          <a:prstGeom prst="rect">
            <a:avLst/>
          </a:prstGeom>
          <a:solidFill>
            <a:srgbClr val="C3CCD6"/>
          </a:solidFill>
          <a:ln/>
        </p:spPr>
      </p:sp>
      <p:sp>
        <p:nvSpPr>
          <p:cNvPr id="27" name="Text 25"/>
          <p:cNvSpPr/>
          <p:nvPr/>
        </p:nvSpPr>
        <p:spPr>
          <a:xfrm>
            <a:off x="6654800" y="4221510"/>
            <a:ext cx="60334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0.4193</a:t>
            </a:r>
            <a:endParaRPr lang="en-US" sz="1200" dirty="0"/>
          </a:p>
        </p:txBody>
      </p:sp>
      <p:sp>
        <p:nvSpPr>
          <p:cNvPr id="28" name="Text 26"/>
          <p:cNvSpPr/>
          <p:nvPr/>
        </p:nvSpPr>
        <p:spPr>
          <a:xfrm>
            <a:off x="3378200" y="4582170"/>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a:t>
            </a:r>
            <a:endParaRPr lang="en-US" sz="1200" dirty="0"/>
          </a:p>
        </p:txBody>
      </p:sp>
      <p:sp>
        <p:nvSpPr>
          <p:cNvPr id="29" name="Text 27"/>
          <p:cNvSpPr/>
          <p:nvPr/>
        </p:nvSpPr>
        <p:spPr>
          <a:xfrm>
            <a:off x="4089400" y="4582170"/>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0.1</a:t>
            </a:r>
            <a:endParaRPr lang="en-US" sz="1200" dirty="0"/>
          </a:p>
        </p:txBody>
      </p:sp>
      <p:sp>
        <p:nvSpPr>
          <p:cNvPr id="30" name="Text 28"/>
          <p:cNvSpPr/>
          <p:nvPr/>
        </p:nvSpPr>
        <p:spPr>
          <a:xfrm>
            <a:off x="4800600" y="4582170"/>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0.2</a:t>
            </a:r>
            <a:endParaRPr lang="en-US" sz="1200" dirty="0"/>
          </a:p>
        </p:txBody>
      </p:sp>
      <p:sp>
        <p:nvSpPr>
          <p:cNvPr id="31" name="Text 29"/>
          <p:cNvSpPr/>
          <p:nvPr/>
        </p:nvSpPr>
        <p:spPr>
          <a:xfrm>
            <a:off x="5511800" y="4582170"/>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0.3</a:t>
            </a:r>
            <a:endParaRPr lang="en-US" sz="1200" dirty="0"/>
          </a:p>
        </p:txBody>
      </p:sp>
      <p:sp>
        <p:nvSpPr>
          <p:cNvPr id="32" name="Text 30"/>
          <p:cNvSpPr/>
          <p:nvPr/>
        </p:nvSpPr>
        <p:spPr>
          <a:xfrm>
            <a:off x="6223000" y="4582170"/>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0.4</a:t>
            </a:r>
            <a:endParaRPr lang="en-US" sz="1200" dirty="0"/>
          </a:p>
        </p:txBody>
      </p:sp>
      <p:sp>
        <p:nvSpPr>
          <p:cNvPr id="33" name="Text 31"/>
          <p:cNvSpPr/>
          <p:nvPr/>
        </p:nvSpPr>
        <p:spPr>
          <a:xfrm>
            <a:off x="6934200" y="4582170"/>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0.5</a:t>
            </a:r>
            <a:endParaRPr lang="en-US" sz="1200" dirty="0"/>
          </a:p>
        </p:txBody>
      </p:sp>
      <p:sp>
        <p:nvSpPr>
          <p:cNvPr id="34" name="Shape 32"/>
          <p:cNvSpPr/>
          <p:nvPr/>
        </p:nvSpPr>
        <p:spPr>
          <a:xfrm>
            <a:off x="8102600" y="1997869"/>
            <a:ext cx="3276600" cy="2580382"/>
          </a:xfrm>
          <a:prstGeom prst="roundRect">
            <a:avLst>
              <a:gd name="adj" fmla="val 3937"/>
            </a:avLst>
          </a:prstGeom>
          <a:solidFill>
            <a:srgbClr val="EAF0EF"/>
          </a:solidFill>
          <a:ln/>
        </p:spPr>
      </p:sp>
      <p:sp>
        <p:nvSpPr>
          <p:cNvPr id="35" name="Text 33"/>
          <p:cNvSpPr/>
          <p:nvPr/>
        </p:nvSpPr>
        <p:spPr>
          <a:xfrm>
            <a:off x="8331200" y="2226469"/>
            <a:ext cx="2903982"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14284B"/>
                </a:solidFill>
                <a:latin typeface="IBM Plex Sans" pitchFamily="34" charset="0"/>
                <a:ea typeface="IBM Plex Sans" pitchFamily="34" charset="-122"/>
                <a:cs typeface="IBM Plex Sans" pitchFamily="34" charset="-120"/>
              </a:rPr>
              <a:t>+0.0077</a:t>
            </a:r>
            <a:endParaRPr lang="en-US" sz="4400" dirty="0"/>
          </a:p>
        </p:txBody>
      </p:sp>
      <p:sp>
        <p:nvSpPr>
          <p:cNvPr id="36" name="Text 34"/>
          <p:cNvSpPr/>
          <p:nvPr/>
        </p:nvSpPr>
        <p:spPr>
          <a:xfrm>
            <a:off x="8331200" y="2917329"/>
            <a:ext cx="290398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F1, booster minus matched logistic</a:t>
            </a:r>
            <a:endParaRPr lang="en-US" sz="1200" dirty="0"/>
          </a:p>
        </p:txBody>
      </p:sp>
      <p:sp>
        <p:nvSpPr>
          <p:cNvPr id="37" name="Text 35"/>
          <p:cNvSpPr/>
          <p:nvPr/>
        </p:nvSpPr>
        <p:spPr>
          <a:xfrm>
            <a:off x="8331200" y="3206849"/>
            <a:ext cx="2903982"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95% paired interval [+0.0049, +0.0105]; higher in all three outer folds</a:t>
            </a:r>
            <a:endParaRPr lang="en-US" sz="1200" dirty="0"/>
          </a:p>
        </p:txBody>
      </p:sp>
      <p:sp>
        <p:nvSpPr>
          <p:cNvPr id="38" name="Text 36"/>
          <p:cNvSpPr/>
          <p:nvPr/>
        </p:nvSpPr>
        <p:spPr>
          <a:xfrm>
            <a:off x="8331200" y="3709690"/>
            <a:ext cx="2903982"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Shared cleaning, 295 source variables, rows and folds; each model keeps its own matrix.</a:t>
            </a:r>
            <a:endParaRPr lang="en-US" sz="1200" dirty="0"/>
          </a:p>
        </p:txBody>
      </p:sp>
      <p:sp>
        <p:nvSpPr>
          <p:cNvPr id="39" name="Text 37"/>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Historical comparison of complete pipelines. It supports the choice of model family; it is not a held-out score for the final combination.</a:t>
            </a:r>
            <a:endParaRPr lang="en-US" sz="1400" dirty="0"/>
          </a:p>
        </p:txBody>
      </p:sp>
      <p:sp>
        <p:nvSpPr>
          <p:cNvPr id="40" name="Text 38"/>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assets/chart_data/model_comparison.csv, results/eda/phase38_matched_logistic_summary.md</a:t>
            </a:r>
            <a:endParaRPr lang="en-US" sz="1200" dirty="0"/>
          </a:p>
        </p:txBody>
      </p:sp>
      <p:sp>
        <p:nvSpPr>
          <p:cNvPr id="41" name="Text 3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8 / 14</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No tested change beat the historical reference locally</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963688"/>
          <a:ext cx="6972300" cy="2661444"/>
        </p:xfrm>
        <a:graphic>
          <a:graphicData uri="http://schemas.openxmlformats.org/drawingml/2006/table">
            <a:tbl>
              <a:tblPr/>
              <a:tblGrid>
                <a:gridCol w="2510028"/>
                <a:gridCol w="1115568"/>
                <a:gridCol w="1255014"/>
                <a:gridCol w="2091690"/>
              </a:tblGrid>
              <a:tr h="332680">
                <a:tc>
                  <a:txBody>
                    <a:bodyPr/>
                    <a:lstStyle/>
                    <a:p>
                      <a:pP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Tested change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Nested F1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vs 0.4422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Outcome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MLP 128 → 64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0.4193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−0.0229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Not adopted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MLP 64 → 32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0.4245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−0.0177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Not adopted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Random undersampling 5:1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0.4382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−0.0039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Not adopted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Top-100 features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0.4392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−0.0029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Not adopted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Positive weight 1.25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0.4408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−0.0013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Not adopted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Restricted imputation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0.4418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A6B9B7"/>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−0.0004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A6B9B7"/>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In final pipeline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A6B9B7"/>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Diet representation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A6B9B7"/>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0.4419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A6B9B7"/>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A6B9B7"/>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−0.0003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A6B9B7"/>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A6B9B7"/>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In final pipeline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A6B9B7"/>
                      </a:solidFill>
                      <a:prstDash val="solid"/>
                      <a:round/>
                      <a:headEnd type="none" w="med" len="med"/>
                      <a:tailEnd type="none" w="med" len="med"/>
                    </a:lnL>
                    <a:lnR w="12700" cap="flat" cmpd="sng" algn="ctr">
                      <a:solidFill>
                        <a:srgbClr val="A6B9B7"/>
                      </a:solidFill>
                      <a:prstDash val="solid"/>
                      <a:round/>
                      <a:headEnd type="none" w="med" len="med"/>
                      <a:tailEnd type="none" w="med" len="med"/>
                    </a:lnR>
                    <a:lnT w="12700" cap="flat" cmpd="sng" algn="ctr">
                      <a:solidFill>
                        <a:srgbClr val="A6B9B7"/>
                      </a:solidFill>
                      <a:prstDash val="solid"/>
                      <a:round/>
                      <a:headEnd type="none" w="med" len="med"/>
                      <a:tailEnd type="none" w="med" len="med"/>
                    </a:lnT>
                    <a:lnB w="12700" cap="flat" cmpd="sng" algn="ctr">
                      <a:solidFill>
                        <a:srgbClr val="A6B9B7"/>
                      </a:solidFill>
                      <a:prstDash val="solid"/>
                      <a:round/>
                      <a:headEnd type="none" w="med" len="med"/>
                      <a:tailEnd type="none" w="med" len="med"/>
                    </a:lnB>
                    <a:solidFill>
                      <a:srgbClr val="CFE8E5"/>
                    </a:solidFill>
                  </a:tcPr>
                </a:tc>
              </a:tr>
            </a:tbl>
          </a:graphicData>
        </a:graphic>
      </p:graphicFrame>
      <p:sp>
        <p:nvSpPr>
          <p:cNvPr id="4" name="Shape 1"/>
          <p:cNvSpPr/>
          <p:nvPr/>
        </p:nvSpPr>
        <p:spPr>
          <a:xfrm>
            <a:off x="8001000" y="1950988"/>
            <a:ext cx="3378200" cy="2674144"/>
          </a:xfrm>
          <a:prstGeom prst="roundRect">
            <a:avLst>
              <a:gd name="adj" fmla="val 3799"/>
            </a:avLst>
          </a:prstGeom>
          <a:solidFill>
            <a:srgbClr val="14284B"/>
          </a:solidFill>
          <a:ln/>
        </p:spPr>
      </p:sp>
      <p:sp>
        <p:nvSpPr>
          <p:cNvPr id="5" name="Text 2"/>
          <p:cNvSpPr/>
          <p:nvPr/>
        </p:nvSpPr>
        <p:spPr>
          <a:xfrm>
            <a:off x="8229600" y="2179588"/>
            <a:ext cx="3008630" cy="57398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5F7FA"/>
                </a:solidFill>
                <a:latin typeface="IBM Plex Sans" pitchFamily="34" charset="0"/>
                <a:ea typeface="IBM Plex Sans" pitchFamily="34" charset="-122"/>
                <a:cs typeface="IBM Plex Sans" pitchFamily="34" charset="-120"/>
              </a:rPr>
              <a:t>Two neutral changes made the final cut</a:t>
            </a:r>
            <a:endParaRPr lang="en-US" sz="1800" dirty="0"/>
          </a:p>
        </p:txBody>
      </p:sp>
      <p:sp>
        <p:nvSpPr>
          <p:cNvPr id="6" name="Text 3"/>
          <p:cNvSpPr/>
          <p:nvPr/>
        </p:nvSpPr>
        <p:spPr>
          <a:xfrm>
            <a:off x="8229600" y="2855168"/>
            <a:ext cx="300863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4E3"/>
                </a:solidFill>
                <a:latin typeface="IBM Plex Sans" pitchFamily="34" charset="0"/>
                <a:ea typeface="IBM Plex Sans" pitchFamily="34" charset="-122"/>
                <a:cs typeface="IBM Plex Sans" pitchFamily="34" charset="-120"/>
              </a:rPr>
              <a:t>Locally both were within 0.0004 F1 of the reference. They entered the final pipeline because their full-train submissions scored higher on AIcrowd.</a:t>
            </a:r>
            <a:endParaRPr lang="en-US" sz="1200" dirty="0"/>
          </a:p>
        </p:txBody>
      </p:sp>
      <p:sp>
        <p:nvSpPr>
          <p:cNvPr id="7" name="Text 4"/>
          <p:cNvSpPr/>
          <p:nvPr/>
        </p:nvSpPr>
        <p:spPr>
          <a:xfrm>
            <a:off x="8229600" y="3835450"/>
            <a:ext cx="3008630"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FD6CC"/>
                </a:solidFill>
                <a:latin typeface="IBM Plex Sans" pitchFamily="34" charset="0"/>
                <a:ea typeface="IBM Plex Sans" pitchFamily="34" charset="-122"/>
                <a:cs typeface="IBM Plex Sans" pitchFamily="34" charset="-120"/>
              </a:rPr>
              <a:t>A challenge decision, not proof that they generalize better.</a:t>
            </a:r>
            <a:endParaRPr lang="en-US" sz="1400" dirty="0"/>
          </a:p>
        </p:txBody>
      </p:sp>
      <p:sp>
        <p:nvSpPr>
          <p:cNvPr id="8" name="Text 5"/>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Historical nested development on the same 262,508 rows. These results guide choices among the tested settings; they do not rule out better tuning of MLPs, weighting or feature selection.</a:t>
            </a:r>
            <a:endParaRPr lang="en-US" sz="1400" dirty="0"/>
          </a:p>
        </p:txBody>
      </p:sp>
      <p:sp>
        <p:nvSpPr>
          <p:cNvPr id="9" name="Text 6"/>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evidence/METRICS.json, project/docs/MLP.md, project/docs/EXPERIMENTS.md</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9 / 14</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AF0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8636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Semantic cleaning is justified by meaning, not by a large gain</a:t>
            </a:r>
            <a:endParaRPr lang="en-US" sz="3000" dirty="0"/>
          </a:p>
        </p:txBody>
      </p:sp>
      <p:sp>
        <p:nvSpPr>
          <p:cNvPr id="3" name="Shape 1"/>
          <p:cNvSpPr/>
          <p:nvPr/>
        </p:nvSpPr>
        <p:spPr>
          <a:xfrm>
            <a:off x="815975" y="1933674"/>
            <a:ext cx="3414167" cy="953740"/>
          </a:xfrm>
          <a:prstGeom prst="roundRect">
            <a:avLst>
              <a:gd name="adj" fmla="val 10320"/>
            </a:avLst>
          </a:prstGeom>
          <a:solidFill>
            <a:srgbClr val="FCFDFB"/>
          </a:solidFill>
          <a:ln w="6350">
            <a:solidFill>
              <a:srgbClr val="D3DCD9"/>
            </a:solidFill>
            <a:prstDash val="solid"/>
          </a:ln>
        </p:spPr>
      </p:sp>
      <p:sp>
        <p:nvSpPr>
          <p:cNvPr id="4" name="Text 2"/>
          <p:cNvSpPr/>
          <p:nvPr/>
        </p:nvSpPr>
        <p:spPr>
          <a:xfrm>
            <a:off x="996950" y="2089249"/>
            <a:ext cx="3143783"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Raw predictors (321)</a:t>
            </a:r>
            <a:endParaRPr lang="en-US" sz="1200" dirty="0"/>
          </a:p>
        </p:txBody>
      </p:sp>
      <p:sp>
        <p:nvSpPr>
          <p:cNvPr id="5" name="Text 3"/>
          <p:cNvSpPr/>
          <p:nvPr/>
        </p:nvSpPr>
        <p:spPr>
          <a:xfrm>
            <a:off x="996950" y="2312739"/>
            <a:ext cx="3143783"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0.4415</a:t>
            </a:r>
            <a:endParaRPr lang="en-US" sz="3000" dirty="0"/>
          </a:p>
        </p:txBody>
      </p:sp>
      <p:sp>
        <p:nvSpPr>
          <p:cNvPr id="6" name="Shape 4"/>
          <p:cNvSpPr/>
          <p:nvPr/>
        </p:nvSpPr>
        <p:spPr>
          <a:xfrm>
            <a:off x="815975" y="3020764"/>
            <a:ext cx="3414167" cy="953740"/>
          </a:xfrm>
          <a:prstGeom prst="roundRect">
            <a:avLst>
              <a:gd name="adj" fmla="val 10320"/>
            </a:avLst>
          </a:prstGeom>
          <a:solidFill>
            <a:srgbClr val="FCFDFB"/>
          </a:solidFill>
          <a:ln w="6350">
            <a:solidFill>
              <a:srgbClr val="D3DCD9"/>
            </a:solidFill>
            <a:prstDash val="solid"/>
          </a:ln>
        </p:spPr>
      </p:sp>
      <p:sp>
        <p:nvSpPr>
          <p:cNvPr id="7" name="Text 5"/>
          <p:cNvSpPr/>
          <p:nvPr/>
        </p:nvSpPr>
        <p:spPr>
          <a:xfrm>
            <a:off x="996950" y="3176339"/>
            <a:ext cx="3143783"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Cleaned predictors (295)</a:t>
            </a:r>
            <a:endParaRPr lang="en-US" sz="1200" dirty="0"/>
          </a:p>
        </p:txBody>
      </p:sp>
      <p:sp>
        <p:nvSpPr>
          <p:cNvPr id="8" name="Text 6"/>
          <p:cNvSpPr/>
          <p:nvPr/>
        </p:nvSpPr>
        <p:spPr>
          <a:xfrm>
            <a:off x="996950" y="3399830"/>
            <a:ext cx="3143783"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0.4422</a:t>
            </a:r>
            <a:endParaRPr lang="en-US" sz="3000" dirty="0"/>
          </a:p>
        </p:txBody>
      </p:sp>
      <p:sp>
        <p:nvSpPr>
          <p:cNvPr id="9" name="Shape 7"/>
          <p:cNvSpPr/>
          <p:nvPr/>
        </p:nvSpPr>
        <p:spPr>
          <a:xfrm>
            <a:off x="815975" y="4107855"/>
            <a:ext cx="3414167" cy="953740"/>
          </a:xfrm>
          <a:prstGeom prst="roundRect">
            <a:avLst>
              <a:gd name="adj" fmla="val 10320"/>
            </a:avLst>
          </a:prstGeom>
          <a:solidFill>
            <a:srgbClr val="FCFDFB"/>
          </a:solidFill>
          <a:ln w="6350">
            <a:solidFill>
              <a:srgbClr val="D3DCD9"/>
            </a:solidFill>
            <a:prstDash val="solid"/>
          </a:ln>
        </p:spPr>
      </p:sp>
      <p:sp>
        <p:nvSpPr>
          <p:cNvPr id="10" name="Text 8"/>
          <p:cNvSpPr/>
          <p:nvPr/>
        </p:nvSpPr>
        <p:spPr>
          <a:xfrm>
            <a:off x="996950" y="4263430"/>
            <a:ext cx="3143783"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5B6678"/>
                </a:solidFill>
                <a:latin typeface="IBM Plex Sans" pitchFamily="34" charset="0"/>
                <a:ea typeface="IBM Plex Sans" pitchFamily="34" charset="-122"/>
                <a:cs typeface="IBM Plex Sans" pitchFamily="34" charset="-120"/>
              </a:rPr>
              <a:t>Difference in nested F1</a:t>
            </a:r>
            <a:endParaRPr lang="en-US" sz="1200" dirty="0"/>
          </a:p>
        </p:txBody>
      </p:sp>
      <p:sp>
        <p:nvSpPr>
          <p:cNvPr id="11" name="Text 9"/>
          <p:cNvSpPr/>
          <p:nvPr/>
        </p:nvSpPr>
        <p:spPr>
          <a:xfrm>
            <a:off x="996950" y="4486920"/>
            <a:ext cx="3143783"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B6E70"/>
                </a:solidFill>
                <a:latin typeface="IBM Plex Sans" pitchFamily="34" charset="0"/>
                <a:ea typeface="IBM Plex Sans" pitchFamily="34" charset="-122"/>
                <a:cs typeface="IBM Plex Sans" pitchFamily="34" charset="-120"/>
              </a:rPr>
              <a:t>+0.0007</a:t>
            </a:r>
            <a:endParaRPr lang="en-US" sz="3000" dirty="0"/>
          </a:p>
        </p:txBody>
      </p:sp>
      <p:sp>
        <p:nvSpPr>
          <p:cNvPr id="12" name="Text 10"/>
          <p:cNvSpPr/>
          <p:nvPr/>
        </p:nvSpPr>
        <p:spPr>
          <a:xfrm>
            <a:off x="6443117" y="2481610"/>
            <a:ext cx="3924300" cy="27429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0B6E70"/>
                </a:solidFill>
                <a:latin typeface="IBM Plex Sans" pitchFamily="34" charset="0"/>
                <a:ea typeface="IBM Plex Sans" pitchFamily="34" charset="-122"/>
                <a:cs typeface="IBM Plex Sans" pitchFamily="34" charset="-120"/>
              </a:rPr>
              <a:t>95% paired interval [−0.0012, +0.0026]</a:t>
            </a:r>
            <a:endParaRPr lang="en-US" sz="1400" dirty="0"/>
          </a:p>
        </p:txBody>
      </p:sp>
      <p:sp>
        <p:nvSpPr>
          <p:cNvPr id="13" name="Shape 11"/>
          <p:cNvSpPr/>
          <p:nvPr/>
        </p:nvSpPr>
        <p:spPr>
          <a:xfrm>
            <a:off x="5046117" y="3554760"/>
            <a:ext cx="5715000" cy="12700"/>
          </a:xfrm>
          <a:prstGeom prst="rect">
            <a:avLst/>
          </a:prstGeom>
          <a:solidFill>
            <a:srgbClr val="5B6678"/>
          </a:solidFill>
          <a:ln/>
        </p:spPr>
      </p:sp>
      <p:sp>
        <p:nvSpPr>
          <p:cNvPr id="14" name="Shape 12"/>
          <p:cNvSpPr/>
          <p:nvPr/>
        </p:nvSpPr>
        <p:spPr>
          <a:xfrm>
            <a:off x="7897267" y="2989610"/>
            <a:ext cx="12700" cy="1079500"/>
          </a:xfrm>
          <a:prstGeom prst="rect">
            <a:avLst/>
          </a:prstGeom>
          <a:solidFill>
            <a:srgbClr val="14284B"/>
          </a:solidFill>
          <a:ln/>
        </p:spPr>
      </p:sp>
      <p:sp>
        <p:nvSpPr>
          <p:cNvPr id="15" name="Shape 13"/>
          <p:cNvSpPr/>
          <p:nvPr/>
        </p:nvSpPr>
        <p:spPr>
          <a:xfrm>
            <a:off x="7027317" y="3446810"/>
            <a:ext cx="2755900" cy="228600"/>
          </a:xfrm>
          <a:prstGeom prst="roundRect">
            <a:avLst>
              <a:gd name="adj" fmla="val 22222"/>
            </a:avLst>
          </a:prstGeom>
          <a:solidFill>
            <a:srgbClr val="0E7C7B"/>
          </a:solidFill>
          <a:ln/>
        </p:spPr>
      </p:sp>
      <p:pic>
        <p:nvPicPr>
          <p:cNvPr id="16" name="Image 0" descr="ellipse">    </p:cNvPr>
          <p:cNvPicPr>
            <a:picLocks noChangeAspect="1"/>
          </p:cNvPicPr>
          <p:nvPr/>
        </p:nvPicPr>
        <p:blipFill>
          <a:blip r:embed="rId1"/>
          <a:srcRect l="0" r="0" t="0" b="0"/>
          <a:stretch/>
        </p:blipFill>
        <p:spPr>
          <a:xfrm>
            <a:off x="8284617" y="3446810"/>
            <a:ext cx="228600" cy="228600"/>
          </a:xfrm>
          <a:prstGeom prst="rect">
            <a:avLst/>
          </a:prstGeom>
        </p:spPr>
      </p:pic>
      <p:sp>
        <p:nvSpPr>
          <p:cNvPr id="17" name="Text 14"/>
          <p:cNvSpPr/>
          <p:nvPr/>
        </p:nvSpPr>
        <p:spPr>
          <a:xfrm>
            <a:off x="4703217" y="4158010"/>
            <a:ext cx="685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−0.004</a:t>
            </a:r>
            <a:endParaRPr lang="en-US" sz="1200" dirty="0"/>
          </a:p>
        </p:txBody>
      </p:sp>
      <p:sp>
        <p:nvSpPr>
          <p:cNvPr id="18" name="Text 15"/>
          <p:cNvSpPr/>
          <p:nvPr/>
        </p:nvSpPr>
        <p:spPr>
          <a:xfrm>
            <a:off x="6131967" y="4158010"/>
            <a:ext cx="685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−0.002</a:t>
            </a:r>
            <a:endParaRPr lang="en-US" sz="1200" dirty="0"/>
          </a:p>
        </p:txBody>
      </p:sp>
      <p:sp>
        <p:nvSpPr>
          <p:cNvPr id="19" name="Text 16"/>
          <p:cNvSpPr/>
          <p:nvPr/>
        </p:nvSpPr>
        <p:spPr>
          <a:xfrm>
            <a:off x="7560717" y="4158010"/>
            <a:ext cx="6858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4284B"/>
                </a:solidFill>
                <a:latin typeface="IBM Plex Sans" pitchFamily="34" charset="0"/>
                <a:ea typeface="IBM Plex Sans" pitchFamily="34" charset="-122"/>
                <a:cs typeface="IBM Plex Sans" pitchFamily="34" charset="-120"/>
              </a:rPr>
              <a:t>0</a:t>
            </a:r>
            <a:endParaRPr lang="en-US" sz="1200" dirty="0"/>
          </a:p>
        </p:txBody>
      </p:sp>
      <p:sp>
        <p:nvSpPr>
          <p:cNvPr id="20" name="Text 17"/>
          <p:cNvSpPr/>
          <p:nvPr/>
        </p:nvSpPr>
        <p:spPr>
          <a:xfrm>
            <a:off x="8989467" y="4158010"/>
            <a:ext cx="685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+0.002</a:t>
            </a:r>
            <a:endParaRPr lang="en-US" sz="1200" dirty="0"/>
          </a:p>
        </p:txBody>
      </p:sp>
      <p:sp>
        <p:nvSpPr>
          <p:cNvPr id="21" name="Text 18"/>
          <p:cNvSpPr/>
          <p:nvPr/>
        </p:nvSpPr>
        <p:spPr>
          <a:xfrm>
            <a:off x="10418217" y="4158010"/>
            <a:ext cx="685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+0.004</a:t>
            </a:r>
            <a:endParaRPr lang="en-US" sz="1200" dirty="0"/>
          </a:p>
        </p:txBody>
      </p:sp>
      <p:sp>
        <p:nvSpPr>
          <p:cNvPr id="22" name="Text 19"/>
          <p:cNvSpPr/>
          <p:nvPr/>
        </p:nvSpPr>
        <p:spPr>
          <a:xfrm>
            <a:off x="4633367" y="4462810"/>
            <a:ext cx="65405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Cleaned minus raw nested F1, historical reference booster (0 = no difference)</a:t>
            </a:r>
            <a:endParaRPr lang="en-US" sz="1200" dirty="0"/>
          </a:p>
        </p:txBody>
      </p:sp>
      <p:sp>
        <p:nvSpPr>
          <p:cNvPr id="23" name="Text 20"/>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The interval includes zero. The benchmark measures recoding and feature exclusions together and is conditional on fixed fits and thresholds.</a:t>
            </a:r>
            <a:endParaRPr lang="en-US" sz="1400" dirty="0"/>
          </a:p>
        </p:txBody>
      </p:sp>
      <p:sp>
        <p:nvSpPr>
          <p:cNvPr id="24" name="Text 21"/>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results/eda/phase33_raw_preprocessing_summary.md, evidence/METRICS.json</a:t>
            </a:r>
            <a:endParaRPr lang="en-US" sz="1200" dirty="0"/>
          </a:p>
        </p:txBody>
      </p:sp>
      <p:sp>
        <p:nvSpPr>
          <p:cNvPr id="25" name="Text 2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10 / 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8636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The selected combination has the highest reported challenge F1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2339578"/>
          <a:ext cx="6718300" cy="2328763"/>
        </p:xfrm>
        <a:graphic>
          <a:graphicData uri="http://schemas.openxmlformats.org/drawingml/2006/table">
            <a:tbl>
              <a:tblPr/>
              <a:tblGrid>
                <a:gridCol w="4434078"/>
                <a:gridCol w="1142111"/>
                <a:gridCol w="1142111"/>
              </a:tblGrid>
              <a:tr h="332680">
                <a:tc>
                  <a:txBody>
                    <a:bodyPr/>
                    <a:lstStyle/>
                    <a:p>
                      <a:pP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Submitted pipeline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F1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Accuracy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Historical reference booster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0.452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0.878</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 Diet representation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0.453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0.882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 Restricted imputation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0.454</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0.880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Leaf L2 = 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0.453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0.883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32680">
                <a:tc>
                  <a:txBody>
                    <a:bodyPr/>
                    <a:lstStyle/>
                    <a:p>
                      <a:pPr indent="0" marL="0">
                        <a:lnSpc>
                          <a:spcPts val="1680"/>
                        </a:lnSpc>
                        <a:buNone/>
                      </a:pPr>
                      <a:r>
                        <a:rPr lang="en-US" sz="1200" dirty="0">
                          <a:solidFill>
                            <a:srgbClr val="FCFDFB"/>
                          </a:solidFill>
                          <a:latin typeface="IBM Plex Sans" pitchFamily="34" charset="0"/>
                          <a:ea typeface="IBM Plex Sans" pitchFamily="34" charset="-122"/>
                          <a:cs typeface="IBM Plex Sans" pitchFamily="34" charset="-120"/>
                        </a:rPr>
                        <a:t>Diet + restricted imputation, L2 1 (selected)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0F6564"/>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0F6564"/>
                      </a:solidFill>
                      <a:prstDash val="solid"/>
                      <a:round/>
                      <a:headEnd type="none" w="med" len="med"/>
                      <a:tailEnd type="none" w="med" len="med"/>
                    </a:lnB>
                    <a:solidFill>
                      <a:srgbClr val="0E7C7B"/>
                    </a:solidFill>
                  </a:tcPr>
                </a:tc>
                <a:tc>
                  <a:txBody>
                    <a:bodyPr/>
                    <a:lstStyle/>
                    <a:p>
                      <a:pPr algn="r" indent="0" marL="0">
                        <a:lnSpc>
                          <a:spcPts val="1680"/>
                        </a:lnSpc>
                        <a:buNone/>
                      </a:pPr>
                      <a:r>
                        <a:rPr lang="en-US" sz="1200" dirty="0">
                          <a:solidFill>
                            <a:srgbClr val="FCFDFB"/>
                          </a:solidFill>
                          <a:latin typeface="IBM Plex Sans" pitchFamily="34" charset="0"/>
                          <a:ea typeface="IBM Plex Sans" pitchFamily="34" charset="-122"/>
                          <a:cs typeface="IBM Plex Sans" pitchFamily="34" charset="-120"/>
                        </a:rPr>
                        <a:t>0.455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0F6564"/>
                      </a:solidFill>
                      <a:prstDash val="solid"/>
                      <a:round/>
                      <a:headEnd type="none" w="med" len="med"/>
                      <a:tailEnd type="none" w="med" len="med"/>
                    </a:lnL>
                    <a:lnR w="12700" cap="flat" cmpd="sng" algn="ctr">
                      <a:solidFill>
                        <a:srgbClr val="0F6564"/>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0F6564"/>
                      </a:solidFill>
                      <a:prstDash val="solid"/>
                      <a:round/>
                      <a:headEnd type="none" w="med" len="med"/>
                      <a:tailEnd type="none" w="med" len="med"/>
                    </a:lnB>
                    <a:solidFill>
                      <a:srgbClr val="0E7C7B"/>
                    </a:solidFill>
                  </a:tcPr>
                </a:tc>
                <a:tc>
                  <a:txBody>
                    <a:bodyPr/>
                    <a:lstStyle/>
                    <a:p>
                      <a:pPr algn="r" indent="0" marL="0">
                        <a:lnSpc>
                          <a:spcPts val="1680"/>
                        </a:lnSpc>
                        <a:buNone/>
                      </a:pPr>
                      <a:r>
                        <a:rPr lang="en-US" sz="1200" dirty="0">
                          <a:solidFill>
                            <a:srgbClr val="FCFDFB"/>
                          </a:solidFill>
                          <a:latin typeface="IBM Plex Sans" pitchFamily="34" charset="0"/>
                          <a:ea typeface="IBM Plex Sans" pitchFamily="34" charset="-122"/>
                          <a:cs typeface="IBM Plex Sans" pitchFamily="34" charset="-120"/>
                        </a:rPr>
                        <a:t>0.882</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0F6564"/>
                      </a:solidFill>
                      <a:prstDash val="solid"/>
                      <a:round/>
                      <a:headEnd type="none" w="med" len="med"/>
                      <a:tailEnd type="none" w="med" len="med"/>
                    </a:lnL>
                    <a:lnR w="12700" cap="flat" cmpd="sng" algn="ctr">
                      <a:solidFill>
                        <a:srgbClr val="0F6564"/>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0F6564"/>
                      </a:solidFill>
                      <a:prstDash val="solid"/>
                      <a:round/>
                      <a:headEnd type="none" w="med" len="med"/>
                      <a:tailEnd type="none" w="med" len="med"/>
                    </a:lnB>
                    <a:solidFill>
                      <a:srgbClr val="0E7C7B"/>
                    </a:solidFill>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Diet + restricted imputation, L2 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0F6564"/>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0.453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0F6564"/>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0.883</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0F6564"/>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bl>
          </a:graphicData>
        </a:graphic>
      </p:graphicFrame>
      <p:sp>
        <p:nvSpPr>
          <p:cNvPr id="4" name="Shape 1"/>
          <p:cNvSpPr/>
          <p:nvPr/>
        </p:nvSpPr>
        <p:spPr>
          <a:xfrm>
            <a:off x="7747000" y="2326878"/>
            <a:ext cx="3632200" cy="2341463"/>
          </a:xfrm>
          <a:prstGeom prst="roundRect">
            <a:avLst>
              <a:gd name="adj" fmla="val 4339"/>
            </a:avLst>
          </a:prstGeom>
          <a:solidFill>
            <a:srgbClr val="CFE8E5"/>
          </a:solidFill>
          <a:ln/>
        </p:spPr>
      </p:sp>
      <p:sp>
        <p:nvSpPr>
          <p:cNvPr id="5" name="Text 2"/>
          <p:cNvSpPr/>
          <p:nvPr/>
        </p:nvSpPr>
        <p:spPr>
          <a:xfrm>
            <a:off x="7975600" y="2555478"/>
            <a:ext cx="3270250"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0B6E70"/>
                </a:solidFill>
                <a:latin typeface="IBM Plex Sans" pitchFamily="34" charset="0"/>
                <a:ea typeface="IBM Plex Sans" pitchFamily="34" charset="-122"/>
                <a:cs typeface="IBM Plex Sans" pitchFamily="34" charset="-120"/>
              </a:rPr>
              <a:t>+0.003</a:t>
            </a:r>
            <a:endParaRPr lang="en-US" sz="4400" dirty="0"/>
          </a:p>
        </p:txBody>
      </p:sp>
      <p:sp>
        <p:nvSpPr>
          <p:cNvPr id="6" name="Text 3"/>
          <p:cNvSpPr/>
          <p:nvPr/>
        </p:nvSpPr>
        <p:spPr>
          <a:xfrm>
            <a:off x="7975600" y="3246338"/>
            <a:ext cx="32702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284B"/>
                </a:solidFill>
                <a:latin typeface="IBM Plex Sans" pitchFamily="34" charset="0"/>
                <a:ea typeface="IBM Plex Sans" pitchFamily="34" charset="-122"/>
                <a:cs typeface="IBM Plex Sans" pitchFamily="34" charset="-120"/>
              </a:rPr>
              <a:t>F1 above the historical submission</a:t>
            </a:r>
            <a:endParaRPr lang="en-US" sz="1200" dirty="0"/>
          </a:p>
        </p:txBody>
      </p:sp>
      <p:sp>
        <p:nvSpPr>
          <p:cNvPr id="7" name="Text 4"/>
          <p:cNvSpPr/>
          <p:nvPr/>
        </p:nvSpPr>
        <p:spPr>
          <a:xfrm>
            <a:off x="7975600" y="3535859"/>
            <a:ext cx="3270250"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Six submissions span 0.452 to 0.455, the third decimal of a rounded display: no significance is claimed. Accuracy did not decide.</a:t>
            </a:r>
            <a:endParaRPr lang="en-US" sz="1200" dirty="0"/>
          </a:p>
        </p:txBody>
      </p:sp>
      <p:sp>
        <p:nvSpPr>
          <p:cNvPr id="8" name="Text 5"/>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Author-reported AIcrowd display scores: historical reference on 12 October, other candidates on 13 October 2026. Rank 3rd on 14 October 2026 is reported separately by the author.</a:t>
            </a:r>
            <a:endParaRPr lang="en-US" sz="1400" dirty="0"/>
          </a:p>
        </p:txBody>
      </p:sp>
      <p:sp>
        <p:nvSpPr>
          <p:cNvPr id="9" name="Text 6"/>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assets/chart_data/aicrowd_progression.csv, evidence/aicrowd/</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11 / 14</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AF0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24160"/>
          </a:xfrm>
          <a:prstGeom prst="rect">
            <a:avLst/>
          </a:prstGeom>
          <a:noFill/>
          <a:ln/>
        </p:spPr>
        <p:txBody>
          <a:bodyPr wrap="square" lIns="0" tIns="0" rIns="0" bIns="0" rtlCol="0" anchor="t">
            <a:normAutofit/>
          </a:bodyPr>
          <a:lstStyle/>
          <a:p>
            <a:pPr algn="l" indent="0" marL="0">
              <a:lnSpc>
                <a:spcPts val="3166"/>
              </a:lnSpc>
              <a:buNone/>
            </a:pPr>
            <a:r>
              <a:rPr lang="en-US" sz="2878" b="1" i="0" dirty="0">
                <a:solidFill>
                  <a:srgbClr val="14284B"/>
                </a:solidFill>
                <a:latin typeface="IBM Plex Sans" pitchFamily="34" charset="0"/>
                <a:ea typeface="IBM Plex Sans" pitchFamily="34" charset="-122"/>
                <a:cs typeface="IBM Plex Sans" pitchFamily="34" charset="-120"/>
              </a:rPr>
              <a:t>Historical error analysis shows the F1 trade-off</a:t>
            </a:r>
            <a:endParaRPr lang="en-US" sz="2878" dirty="0"/>
          </a:p>
        </p:txBody>
      </p:sp>
      <p:sp>
        <p:nvSpPr>
          <p:cNvPr id="3" name="Text 1"/>
          <p:cNvSpPr/>
          <p:nvPr/>
        </p:nvSpPr>
        <p:spPr>
          <a:xfrm>
            <a:off x="787400" y="1465560"/>
            <a:ext cx="1447800" cy="52318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4284B"/>
                </a:solidFill>
                <a:latin typeface="IBM Plex Sans" pitchFamily="34" charset="0"/>
                <a:ea typeface="IBM Plex Sans" pitchFamily="34" charset="-122"/>
                <a:cs typeface="IBM Plex Sans" pitchFamily="34" charset="-120"/>
              </a:rPr>
              <a:t>Predicted positive</a:t>
            </a:r>
            <a:endParaRPr lang="en-US" sz="1400" dirty="0"/>
          </a:p>
        </p:txBody>
      </p:sp>
      <p:sp>
        <p:nvSpPr>
          <p:cNvPr id="4" name="Text 2"/>
          <p:cNvSpPr/>
          <p:nvPr/>
        </p:nvSpPr>
        <p:spPr>
          <a:xfrm>
            <a:off x="2276767" y="1465560"/>
            <a:ext cx="2378136" cy="523180"/>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4284B"/>
                </a:solidFill>
                <a:latin typeface="IBM Plex Sans" pitchFamily="34" charset="0"/>
                <a:ea typeface="IBM Plex Sans" pitchFamily="34" charset="-122"/>
                <a:cs typeface="IBM Plex Sans" pitchFamily="34" charset="-120"/>
              </a:rPr>
              <a:t>Predicted negative</a:t>
            </a:r>
            <a:endParaRPr lang="en-US" sz="1400" dirty="0"/>
          </a:p>
        </p:txBody>
      </p:sp>
      <p:sp>
        <p:nvSpPr>
          <p:cNvPr id="5" name="Text 3"/>
          <p:cNvSpPr/>
          <p:nvPr/>
        </p:nvSpPr>
        <p:spPr>
          <a:xfrm>
            <a:off x="4721870" y="1479500"/>
            <a:ext cx="2378136"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84B"/>
                </a:solidFill>
                <a:latin typeface="IBM Plex Sans" pitchFamily="34" charset="0"/>
                <a:ea typeface="IBM Plex Sans" pitchFamily="34" charset="-122"/>
                <a:cs typeface="IBM Plex Sans" pitchFamily="34" charset="-120"/>
              </a:rPr>
              <a:t>Actual positive</a:t>
            </a:r>
            <a:endParaRPr lang="en-US" sz="1400" dirty="0"/>
          </a:p>
        </p:txBody>
      </p:sp>
      <p:sp>
        <p:nvSpPr>
          <p:cNvPr id="6" name="Text 4"/>
          <p:cNvSpPr/>
          <p:nvPr/>
        </p:nvSpPr>
        <p:spPr>
          <a:xfrm>
            <a:off x="4721870" y="1736030"/>
            <a:ext cx="23781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23,180</a:t>
            </a:r>
            <a:endParaRPr lang="en-US" sz="1200" dirty="0"/>
          </a:p>
        </p:txBody>
      </p:sp>
      <p:sp>
        <p:nvSpPr>
          <p:cNvPr id="7" name="Shape 5"/>
          <p:cNvSpPr/>
          <p:nvPr/>
        </p:nvSpPr>
        <p:spPr>
          <a:xfrm>
            <a:off x="812800" y="2064941"/>
            <a:ext cx="1397000" cy="1479798"/>
          </a:xfrm>
          <a:prstGeom prst="roundRect">
            <a:avLst>
              <a:gd name="adj" fmla="val 5455"/>
            </a:avLst>
          </a:prstGeom>
          <a:solidFill>
            <a:srgbClr val="CFE8E5"/>
          </a:solidFill>
          <a:ln/>
        </p:spPr>
      </p:sp>
      <p:sp>
        <p:nvSpPr>
          <p:cNvPr id="8" name="Text 6"/>
          <p:cNvSpPr/>
          <p:nvPr/>
        </p:nvSpPr>
        <p:spPr>
          <a:xfrm>
            <a:off x="990600" y="2268141"/>
            <a:ext cx="1206500" cy="737046"/>
          </a:xfrm>
          <a:prstGeom prst="rect">
            <a:avLst/>
          </a:prstGeom>
          <a:noFill/>
          <a:ln/>
        </p:spPr>
        <p:txBody>
          <a:bodyPr wrap="square" lIns="0" tIns="0" rIns="0" bIns="0" rtlCol="0" anchor="t">
            <a:normAutofit/>
          </a:bodyPr>
          <a:lstStyle/>
          <a:p>
            <a:pPr algn="l" indent="0" marL="0">
              <a:lnSpc>
                <a:spcPts val="2805"/>
              </a:lnSpc>
              <a:buNone/>
            </a:pPr>
            <a:r>
              <a:rPr lang="en-US" sz="2550" b="1" dirty="0">
                <a:solidFill>
                  <a:srgbClr val="14284B"/>
                </a:solidFill>
                <a:latin typeface="IBM Plex Sans" pitchFamily="34" charset="0"/>
                <a:ea typeface="IBM Plex Sans" pitchFamily="34" charset="-122"/>
                <a:cs typeface="IBM Plex Sans" pitchFamily="34" charset="-120"/>
              </a:rPr>
              <a:t>12,855</a:t>
            </a:r>
            <a:endParaRPr lang="en-US" sz="2550" dirty="0"/>
          </a:p>
        </p:txBody>
      </p:sp>
      <p:sp>
        <p:nvSpPr>
          <p:cNvPr id="9" name="Text 7"/>
          <p:cNvSpPr/>
          <p:nvPr/>
        </p:nvSpPr>
        <p:spPr>
          <a:xfrm>
            <a:off x="990600" y="3005187"/>
            <a:ext cx="1092200" cy="361752"/>
          </a:xfrm>
          <a:prstGeom prst="rect">
            <a:avLst/>
          </a:prstGeom>
          <a:noFill/>
          <a:ln/>
        </p:spPr>
        <p:txBody>
          <a:bodyPr wrap="square" lIns="0" tIns="0" rIns="0" bIns="0" rtlCol="0" anchor="t">
            <a:normAutofit/>
          </a:bodyPr>
          <a:lstStyle/>
          <a:p>
            <a:pPr algn="l" indent="0" marL="0">
              <a:lnSpc>
                <a:spcPts val="1336"/>
              </a:lnSpc>
              <a:buNone/>
            </a:pPr>
            <a:r>
              <a:rPr lang="en-US" sz="1028" dirty="0">
                <a:solidFill>
                  <a:srgbClr val="14284B"/>
                </a:solidFill>
                <a:latin typeface="IBM Plex Sans" pitchFamily="34" charset="0"/>
                <a:ea typeface="IBM Plex Sans" pitchFamily="34" charset="-122"/>
                <a:cs typeface="IBM Plex Sans" pitchFamily="34" charset="-120"/>
              </a:rPr>
              <a:t>True positives (found)</a:t>
            </a:r>
            <a:endParaRPr lang="en-US" sz="1028" dirty="0"/>
          </a:p>
        </p:txBody>
      </p:sp>
      <p:sp>
        <p:nvSpPr>
          <p:cNvPr id="10" name="Shape 8"/>
          <p:cNvSpPr/>
          <p:nvPr/>
        </p:nvSpPr>
        <p:spPr>
          <a:xfrm>
            <a:off x="2311400" y="2064941"/>
            <a:ext cx="2308870" cy="1479798"/>
          </a:xfrm>
          <a:prstGeom prst="roundRect">
            <a:avLst>
              <a:gd name="adj" fmla="val 5149"/>
            </a:avLst>
          </a:prstGeom>
          <a:solidFill>
            <a:srgbClr val="F6DCCB"/>
          </a:solidFill>
          <a:ln/>
        </p:spPr>
      </p:sp>
      <p:sp>
        <p:nvSpPr>
          <p:cNvPr id="11" name="Text 9"/>
          <p:cNvSpPr/>
          <p:nvPr/>
        </p:nvSpPr>
        <p:spPr>
          <a:xfrm>
            <a:off x="2489200" y="2268141"/>
            <a:ext cx="2011868"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10,325</a:t>
            </a:r>
            <a:endParaRPr lang="en-US" sz="3000" dirty="0"/>
          </a:p>
        </p:txBody>
      </p:sp>
      <p:sp>
        <p:nvSpPr>
          <p:cNvPr id="12" name="Text 10"/>
          <p:cNvSpPr/>
          <p:nvPr/>
        </p:nvSpPr>
        <p:spPr>
          <a:xfrm>
            <a:off x="2489200" y="2712641"/>
            <a:ext cx="2011868"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4284B"/>
                </a:solidFill>
                <a:latin typeface="IBM Plex Sans" pitchFamily="34" charset="0"/>
                <a:ea typeface="IBM Plex Sans" pitchFamily="34" charset="-122"/>
                <a:cs typeface="IBM Plex Sans" pitchFamily="34" charset="-120"/>
              </a:rPr>
              <a:t>False negatives (missed)</a:t>
            </a:r>
            <a:endParaRPr lang="en-US" sz="1200" dirty="0"/>
          </a:p>
        </p:txBody>
      </p:sp>
      <p:sp>
        <p:nvSpPr>
          <p:cNvPr id="13" name="Text 11"/>
          <p:cNvSpPr/>
          <p:nvPr/>
        </p:nvSpPr>
        <p:spPr>
          <a:xfrm>
            <a:off x="4721870" y="2569914"/>
            <a:ext cx="2378136" cy="25653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4284B"/>
                </a:solidFill>
                <a:latin typeface="IBM Plex Sans" pitchFamily="34" charset="0"/>
                <a:ea typeface="IBM Plex Sans" pitchFamily="34" charset="-122"/>
                <a:cs typeface="IBM Plex Sans" pitchFamily="34" charset="-120"/>
              </a:rPr>
              <a:t>Actual negative</a:t>
            </a:r>
            <a:endParaRPr lang="en-US" sz="1400" dirty="0"/>
          </a:p>
        </p:txBody>
      </p:sp>
      <p:sp>
        <p:nvSpPr>
          <p:cNvPr id="14" name="Text 12"/>
          <p:cNvSpPr/>
          <p:nvPr/>
        </p:nvSpPr>
        <p:spPr>
          <a:xfrm>
            <a:off x="4721870" y="2826445"/>
            <a:ext cx="23781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239,328</a:t>
            </a:r>
            <a:endParaRPr lang="en-US" sz="1200" dirty="0"/>
          </a:p>
        </p:txBody>
      </p:sp>
      <p:sp>
        <p:nvSpPr>
          <p:cNvPr id="15" name="Shape 13"/>
          <p:cNvSpPr/>
          <p:nvPr/>
        </p:nvSpPr>
        <p:spPr>
          <a:xfrm>
            <a:off x="812800" y="3646339"/>
            <a:ext cx="1397000" cy="1468090"/>
          </a:xfrm>
          <a:prstGeom prst="roundRect">
            <a:avLst>
              <a:gd name="adj" fmla="val 5455"/>
            </a:avLst>
          </a:prstGeom>
          <a:solidFill>
            <a:srgbClr val="F6DCCB"/>
          </a:solidFill>
          <a:ln/>
        </p:spPr>
      </p:sp>
      <p:sp>
        <p:nvSpPr>
          <p:cNvPr id="16" name="Text 14"/>
          <p:cNvSpPr/>
          <p:nvPr/>
        </p:nvSpPr>
        <p:spPr>
          <a:xfrm>
            <a:off x="990600" y="3849539"/>
            <a:ext cx="1206500" cy="863600"/>
          </a:xfrm>
          <a:prstGeom prst="rect">
            <a:avLst/>
          </a:prstGeom>
          <a:noFill/>
          <a:ln/>
        </p:spPr>
        <p:txBody>
          <a:bodyPr wrap="square" lIns="0" tIns="0" rIns="0" bIns="0" rtlCol="0" anchor="t">
            <a:normAutofit/>
          </a:bodyPr>
          <a:lstStyle/>
          <a:p>
            <a:pPr algn="l" indent="0" marL="0">
              <a:lnSpc>
                <a:spcPts val="3300"/>
              </a:lnSpc>
              <a:buNone/>
            </a:pPr>
            <a:r>
              <a:rPr lang="en-US" sz="2550" b="1" dirty="0">
                <a:solidFill>
                  <a:srgbClr val="14284B"/>
                </a:solidFill>
                <a:latin typeface="IBM Plex Sans" pitchFamily="34" charset="0"/>
                <a:ea typeface="IBM Plex Sans" pitchFamily="34" charset="-122"/>
                <a:cs typeface="IBM Plex Sans" pitchFamily="34" charset="-120"/>
              </a:rPr>
              <a:t>22,112</a:t>
            </a:r>
            <a:endParaRPr lang="en-US" sz="2550" dirty="0"/>
          </a:p>
        </p:txBody>
      </p:sp>
      <p:sp>
        <p:nvSpPr>
          <p:cNvPr id="17" name="Text 15"/>
          <p:cNvSpPr/>
          <p:nvPr/>
        </p:nvSpPr>
        <p:spPr>
          <a:xfrm>
            <a:off x="990600" y="4713139"/>
            <a:ext cx="1092200"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4284B"/>
                </a:solidFill>
                <a:latin typeface="IBM Plex Sans" pitchFamily="34" charset="0"/>
                <a:ea typeface="IBM Plex Sans" pitchFamily="34" charset="-122"/>
                <a:cs typeface="IBM Plex Sans" pitchFamily="34" charset="-120"/>
              </a:rPr>
              <a:t>False positives</a:t>
            </a:r>
            <a:endParaRPr lang="en-US" sz="1200" dirty="0"/>
          </a:p>
        </p:txBody>
      </p:sp>
      <p:sp>
        <p:nvSpPr>
          <p:cNvPr id="18" name="Shape 16"/>
          <p:cNvSpPr/>
          <p:nvPr/>
        </p:nvSpPr>
        <p:spPr>
          <a:xfrm>
            <a:off x="2311400" y="3646339"/>
            <a:ext cx="2308870" cy="1468090"/>
          </a:xfrm>
          <a:prstGeom prst="roundRect">
            <a:avLst>
              <a:gd name="adj" fmla="val 5190"/>
            </a:avLst>
          </a:prstGeom>
          <a:solidFill>
            <a:srgbClr val="DDE3E1"/>
          </a:solidFill>
          <a:ln/>
        </p:spPr>
      </p:sp>
      <p:sp>
        <p:nvSpPr>
          <p:cNvPr id="19" name="Text 17"/>
          <p:cNvSpPr/>
          <p:nvPr/>
        </p:nvSpPr>
        <p:spPr>
          <a:xfrm>
            <a:off x="2489200" y="3849539"/>
            <a:ext cx="2011868"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217,216</a:t>
            </a:r>
            <a:endParaRPr lang="en-US" sz="3000" dirty="0"/>
          </a:p>
        </p:txBody>
      </p:sp>
      <p:sp>
        <p:nvSpPr>
          <p:cNvPr id="20" name="Text 18"/>
          <p:cNvSpPr/>
          <p:nvPr/>
        </p:nvSpPr>
        <p:spPr>
          <a:xfrm>
            <a:off x="2489200" y="4294039"/>
            <a:ext cx="2011868"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4284B"/>
                </a:solidFill>
                <a:latin typeface="IBM Plex Sans" pitchFamily="34" charset="0"/>
                <a:ea typeface="IBM Plex Sans" pitchFamily="34" charset="-122"/>
                <a:cs typeface="IBM Plex Sans" pitchFamily="34" charset="-120"/>
              </a:rPr>
              <a:t>True negatives</a:t>
            </a:r>
            <a:endParaRPr lang="en-US" sz="1200" dirty="0"/>
          </a:p>
        </p:txBody>
      </p:sp>
      <p:sp>
        <p:nvSpPr>
          <p:cNvPr id="21" name="Shape 19"/>
          <p:cNvSpPr/>
          <p:nvPr/>
        </p:nvSpPr>
        <p:spPr>
          <a:xfrm>
            <a:off x="7237115" y="1468735"/>
            <a:ext cx="4138910" cy="1233091"/>
          </a:xfrm>
          <a:prstGeom prst="roundRect">
            <a:avLst>
              <a:gd name="adj" fmla="val 7982"/>
            </a:avLst>
          </a:prstGeom>
          <a:solidFill>
            <a:srgbClr val="FCFDFB"/>
          </a:solidFill>
          <a:ln w="6350">
            <a:solidFill>
              <a:srgbClr val="D3DCD9"/>
            </a:solidFill>
            <a:prstDash val="solid"/>
          </a:ln>
        </p:spPr>
      </p:sp>
      <p:sp>
        <p:nvSpPr>
          <p:cNvPr id="22" name="Text 20"/>
          <p:cNvSpPr/>
          <p:nvPr/>
        </p:nvSpPr>
        <p:spPr>
          <a:xfrm>
            <a:off x="7418090" y="1649710"/>
            <a:ext cx="3890269"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B6E70"/>
                </a:solidFill>
                <a:latin typeface="IBM Plex Sans" pitchFamily="34" charset="0"/>
                <a:ea typeface="IBM Plex Sans" pitchFamily="34" charset="-122"/>
                <a:cs typeface="IBM Plex Sans" pitchFamily="34" charset="-120"/>
              </a:rPr>
              <a:t>0.3676</a:t>
            </a:r>
            <a:endParaRPr lang="en-US" sz="3000" dirty="0"/>
          </a:p>
        </p:txBody>
      </p:sp>
      <p:sp>
        <p:nvSpPr>
          <p:cNvPr id="23" name="Text 21"/>
          <p:cNvSpPr/>
          <p:nvPr/>
        </p:nvSpPr>
        <p:spPr>
          <a:xfrm>
            <a:off x="7418090" y="2094210"/>
            <a:ext cx="389026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Precision: of 34,967 flagged respondents, about 37% are positive</a:t>
            </a:r>
            <a:endParaRPr lang="en-US" sz="1200" dirty="0"/>
          </a:p>
        </p:txBody>
      </p:sp>
      <p:sp>
        <p:nvSpPr>
          <p:cNvPr id="24" name="Shape 22"/>
          <p:cNvSpPr/>
          <p:nvPr/>
        </p:nvSpPr>
        <p:spPr>
          <a:xfrm>
            <a:off x="7237115" y="2860576"/>
            <a:ext cx="4138910" cy="1019770"/>
          </a:xfrm>
          <a:prstGeom prst="roundRect">
            <a:avLst>
              <a:gd name="adj" fmla="val 9652"/>
            </a:avLst>
          </a:prstGeom>
          <a:solidFill>
            <a:srgbClr val="FCFDFB"/>
          </a:solidFill>
          <a:ln w="6350">
            <a:solidFill>
              <a:srgbClr val="D3DCD9"/>
            </a:solidFill>
            <a:prstDash val="solid"/>
          </a:ln>
        </p:spPr>
      </p:sp>
      <p:sp>
        <p:nvSpPr>
          <p:cNvPr id="25" name="Text 23"/>
          <p:cNvSpPr/>
          <p:nvPr/>
        </p:nvSpPr>
        <p:spPr>
          <a:xfrm>
            <a:off x="7418090" y="3041551"/>
            <a:ext cx="3890269"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0B6E70"/>
                </a:solidFill>
                <a:latin typeface="IBM Plex Sans" pitchFamily="34" charset="0"/>
                <a:ea typeface="IBM Plex Sans" pitchFamily="34" charset="-122"/>
                <a:cs typeface="IBM Plex Sans" pitchFamily="34" charset="-120"/>
              </a:rPr>
              <a:t>0.5546</a:t>
            </a:r>
            <a:endParaRPr lang="en-US" sz="3000" dirty="0"/>
          </a:p>
        </p:txBody>
      </p:sp>
      <p:sp>
        <p:nvSpPr>
          <p:cNvPr id="26" name="Text 24"/>
          <p:cNvSpPr/>
          <p:nvPr/>
        </p:nvSpPr>
        <p:spPr>
          <a:xfrm>
            <a:off x="7418090" y="3486051"/>
            <a:ext cx="38902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Recall: 12,855 of 23,180 positives are found</a:t>
            </a:r>
            <a:endParaRPr lang="en-US" sz="1200" dirty="0"/>
          </a:p>
        </p:txBody>
      </p:sp>
      <p:sp>
        <p:nvSpPr>
          <p:cNvPr id="27" name="Text 25"/>
          <p:cNvSpPr/>
          <p:nvPr/>
        </p:nvSpPr>
        <p:spPr>
          <a:xfrm>
            <a:off x="812800" y="5368429"/>
            <a:ext cx="10883392" cy="498971"/>
          </a:xfrm>
          <a:prstGeom prst="rect">
            <a:avLst/>
          </a:prstGeom>
          <a:noFill/>
          <a:ln/>
        </p:spPr>
        <p:txBody>
          <a:bodyPr wrap="square" lIns="0" tIns="0" rIns="0" bIns="0" rtlCol="0" anchor="t">
            <a:normAutofit/>
          </a:bodyPr>
          <a:lstStyle/>
          <a:p>
            <a:pPr algn="l" indent="0" marL="0">
              <a:lnSpc>
                <a:spcPts val="1886"/>
              </a:lnSpc>
              <a:buNone/>
            </a:pPr>
            <a:r>
              <a:rPr lang="en-US" sz="1347" dirty="0">
                <a:solidFill>
                  <a:srgbClr val="5B6678"/>
                </a:solidFill>
                <a:latin typeface="IBM Plex Sans" pitchFamily="34" charset="0"/>
                <a:ea typeface="IBM Plex Sans" pitchFamily="34" charset="-122"/>
                <a:cs typeface="IBM Plex Sans" pitchFamily="34" charset="-120"/>
              </a:rPr>
              <a:t>Historical reference booster, nested development decisions. No equivalent confusion matrix exists for the final combination; its 13,999 positive test predictions are counts, not errors.</a:t>
            </a:r>
            <a:endParaRPr lang="en-US" sz="1347" dirty="0"/>
          </a:p>
        </p:txBody>
      </p:sp>
      <p:sp>
        <p:nvSpPr>
          <p:cNvPr id="28" name="Text 26"/>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evidence/METRICS.json, evidence/SELECTED_REPLAY_20261014.json</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12 / 14</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A post-event question limits what the result can claim</a:t>
            </a:r>
            <a:endParaRPr lang="en-US" sz="3000" dirty="0"/>
          </a:p>
        </p:txBody>
      </p:sp>
      <p:sp>
        <p:nvSpPr>
          <p:cNvPr id="3" name="Shape 1"/>
          <p:cNvSpPr/>
          <p:nvPr/>
        </p:nvSpPr>
        <p:spPr>
          <a:xfrm>
            <a:off x="812800" y="1893193"/>
            <a:ext cx="3149600" cy="942280"/>
          </a:xfrm>
          <a:prstGeom prst="roundRect">
            <a:avLst>
              <a:gd name="adj" fmla="val 10782"/>
            </a:avLst>
          </a:prstGeom>
          <a:solidFill>
            <a:srgbClr val="EAF0EF"/>
          </a:solidFill>
          <a:ln/>
        </p:spPr>
      </p:sp>
      <p:sp>
        <p:nvSpPr>
          <p:cNvPr id="4" name="Text 2"/>
          <p:cNvSpPr/>
          <p:nvPr/>
        </p:nvSpPr>
        <p:spPr>
          <a:xfrm>
            <a:off x="990600" y="2070993"/>
            <a:ext cx="287782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84B"/>
                </a:solidFill>
                <a:latin typeface="IBM Plex Sans" pitchFamily="34" charset="0"/>
                <a:ea typeface="IBM Plex Sans" pitchFamily="34" charset="-122"/>
                <a:cs typeface="IBM Plex Sans" pitchFamily="34" charset="-120"/>
              </a:rPr>
              <a:t>Heart attack</a:t>
            </a:r>
            <a:endParaRPr lang="en-US" sz="1800" dirty="0"/>
          </a:p>
        </p:txBody>
      </p:sp>
      <p:sp>
        <p:nvSpPr>
          <p:cNvPr id="5" name="Text 3"/>
          <p:cNvSpPr/>
          <p:nvPr/>
        </p:nvSpPr>
        <p:spPr>
          <a:xfrm>
            <a:off x="990600" y="2408783"/>
            <a:ext cx="287782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The event comes first.</a:t>
            </a:r>
            <a:endParaRPr lang="en-US" sz="1400" dirty="0"/>
          </a:p>
        </p:txBody>
      </p:sp>
      <p:pic>
        <p:nvPicPr>
          <p:cNvPr id="6" name="Image 0" descr="arrow-right">    </p:cNvPr>
          <p:cNvPicPr>
            <a:picLocks noChangeAspect="1"/>
          </p:cNvPicPr>
          <p:nvPr/>
        </p:nvPicPr>
        <p:blipFill>
          <a:blip r:embed="rId1"/>
          <a:srcRect l="0" r="0" t="0" b="0"/>
          <a:stretch/>
        </p:blipFill>
        <p:spPr>
          <a:xfrm>
            <a:off x="4064000" y="2275433"/>
            <a:ext cx="355600" cy="177800"/>
          </a:xfrm>
          <a:prstGeom prst="rect">
            <a:avLst/>
          </a:prstGeom>
        </p:spPr>
      </p:pic>
      <p:sp>
        <p:nvSpPr>
          <p:cNvPr id="7" name="Shape 4"/>
          <p:cNvSpPr/>
          <p:nvPr/>
        </p:nvSpPr>
        <p:spPr>
          <a:xfrm>
            <a:off x="4521200" y="1768773"/>
            <a:ext cx="3149600" cy="1191171"/>
          </a:xfrm>
          <a:prstGeom prst="roundRect">
            <a:avLst>
              <a:gd name="adj" fmla="val 8529"/>
            </a:avLst>
          </a:prstGeom>
          <a:solidFill>
            <a:srgbClr val="F6DCCB"/>
          </a:solidFill>
          <a:ln/>
        </p:spPr>
      </p:sp>
      <p:sp>
        <p:nvSpPr>
          <p:cNvPr id="8" name="Text 5"/>
          <p:cNvSpPr/>
          <p:nvPr/>
        </p:nvSpPr>
        <p:spPr>
          <a:xfrm>
            <a:off x="4699000" y="1946573"/>
            <a:ext cx="2877820"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4284B"/>
                </a:solidFill>
                <a:latin typeface="IBM Plex Mono" pitchFamily="49" charset="0"/>
                <a:ea typeface="IBM Plex Mono" pitchFamily="49" charset="-122"/>
                <a:cs typeface="IBM Plex Mono" pitchFamily="49" charset="-120"/>
              </a:rPr>
              <a:t>HAREHAB1</a:t>
            </a:r>
            <a:endParaRPr lang="en-US" sz="1800" dirty="0"/>
          </a:p>
        </p:txBody>
      </p:sp>
      <p:sp>
        <p:nvSpPr>
          <p:cNvPr id="9" name="Text 6"/>
          <p:cNvSpPr/>
          <p:nvPr/>
        </p:nvSpPr>
        <p:spPr>
          <a:xfrm>
            <a:off x="4699000" y="2284363"/>
            <a:ext cx="287782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84B"/>
                </a:solidFill>
                <a:latin typeface="IBM Plex Sans" pitchFamily="34" charset="0"/>
                <a:ea typeface="IBM Plex Sans" pitchFamily="34" charset="-122"/>
                <a:cs typeface="IBM Plex Sans" pitchFamily="34" charset="-120"/>
              </a:rPr>
              <a:t>Asks about rehabilitation after a heart attack.</a:t>
            </a:r>
            <a:endParaRPr lang="en-US" sz="1400" dirty="0"/>
          </a:p>
        </p:txBody>
      </p:sp>
      <p:pic>
        <p:nvPicPr>
          <p:cNvPr id="10" name="Image 1" descr="arrow-right">    </p:cNvPr>
          <p:cNvPicPr>
            <a:picLocks noChangeAspect="1"/>
          </p:cNvPicPr>
          <p:nvPr/>
        </p:nvPicPr>
        <p:blipFill>
          <a:blip r:embed="rId2"/>
          <a:srcRect l="0" r="0" t="0" b="0"/>
          <a:stretch/>
        </p:blipFill>
        <p:spPr>
          <a:xfrm>
            <a:off x="7772400" y="2275433"/>
            <a:ext cx="355600" cy="177800"/>
          </a:xfrm>
          <a:prstGeom prst="rect">
            <a:avLst/>
          </a:prstGeom>
        </p:spPr>
      </p:pic>
      <p:sp>
        <p:nvSpPr>
          <p:cNvPr id="11" name="Shape 7"/>
          <p:cNvSpPr/>
          <p:nvPr/>
        </p:nvSpPr>
        <p:spPr>
          <a:xfrm>
            <a:off x="8229600" y="1768773"/>
            <a:ext cx="3149600" cy="1191171"/>
          </a:xfrm>
          <a:prstGeom prst="roundRect">
            <a:avLst>
              <a:gd name="adj" fmla="val 8529"/>
            </a:avLst>
          </a:prstGeom>
          <a:solidFill>
            <a:srgbClr val="EAF0EF"/>
          </a:solidFill>
          <a:ln/>
        </p:spPr>
      </p:sp>
      <p:sp>
        <p:nvSpPr>
          <p:cNvPr id="12" name="Text 8"/>
          <p:cNvSpPr/>
          <p:nvPr/>
        </p:nvSpPr>
        <p:spPr>
          <a:xfrm>
            <a:off x="8407400" y="1946573"/>
            <a:ext cx="2877820" cy="299690"/>
          </a:xfrm>
          <a:prstGeom prst="rect">
            <a:avLst/>
          </a:prstGeom>
          <a:noFill/>
          <a:ln/>
        </p:spPr>
        <p:txBody>
          <a:bodyPr wrap="square" lIns="0" tIns="0" rIns="0" bIns="0" rtlCol="0" anchor="t">
            <a:normAutofit/>
          </a:bodyPr>
          <a:lstStyle/>
          <a:p>
            <a:pPr algn="l" indent="0" marL="0">
              <a:lnSpc>
                <a:spcPts val="2160"/>
              </a:lnSpc>
              <a:buNone/>
            </a:pPr>
            <a:r>
              <a:rPr lang="en-US" sz="1800" dirty="0">
                <a:solidFill>
                  <a:srgbClr val="14284B"/>
                </a:solidFill>
                <a:latin typeface="IBM Plex Mono" pitchFamily="49" charset="0"/>
                <a:ea typeface="IBM Plex Mono" pitchFamily="49" charset="-122"/>
                <a:cs typeface="IBM Plex Mono" pitchFamily="49" charset="-120"/>
              </a:rPr>
              <a:t>_MICHD</a:t>
            </a:r>
            <a:endParaRPr lang="en-US" sz="1800" dirty="0"/>
          </a:p>
        </p:txBody>
      </p:sp>
      <p:sp>
        <p:nvSpPr>
          <p:cNvPr id="13" name="Text 9"/>
          <p:cNvSpPr/>
          <p:nvPr/>
        </p:nvSpPr>
        <p:spPr>
          <a:xfrm>
            <a:off x="8407400" y="2284363"/>
            <a:ext cx="2877820"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The target: reported heart attack or coronary disease.</a:t>
            </a:r>
            <a:endParaRPr lang="en-US" sz="1400" dirty="0"/>
          </a:p>
        </p:txBody>
      </p:sp>
      <p:sp>
        <p:nvSpPr>
          <p:cNvPr id="14" name="Shape 10"/>
          <p:cNvSpPr/>
          <p:nvPr/>
        </p:nvSpPr>
        <p:spPr>
          <a:xfrm>
            <a:off x="812800" y="3496766"/>
            <a:ext cx="5207000" cy="1310580"/>
          </a:xfrm>
          <a:prstGeom prst="roundRect">
            <a:avLst>
              <a:gd name="adj" fmla="val 7752"/>
            </a:avLst>
          </a:prstGeom>
          <a:solidFill>
            <a:srgbClr val="EAF0EF"/>
          </a:solidFill>
          <a:ln/>
        </p:spPr>
      </p:sp>
      <p:sp>
        <p:nvSpPr>
          <p:cNvPr id="15" name="Text 11"/>
          <p:cNvSpPr/>
          <p:nvPr/>
        </p:nvSpPr>
        <p:spPr>
          <a:xfrm>
            <a:off x="990600" y="3674566"/>
            <a:ext cx="499694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B34E12"/>
                </a:solidFill>
                <a:latin typeface="IBM Plex Sans" pitchFamily="34" charset="0"/>
                <a:ea typeface="IBM Plex Sans" pitchFamily="34" charset="-122"/>
                <a:cs typeface="IBM Plex Sans" pitchFamily="34" charset="-120"/>
              </a:rPr>
              <a:t>620 / 620</a:t>
            </a:r>
            <a:endParaRPr lang="en-US" sz="3000" dirty="0"/>
          </a:p>
        </p:txBody>
      </p:sp>
      <p:sp>
        <p:nvSpPr>
          <p:cNvPr id="16" name="Text 12"/>
          <p:cNvSpPr/>
          <p:nvPr/>
        </p:nvSpPr>
        <p:spPr>
          <a:xfrm>
            <a:off x="990600" y="4131766"/>
            <a:ext cx="499694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recorded answers belong to positives; only 0.24% of development rows have one</a:t>
            </a:r>
            <a:endParaRPr lang="en-US" sz="1400" dirty="0"/>
          </a:p>
        </p:txBody>
      </p:sp>
      <p:sp>
        <p:nvSpPr>
          <p:cNvPr id="17" name="Shape 13"/>
          <p:cNvSpPr/>
          <p:nvPr/>
        </p:nvSpPr>
        <p:spPr>
          <a:xfrm>
            <a:off x="6172200" y="3496766"/>
            <a:ext cx="5207000" cy="1310580"/>
          </a:xfrm>
          <a:prstGeom prst="roundRect">
            <a:avLst>
              <a:gd name="adj" fmla="val 7752"/>
            </a:avLst>
          </a:prstGeom>
          <a:solidFill>
            <a:srgbClr val="EAF0EF"/>
          </a:solidFill>
          <a:ln/>
        </p:spPr>
      </p:sp>
      <p:sp>
        <p:nvSpPr>
          <p:cNvPr id="18" name="Text 14"/>
          <p:cNvSpPr/>
          <p:nvPr/>
        </p:nvSpPr>
        <p:spPr>
          <a:xfrm>
            <a:off x="6350000" y="3674566"/>
            <a:ext cx="499694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84B"/>
                </a:solidFill>
                <a:latin typeface="IBM Plex Sans" pitchFamily="34" charset="0"/>
                <a:ea typeface="IBM Plex Sans" pitchFamily="34" charset="-122"/>
                <a:cs typeface="IBM Plex Sans" pitchFamily="34" charset="-120"/>
              </a:rPr>
              <a:t>0.4422 → 0.4310</a:t>
            </a:r>
            <a:endParaRPr lang="en-US" sz="3000" dirty="0"/>
          </a:p>
        </p:txBody>
      </p:sp>
      <p:sp>
        <p:nvSpPr>
          <p:cNvPr id="19" name="Text 15"/>
          <p:cNvSpPr/>
          <p:nvPr/>
        </p:nvSpPr>
        <p:spPr>
          <a:xfrm>
            <a:off x="6350000" y="4131766"/>
            <a:ext cx="499694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historical nested F1 with and without the feature</a:t>
            </a:r>
            <a:endParaRPr lang="en-US" sz="1400" dirty="0"/>
          </a:p>
        </p:txBody>
      </p:sp>
      <p:sp>
        <p:nvSpPr>
          <p:cNvPr id="20" name="Text 16"/>
          <p:cNvSpPr/>
          <p:nvPr/>
        </p:nvSpPr>
        <p:spPr>
          <a:xfrm>
            <a:off x="812800" y="5344220"/>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The selected pipeline keeps HAREHAB1. It classifies reported disease and does not establish prediction before an event; a prospective study would need a new feature policy and fresh validation.</a:t>
            </a:r>
            <a:endParaRPr lang="en-US" sz="1400" dirty="0"/>
          </a:p>
        </p:txBody>
      </p:sp>
      <p:sp>
        <p:nvSpPr>
          <p:cNvPr id="21" name="Text 17"/>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evidence/METRICS.json, project/docs/FINAL_REPORT.md</a:t>
            </a:r>
            <a:endParaRPr lang="en-US" sz="1200" dirty="0"/>
          </a:p>
        </p:txBody>
      </p:sp>
      <p:sp>
        <p:nvSpPr>
          <p:cNvPr id="22" name="Text 1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13 / 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84B"/>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spc="150" kern="0" dirty="0">
                <a:solidFill>
                  <a:srgbClr val="6FD6CC"/>
                </a:solidFill>
                <a:latin typeface="IBM Plex Sans" pitchFamily="34" charset="0"/>
                <a:ea typeface="IBM Plex Sans" pitchFamily="34" charset="-122"/>
                <a:cs typeface="IBM Plex Sans" pitchFamily="34" charset="-120"/>
              </a:rPr>
              <a:t>ANTONIO ARBIZZANI TONELLI · EPFL MACHINE LEARNING CS-433</a:t>
            </a:r>
            <a:endParaRPr lang="en-US" sz="1400" dirty="0"/>
          </a:p>
        </p:txBody>
      </p:sp>
      <p:sp>
        <p:nvSpPr>
          <p:cNvPr id="3" name="Text 1"/>
          <p:cNvSpPr/>
          <p:nvPr>
            <p:ph type="title"/>
          </p:nvPr>
        </p:nvSpPr>
        <p:spPr>
          <a:xfrm>
            <a:off x="812800" y="1450380"/>
            <a:ext cx="10883392" cy="1198860"/>
          </a:xfrm>
          <a:prstGeom prst="rect">
            <a:avLst/>
          </a:prstGeom>
          <a:noFill/>
          <a:ln/>
        </p:spPr>
        <p:txBody>
          <a:bodyPr wrap="square" lIns="0" tIns="0" rIns="0" bIns="0" rtlCol="0" anchor="t">
            <a:normAutofit/>
          </a:bodyPr>
          <a:lstStyle/>
          <a:p>
            <a:pPr algn="l" indent="0" marL="0">
              <a:lnSpc>
                <a:spcPts val="4620"/>
              </a:lnSpc>
              <a:buNone/>
            </a:pPr>
            <a:r>
              <a:rPr lang="en-US" sz="4400" b="1" i="0" dirty="0">
                <a:solidFill>
                  <a:srgbClr val="F5F7FA"/>
                </a:solidFill>
                <a:latin typeface="IBM Plex Sans" pitchFamily="34" charset="0"/>
                <a:ea typeface="IBM Plex Sans" pitchFamily="34" charset="-122"/>
                <a:cs typeface="IBM Plex Sans" pitchFamily="34" charset="-120"/>
              </a:rPr>
              <a:t>Results, code and evidence in one repository</a:t>
            </a:r>
            <a:endParaRPr lang="en-US" sz="4400" dirty="0"/>
          </a:p>
        </p:txBody>
      </p:sp>
      <p:sp>
        <p:nvSpPr>
          <p:cNvPr id="4" name="Text 2"/>
          <p:cNvSpPr/>
          <p:nvPr/>
        </p:nvSpPr>
        <p:spPr>
          <a:xfrm>
            <a:off x="812800" y="2776240"/>
            <a:ext cx="113792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4E3"/>
                </a:solidFill>
                <a:latin typeface="IBM Plex Sans" pitchFamily="34" charset="0"/>
                <a:ea typeface="IBM Plex Sans" pitchFamily="34" charset="-122"/>
                <a:cs typeface="IBM Plex Sans" pitchFamily="34" charset="-120"/>
              </a:rPr>
              <a:t>Selected NumPy pipeline · reported AIcrowd F1 0.455 · ranked 3rd on 14 October 2026, as reported by the author.</a:t>
            </a:r>
            <a:endParaRPr lang="en-US" sz="1600" dirty="0"/>
          </a:p>
        </p:txBody>
      </p:sp>
      <p:sp>
        <p:nvSpPr>
          <p:cNvPr id="5" name="Shape 3"/>
          <p:cNvSpPr/>
          <p:nvPr/>
        </p:nvSpPr>
        <p:spPr>
          <a:xfrm>
            <a:off x="815975" y="3452515"/>
            <a:ext cx="3380284" cy="1654770"/>
          </a:xfrm>
          <a:prstGeom prst="roundRect">
            <a:avLst>
              <a:gd name="adj" fmla="val 5948"/>
            </a:avLst>
          </a:prstGeom>
          <a:solidFill>
            <a:srgbClr val="1E3563"/>
          </a:solidFill>
          <a:ln w="6350">
            <a:solidFill>
              <a:srgbClr val="3A5388"/>
            </a:solidFill>
            <a:prstDash val="solid"/>
          </a:ln>
        </p:spPr>
      </p:sp>
      <p:sp>
        <p:nvSpPr>
          <p:cNvPr id="6" name="Text 4"/>
          <p:cNvSpPr/>
          <p:nvPr/>
        </p:nvSpPr>
        <p:spPr>
          <a:xfrm>
            <a:off x="996950" y="3633490"/>
            <a:ext cx="1447453" cy="289520"/>
          </a:xfrm>
          <a:custGeom>
            <a:avLst/>
            <a:gdLst/>
            <a:ahLst/>
            <a:cxnLst/>
            <a:rect l="l" t="t" r="r" b="b"/>
            <a:pathLst>
              <a:path w="1447453" h="289520">
                <a:moveTo>
                  <a:pt x="144760" y="0"/>
                </a:moveTo>
                <a:lnTo>
                  <a:pt x="1302693" y="0"/>
                </a:lnTo>
                <a:arcTo hR="144760" wR="144760" stAng="16200000" swAng="5400000"/>
                <a:lnTo>
                  <a:pt x="1447453" y="144760"/>
                </a:lnTo>
                <a:arcTo hR="144760" wR="144760" stAng="0" swAng="5400000"/>
                <a:lnTo>
                  <a:pt x="144760" y="289520"/>
                </a:lnTo>
                <a:arcTo hR="144760" wR="144760" stAng="5400000" swAng="5400000"/>
                <a:lnTo>
                  <a:pt x="0" y="144760"/>
                </a:lnTo>
                <a:arcTo hR="144760" wR="144760" stAng="10800000" swAng="5400000"/>
                <a:close/>
              </a:path>
            </a:pathLst>
          </a:custGeom>
          <a:solidFill>
            <a:srgbClr val="6FD6CC"/>
          </a:solidFill>
          <a:ln/>
        </p:spPr>
        <p:txBody>
          <a:bodyPr wrap="none" lIns="0" tIns="0" rIns="0" bIns="0" rtlCol="0" anchor="ctr">
            <a:normAutofit/>
          </a:bodyPr>
          <a:lstStyle/>
          <a:p>
            <a:pPr algn="ctr" indent="0" marL="0">
              <a:lnSpc>
                <a:spcPts val="1680"/>
              </a:lnSpc>
              <a:buNone/>
            </a:pPr>
            <a:r>
              <a:rPr lang="en-US" sz="1200" b="1" spc="100" kern="0" dirty="0">
                <a:solidFill>
                  <a:srgbClr val="14284B"/>
                </a:solidFill>
                <a:latin typeface="IBM Plex Sans" pitchFamily="34" charset="0"/>
                <a:ea typeface="IBM Plex Sans" pitchFamily="34" charset="-122"/>
                <a:cs typeface="IBM Plex Sans" pitchFamily="34" charset="-120"/>
              </a:rPr>
              <a:t>VERIFICATION</a:t>
            </a:r>
            <a:endParaRPr lang="en-US" sz="1200" dirty="0"/>
          </a:p>
        </p:txBody>
      </p:sp>
      <p:sp>
        <p:nvSpPr>
          <p:cNvPr id="7" name="Text 5"/>
          <p:cNvSpPr/>
          <p:nvPr/>
        </p:nvSpPr>
        <p:spPr>
          <a:xfrm>
            <a:off x="996950" y="4011910"/>
            <a:ext cx="3108884"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EEF5"/>
                </a:solidFill>
                <a:latin typeface="IBM Plex Sans" pitchFamily="34" charset="0"/>
                <a:ea typeface="IBM Plex Sans" pitchFamily="34" charset="-122"/>
                <a:cs typeface="IBM Plex Sans" pitchFamily="34" charset="-120"/>
              </a:rPr>
              <a:t>242 synthetic tests pass locally and in a clean package; the selected predictions replay exactly.</a:t>
            </a:r>
            <a:endParaRPr lang="en-US" sz="1200" dirty="0"/>
          </a:p>
        </p:txBody>
      </p:sp>
      <p:sp>
        <p:nvSpPr>
          <p:cNvPr id="8" name="Shape 6"/>
          <p:cNvSpPr/>
          <p:nvPr/>
        </p:nvSpPr>
        <p:spPr>
          <a:xfrm>
            <a:off x="4405809" y="3452515"/>
            <a:ext cx="3380333" cy="1654770"/>
          </a:xfrm>
          <a:prstGeom prst="roundRect">
            <a:avLst>
              <a:gd name="adj" fmla="val 5948"/>
            </a:avLst>
          </a:prstGeom>
          <a:solidFill>
            <a:srgbClr val="1E3563"/>
          </a:solidFill>
          <a:ln w="6350">
            <a:solidFill>
              <a:srgbClr val="3A5388"/>
            </a:solidFill>
            <a:prstDash val="solid"/>
          </a:ln>
        </p:spPr>
      </p:sp>
      <p:sp>
        <p:nvSpPr>
          <p:cNvPr id="9" name="Text 7"/>
          <p:cNvSpPr/>
          <p:nvPr/>
        </p:nvSpPr>
        <p:spPr>
          <a:xfrm>
            <a:off x="4586784" y="3633490"/>
            <a:ext cx="1242120" cy="289520"/>
          </a:xfrm>
          <a:custGeom>
            <a:avLst/>
            <a:gdLst/>
            <a:ahLst/>
            <a:cxnLst/>
            <a:rect l="l" t="t" r="r" b="b"/>
            <a:pathLst>
              <a:path w="1242120" h="289520">
                <a:moveTo>
                  <a:pt x="144760" y="0"/>
                </a:moveTo>
                <a:lnTo>
                  <a:pt x="1097359" y="0"/>
                </a:lnTo>
                <a:arcTo hR="144760" wR="144760" stAng="16200000" swAng="5400000"/>
                <a:lnTo>
                  <a:pt x="1242120" y="144760"/>
                </a:lnTo>
                <a:arcTo hR="144760" wR="144760" stAng="0" swAng="5400000"/>
                <a:lnTo>
                  <a:pt x="144760" y="289520"/>
                </a:lnTo>
                <a:arcTo hR="144760" wR="144760" stAng="5400000" swAng="5400000"/>
                <a:lnTo>
                  <a:pt x="0" y="144760"/>
                </a:lnTo>
                <a:arcTo hR="144760" wR="144760" stAng="10800000" swAng="5400000"/>
                <a:close/>
              </a:path>
            </a:pathLst>
          </a:custGeom>
          <a:solidFill>
            <a:srgbClr val="6FD6CC"/>
          </a:solidFill>
          <a:ln/>
        </p:spPr>
        <p:txBody>
          <a:bodyPr wrap="none" lIns="0" tIns="0" rIns="0" bIns="0" rtlCol="0" anchor="ctr">
            <a:normAutofit/>
          </a:bodyPr>
          <a:lstStyle/>
          <a:p>
            <a:pPr algn="ctr" indent="0" marL="0">
              <a:lnSpc>
                <a:spcPts val="1680"/>
              </a:lnSpc>
              <a:buNone/>
            </a:pPr>
            <a:r>
              <a:rPr lang="en-US" sz="1200" b="1" spc="100" kern="0" dirty="0">
                <a:solidFill>
                  <a:srgbClr val="14284B"/>
                </a:solidFill>
                <a:latin typeface="IBM Plex Sans" pitchFamily="34" charset="0"/>
                <a:ea typeface="IBM Plex Sans" pitchFamily="34" charset="-122"/>
                <a:cs typeface="IBM Plex Sans" pitchFamily="34" charset="-120"/>
              </a:rPr>
              <a:t>START HERE</a:t>
            </a:r>
            <a:endParaRPr lang="en-US" sz="1200" dirty="0"/>
          </a:p>
        </p:txBody>
      </p:sp>
      <p:sp>
        <p:nvSpPr>
          <p:cNvPr id="10" name="Text 8"/>
          <p:cNvSpPr/>
          <p:nvPr/>
        </p:nvSpPr>
        <p:spPr>
          <a:xfrm>
            <a:off x="4586784" y="4011910"/>
            <a:ext cx="3108935"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9EEF5"/>
                </a:solidFill>
                <a:latin typeface="IBM Plex Mono" pitchFamily="49" charset="0"/>
                <a:ea typeface="IBM Plex Mono" pitchFamily="49" charset="-122"/>
                <a:cs typeface="IBM Plex Mono" pitchFamily="49" charset="-120"/>
              </a:rPr>
              <a:t>docs/RESULTS.md</a:t>
            </a:r>
            <a:endParaRPr lang="en-US" sz="1200" dirty="0"/>
          </a:p>
          <a:p>
            <a:pPr algn="l" indent="0" marL="0">
              <a:lnSpc>
                <a:spcPts val="1800"/>
              </a:lnSpc>
              <a:buNone/>
            </a:pPr>
            <a:r>
              <a:rPr lang="en-US" sz="1200" dirty="0">
                <a:solidFill>
                  <a:srgbClr val="E9EEF5"/>
                </a:solidFill>
                <a:latin typeface="IBM Plex Mono" pitchFamily="49" charset="0"/>
                <a:ea typeface="IBM Plex Mono" pitchFamily="49" charset="-122"/>
                <a:cs typeface="IBM Plex Mono" pitchFamily="49" charset="-120"/>
              </a:rPr>
              <a:t>project/README.md</a:t>
            </a:r>
            <a:endParaRPr lang="en-US" sz="1200" dirty="0"/>
          </a:p>
          <a:p>
            <a:pPr algn="l" indent="0" marL="0">
              <a:lnSpc>
                <a:spcPts val="1800"/>
              </a:lnSpc>
              <a:buNone/>
            </a:pPr>
            <a:r>
              <a:rPr lang="en-US" sz="1200" dirty="0">
                <a:solidFill>
                  <a:srgbClr val="E9EEF5"/>
                </a:solidFill>
                <a:latin typeface="IBM Plex Mono" pitchFamily="49" charset="0"/>
                <a:ea typeface="IBM Plex Mono" pitchFamily="49" charset="-122"/>
                <a:cs typeface="IBM Plex Mono" pitchFamily="49" charset="-120"/>
              </a:rPr>
              <a:t>docs/CODE_REVIEW.md</a:t>
            </a:r>
            <a:endParaRPr lang="en-US" sz="1200" dirty="0"/>
          </a:p>
          <a:p>
            <a:pPr algn="l" indent="0" marL="0">
              <a:lnSpc>
                <a:spcPts val="1800"/>
              </a:lnSpc>
              <a:buNone/>
            </a:pPr>
            <a:r>
              <a:rPr lang="en-US" sz="1200" dirty="0">
                <a:solidFill>
                  <a:srgbClr val="E9EEF5"/>
                </a:solidFill>
                <a:latin typeface="IBM Plex Mono" pitchFamily="49" charset="0"/>
                <a:ea typeface="IBM Plex Mono" pitchFamily="49" charset="-122"/>
                <a:cs typeface="IBM Plex Mono" pitchFamily="49" charset="-120"/>
              </a:rPr>
              <a:t>evidence/</a:t>
            </a:r>
            <a:endParaRPr lang="en-US" sz="1200" dirty="0"/>
          </a:p>
        </p:txBody>
      </p:sp>
      <p:sp>
        <p:nvSpPr>
          <p:cNvPr id="11" name="Shape 9"/>
          <p:cNvSpPr/>
          <p:nvPr/>
        </p:nvSpPr>
        <p:spPr>
          <a:xfrm>
            <a:off x="7995692" y="3452515"/>
            <a:ext cx="3380333" cy="1654770"/>
          </a:xfrm>
          <a:prstGeom prst="roundRect">
            <a:avLst>
              <a:gd name="adj" fmla="val 5948"/>
            </a:avLst>
          </a:prstGeom>
          <a:solidFill>
            <a:srgbClr val="1E3563"/>
          </a:solidFill>
          <a:ln w="6350">
            <a:solidFill>
              <a:srgbClr val="3A5388"/>
            </a:solidFill>
            <a:prstDash val="solid"/>
          </a:ln>
        </p:spPr>
      </p:sp>
      <p:sp>
        <p:nvSpPr>
          <p:cNvPr id="12" name="Text 10"/>
          <p:cNvSpPr/>
          <p:nvPr/>
        </p:nvSpPr>
        <p:spPr>
          <a:xfrm>
            <a:off x="8176667" y="3633490"/>
            <a:ext cx="2087166" cy="289520"/>
          </a:xfrm>
          <a:custGeom>
            <a:avLst/>
            <a:gdLst/>
            <a:ahLst/>
            <a:cxnLst/>
            <a:rect l="l" t="t" r="r" b="b"/>
            <a:pathLst>
              <a:path w="2087166" h="289520">
                <a:moveTo>
                  <a:pt x="144760" y="0"/>
                </a:moveTo>
                <a:lnTo>
                  <a:pt x="1942405" y="0"/>
                </a:lnTo>
                <a:arcTo hR="144760" wR="144760" stAng="16200000" swAng="5400000"/>
                <a:lnTo>
                  <a:pt x="2087166" y="144760"/>
                </a:lnTo>
                <a:arcTo hR="144760" wR="144760" stAng="0" swAng="5400000"/>
                <a:lnTo>
                  <a:pt x="144760" y="289520"/>
                </a:lnTo>
                <a:arcTo hR="144760" wR="144760" stAng="5400000" swAng="5400000"/>
                <a:lnTo>
                  <a:pt x="0" y="144760"/>
                </a:lnTo>
                <a:arcTo hR="144760" wR="144760" stAng="10800000" swAng="5400000"/>
                <a:close/>
              </a:path>
            </a:pathLst>
          </a:custGeom>
          <a:solidFill>
            <a:srgbClr val="E8B48F"/>
          </a:solidFill>
          <a:ln/>
        </p:spPr>
        <p:txBody>
          <a:bodyPr wrap="none" lIns="0" tIns="0" rIns="0" bIns="0" rtlCol="0" anchor="ctr">
            <a:normAutofit/>
          </a:bodyPr>
          <a:lstStyle/>
          <a:p>
            <a:pPr algn="ctr" indent="0" marL="0">
              <a:lnSpc>
                <a:spcPts val="1680"/>
              </a:lnSpc>
              <a:buNone/>
            </a:pPr>
            <a:r>
              <a:rPr lang="en-US" sz="1200" b="1" spc="100" kern="0" dirty="0">
                <a:solidFill>
                  <a:srgbClr val="14284B"/>
                </a:solidFill>
                <a:latin typeface="IBM Plex Sans" pitchFamily="34" charset="0"/>
                <a:ea typeface="IBM Plex Sans" pitchFamily="34" charset="-122"/>
                <a:cs typeface="IBM Plex Sans" pitchFamily="34" charset="-120"/>
              </a:rPr>
              <a:t>PROPOSED NEXT STEP</a:t>
            </a:r>
            <a:endParaRPr lang="en-US" sz="1200" dirty="0"/>
          </a:p>
        </p:txBody>
      </p:sp>
      <p:sp>
        <p:nvSpPr>
          <p:cNvPr id="13" name="Text 11"/>
          <p:cNvSpPr/>
          <p:nvPr/>
        </p:nvSpPr>
        <p:spPr>
          <a:xfrm>
            <a:off x="8176667" y="4011910"/>
            <a:ext cx="3108935"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EEF5"/>
                </a:solidFill>
                <a:latin typeface="IBM Plex Sans" pitchFamily="34" charset="0"/>
                <a:ea typeface="IBM Plex Sans" pitchFamily="34" charset="-122"/>
                <a:cs typeface="IBM Plex Sans" pitchFamily="34" charset="-120"/>
              </a:rPr>
              <a:t>A nested estimate for the final pipeline, then a version without HAREHAB1 scored once on untouched data.</a:t>
            </a:r>
            <a:endParaRPr lang="en-US" sz="1200" dirty="0"/>
          </a:p>
        </p:txBody>
      </p:sp>
      <p:sp>
        <p:nvSpPr>
          <p:cNvPr id="14" name="Text 12"/>
          <p:cNvSpPr/>
          <p:nvPr/>
        </p:nvSpPr>
        <p:spPr>
          <a:xfrm>
            <a:off x="812800" y="5499150"/>
            <a:ext cx="10883392" cy="22349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C9D4E3"/>
                </a:solidFill>
                <a:latin typeface="IBM Plex Sans" pitchFamily="34" charset="0"/>
                <a:ea typeface="IBM Plex Sans" pitchFamily="34" charset="-122"/>
                <a:cs typeface="IBM Plex Sans" pitchFamily="34" charset="-120"/>
              </a:rPr>
              <a:t>Code, configurations, results and limitations</a:t>
            </a:r>
            <a:endParaRPr lang="en-US" sz="1200" dirty="0"/>
          </a:p>
        </p:txBody>
      </p:sp>
      <p:sp>
        <p:nvSpPr>
          <p:cNvPr id="15" name="Text 13"/>
          <p:cNvSpPr/>
          <p:nvPr/>
        </p:nvSpPr>
        <p:spPr>
          <a:xfrm>
            <a:off x="812800" y="5748040"/>
            <a:ext cx="10883392" cy="322560"/>
          </a:xfrm>
          <a:prstGeom prst="rect">
            <a:avLst/>
          </a:prstGeom>
          <a:noFill/>
          <a:ln/>
        </p:spPr>
        <p:txBody>
          <a:bodyPr wrap="none" lIns="0" tIns="0" rIns="0" bIns="0" rtlCol="0" anchor="t">
            <a:normAutofit/>
          </a:bodyPr>
          <a:lstStyle/>
          <a:p>
            <a:pPr algn="l" indent="0" marL="0">
              <a:lnSpc>
                <a:spcPts val="2340"/>
              </a:lnSpc>
              <a:buNone/>
            </a:pPr>
            <a:r>
              <a:rPr lang="en-US" sz="1800" u="sng" dirty="0">
                <a:solidFill>
                  <a:srgbClr val="6FD6CC"/>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github.com/antonio-arbizzani-tonelli/cardiovascular-classification-numpy</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AF0E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Appendix A · Selected release specification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912739"/>
          <a:ext cx="6718300" cy="2994124"/>
        </p:xfrm>
        <a:graphic>
          <a:graphicData uri="http://schemas.openxmlformats.org/drawingml/2006/table">
            <a:tbl>
              <a:tblPr/>
              <a:tblGrid>
                <a:gridCol w="3023235"/>
                <a:gridCol w="3695065"/>
              </a:tblGrid>
              <a:tr h="332680">
                <a:tc>
                  <a:txBody>
                    <a:bodyPr/>
                    <a:lstStyle/>
                    <a:p>
                      <a:pP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Setting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indent="0" marL="0">
                        <a:lnSpc>
                          <a:spcPts val="1680"/>
                        </a:lnSpc>
                        <a:buNone/>
                      </a:pPr>
                      <a:r>
                        <a:rPr lang="en-US" sz="1200" b="1" dirty="0">
                          <a:solidFill>
                            <a:srgbClr val="FCFDFB"/>
                          </a:solidFill>
                          <a:latin typeface="IBM Plex Sans" pitchFamily="34" charset="0"/>
                          <a:ea typeface="IBM Plex Sans" pitchFamily="34" charset="-122"/>
                          <a:cs typeface="IBM Plex Sans" pitchFamily="34" charset="-120"/>
                        </a:rPr>
                        <a:t>Selected value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Pipeline identifier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combined18_24_l2_1</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Repository phases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Phase 18 + Phase 24 + Phase 14 booster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Model input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289 source columns + 8 flags = 297</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Trees · depth · learning rate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200 · 5 · 0.05</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Leaf rows · bins · features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 200 · 64 · 128 per node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Leaf L2 · seed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1 · 20260920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Decision threshold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0.21811010373987366</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r h="332680">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Threshold calibration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c>
                  <a:txBody>
                    <a:bodyPr/>
                    <a:lstStyle/>
                    <a:p>
                      <a:pPr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3-fold full-train OOF, seed 20260919</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BBC0BF"/>
                      </a:solidFill>
                      <a:prstDash val="solid"/>
                      <a:round/>
                      <a:headEnd type="none" w="med" len="med"/>
                      <a:tailEnd type="none" w="med" len="med"/>
                    </a:lnB>
                  </a:tcPr>
                </a:tc>
              </a:tr>
            </a:tbl>
          </a:graphicData>
        </a:graphic>
      </p:graphicFrame>
      <p:sp>
        <p:nvSpPr>
          <p:cNvPr id="4" name="Shape 1"/>
          <p:cNvSpPr/>
          <p:nvPr/>
        </p:nvSpPr>
        <p:spPr>
          <a:xfrm>
            <a:off x="7750175" y="1903214"/>
            <a:ext cx="3625850" cy="3018631"/>
          </a:xfrm>
          <a:prstGeom prst="roundRect">
            <a:avLst>
              <a:gd name="adj" fmla="val 3261"/>
            </a:avLst>
          </a:prstGeom>
          <a:solidFill>
            <a:srgbClr val="FCFDFB"/>
          </a:solidFill>
          <a:ln w="6350">
            <a:solidFill>
              <a:srgbClr val="D3DCD9"/>
            </a:solidFill>
            <a:prstDash val="solid"/>
          </a:ln>
        </p:spPr>
      </p:sp>
      <p:sp>
        <p:nvSpPr>
          <p:cNvPr id="5" name="Text 2"/>
          <p:cNvSpPr/>
          <p:nvPr/>
        </p:nvSpPr>
        <p:spPr>
          <a:xfrm>
            <a:off x="7931150" y="2084189"/>
            <a:ext cx="3361817"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84B"/>
                </a:solidFill>
                <a:latin typeface="IBM Plex Sans" pitchFamily="34" charset="0"/>
                <a:ea typeface="IBM Plex Sans" pitchFamily="34" charset="-122"/>
                <a:cs typeface="IBM Plex Sans" pitchFamily="34" charset="-120"/>
              </a:rPr>
              <a:t>Reproduce from project/</a:t>
            </a:r>
            <a:endParaRPr lang="en-US" sz="1400" dirty="0"/>
          </a:p>
        </p:txBody>
      </p:sp>
      <p:sp>
        <p:nvSpPr>
          <p:cNvPr id="6" name="Text 3"/>
          <p:cNvSpPr/>
          <p:nvPr/>
        </p:nvSpPr>
        <p:spPr>
          <a:xfrm>
            <a:off x="7931150" y="2399109"/>
            <a:ext cx="3361817" cy="1625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0B6E70"/>
                </a:solidFill>
                <a:latin typeface="IBM Plex Mono" pitchFamily="49" charset="0"/>
                <a:ea typeface="IBM Plex Mono" pitchFamily="49" charset="-122"/>
                <a:cs typeface="IBM Plex Mono" pitchFamily="49" charset="-120"/>
              </a:rPr>
              <a:t>pip install -r requirements-dev.txt</a:t>
            </a:r>
            <a:endParaRPr lang="en-US" sz="1200" dirty="0"/>
          </a:p>
          <a:p>
            <a:pPr algn="l" indent="0" marL="0">
              <a:lnSpc>
                <a:spcPts val="1800"/>
              </a:lnSpc>
              <a:buNone/>
            </a:pPr>
            <a:r>
              <a:rPr lang="en-US" sz="1200" dirty="0">
                <a:solidFill>
                  <a:srgbClr val="0B6E70"/>
                </a:solidFill>
                <a:latin typeface="IBM Plex Mono" pitchFamily="49" charset="0"/>
                <a:ea typeface="IBM Plex Mono" pitchFamily="49" charset="-122"/>
                <a:cs typeface="IBM Plex Mono" pitchFamily="49" charset="-120"/>
              </a:rPr>
              <a:t>python -m tools.verify_repository</a:t>
            </a:r>
            <a:endParaRPr lang="en-US" sz="1200" dirty="0"/>
          </a:p>
          <a:p>
            <a:pPr algn="l" indent="0" marL="0">
              <a:lnSpc>
                <a:spcPts val="1800"/>
              </a:lnSpc>
              <a:buNone/>
            </a:pPr>
            <a:r>
              <a:rPr lang="en-US" sz="1200" dirty="0">
                <a:solidFill>
                  <a:srgbClr val="0B6E70"/>
                </a:solidFill>
                <a:latin typeface="IBM Plex Mono" pitchFamily="49" charset="0"/>
                <a:ea typeface="IBM Plex Mono" pitchFamily="49" charset="-122"/>
                <a:cs typeface="IBM Plex Mono" pitchFamily="49" charset="-120"/>
              </a:rPr>
              <a:t>python -m unittest discover</a:t>
            </a:r>
            <a:endParaRPr lang="en-US" sz="1200" dirty="0"/>
          </a:p>
          <a:p>
            <a:pPr algn="l" indent="0" marL="0">
              <a:lnSpc>
                <a:spcPts val="1800"/>
              </a:lnSpc>
              <a:buNone/>
            </a:pPr>
            <a:r>
              <a:rPr lang="en-US" sz="1200" dirty="0">
                <a:solidFill>
                  <a:srgbClr val="0B6E70"/>
                </a:solidFill>
                <a:latin typeface="IBM Plex Mono" pitchFamily="49" charset="0"/>
                <a:ea typeface="IBM Plex Mono" pitchFamily="49" charset="-122"/>
                <a:cs typeface="IBM Plex Mono" pitchFamily="49" charset="-120"/>
              </a:rPr>
              <a:t>-s tests -q</a:t>
            </a:r>
            <a:endParaRPr lang="en-US" sz="1200" dirty="0"/>
          </a:p>
          <a:p>
            <a:pPr algn="l" indent="0" marL="0">
              <a:lnSpc>
                <a:spcPts val="1800"/>
              </a:lnSpc>
              <a:buNone/>
            </a:pPr>
            <a:r>
              <a:rPr lang="en-US" sz="1200" dirty="0">
                <a:solidFill>
                  <a:srgbClr val="0B6E70"/>
                </a:solidFill>
                <a:latin typeface="IBM Plex Mono" pitchFamily="49" charset="0"/>
                <a:ea typeface="IBM Plex Mono" pitchFamily="49" charset="-122"/>
                <a:cs typeface="IBM Plex Mono" pitchFamily="49" charset="-120"/>
              </a:rPr>
              <a:t>python run.py</a:t>
            </a:r>
            <a:endParaRPr lang="en-US" sz="1200" dirty="0"/>
          </a:p>
          <a:p>
            <a:pPr algn="l" indent="0" marL="0">
              <a:lnSpc>
                <a:spcPts val="1800"/>
              </a:lnSpc>
              <a:buNone/>
            </a:pPr>
            <a:r>
              <a:rPr lang="en-US" sz="1200" dirty="0">
                <a:solidFill>
                  <a:srgbClr val="0B6E70"/>
                </a:solidFill>
                <a:latin typeface="IBM Plex Mono" pitchFamily="49" charset="0"/>
                <a:ea typeface="IBM Plex Mono" pitchFamily="49" charset="-122"/>
                <a:cs typeface="IBM Plex Mono" pitchFamily="49" charset="-120"/>
              </a:rPr>
              <a:t>--data-dir data/raw/dataset</a:t>
            </a:r>
            <a:endParaRPr lang="en-US" sz="1200" dirty="0"/>
          </a:p>
          <a:p>
            <a:pPr algn="l" indent="0" marL="0">
              <a:lnSpc>
                <a:spcPts val="1800"/>
              </a:lnSpc>
              <a:buNone/>
            </a:pPr>
            <a:r>
              <a:rPr lang="en-US" sz="1200" dirty="0">
                <a:solidFill>
                  <a:srgbClr val="0B6E70"/>
                </a:solidFill>
                <a:latin typeface="IBM Plex Mono" pitchFamily="49" charset="0"/>
                <a:ea typeface="IBM Plex Mono" pitchFamily="49" charset="-122"/>
                <a:cs typeface="IBM Plex Mono" pitchFamily="49" charset="-120"/>
              </a:rPr>
              <a:t>--output submission.csv</a:t>
            </a:r>
            <a:endParaRPr lang="en-US" sz="1200" dirty="0"/>
          </a:p>
        </p:txBody>
      </p:sp>
      <p:sp>
        <p:nvSpPr>
          <p:cNvPr id="7" name="Text 4"/>
          <p:cNvSpPr/>
          <p:nvPr/>
        </p:nvSpPr>
        <p:spPr>
          <a:xfrm>
            <a:off x="7931150" y="4100909"/>
            <a:ext cx="3361817"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4435C"/>
                </a:solidFill>
                <a:latin typeface="IBM Plex Sans" pitchFamily="34" charset="0"/>
                <a:ea typeface="IBM Plex Sans" pitchFamily="34" charset="-122"/>
                <a:cs typeface="IBM Plex Sans" pitchFamily="34" charset="-120"/>
              </a:rPr>
              <a:t>Training needs the official challenge CSVs. Data, checkpoints and row-level predictions stay outside Git.</a:t>
            </a:r>
            <a:endParaRPr lang="en-US" sz="1200" dirty="0"/>
          </a:p>
        </p:txBody>
      </p:sp>
      <p:sp>
        <p:nvSpPr>
          <p:cNvPr id="8" name="Text 5"/>
          <p:cNvSpPr/>
          <p:nvPr/>
        </p:nvSpPr>
        <p:spPr>
          <a:xfrm>
            <a:off x="812800" y="559311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6678"/>
                </a:solidFill>
                <a:latin typeface="IBM Plex Sans" pitchFamily="34" charset="0"/>
                <a:ea typeface="IBM Plex Sans" pitchFamily="34" charset="-122"/>
                <a:cs typeface="IBM Plex Sans" pitchFamily="34" charset="-120"/>
              </a:rPr>
              <a:t>The booster source is preserved byte-identical for replay; preprocessing and threshold identify the new pipeline.</a:t>
            </a:r>
            <a:endParaRPr lang="en-US" sz="1400" dirty="0"/>
          </a:p>
        </p:txBody>
      </p:sp>
      <p:sp>
        <p:nvSpPr>
          <p:cNvPr id="9" name="Text 6"/>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Source: project/configs/final_model.json, project/README.md</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A1</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5"/>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4284B"/>
                </a:solidFill>
                <a:latin typeface="IBM Plex Sans" pitchFamily="34" charset="0"/>
                <a:ea typeface="IBM Plex Sans" pitchFamily="34" charset="-122"/>
                <a:cs typeface="IBM Plex Sans" pitchFamily="34" charset="-120"/>
              </a:rPr>
              <a:t>Appendix B · Metrics and release scores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15728"/>
          <a:ext cx="10553700" cy="2702074"/>
        </p:xfrm>
        <a:graphic>
          <a:graphicData uri="http://schemas.openxmlformats.org/drawingml/2006/table">
            <a:tbl>
              <a:tblPr/>
              <a:tblGrid>
                <a:gridCol w="3799332"/>
                <a:gridCol w="1688592"/>
                <a:gridCol w="1688592"/>
                <a:gridCol w="1688592"/>
                <a:gridCol w="1688592"/>
              </a:tblGrid>
              <a:tr h="386011">
                <a:tc>
                  <a:txBody>
                    <a:bodyPr/>
                    <a:lstStyle/>
                    <a:p>
                      <a:pPr indent="0" marL="0">
                        <a:lnSpc>
                          <a:spcPts val="1960"/>
                        </a:lnSpc>
                        <a:buNone/>
                      </a:pPr>
                      <a:r>
                        <a:rPr lang="en-US" sz="1400" b="1" dirty="0">
                          <a:solidFill>
                            <a:srgbClr val="FCFDFB"/>
                          </a:solidFill>
                          <a:latin typeface="IBM Plex Sans" pitchFamily="34" charset="0"/>
                          <a:ea typeface="IBM Plex Sans" pitchFamily="34" charset="-122"/>
                          <a:cs typeface="IBM Plex Sans" pitchFamily="34" charset="-120"/>
                        </a:rPr>
                        <a:t>Historical pipeline (nested)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960"/>
                        </a:lnSpc>
                        <a:buNone/>
                      </a:pPr>
                      <a:r>
                        <a:rPr lang="en-US" sz="1400" b="1" dirty="0">
                          <a:solidFill>
                            <a:srgbClr val="FCFDFB"/>
                          </a:solidFill>
                          <a:latin typeface="IBM Plex Sans" pitchFamily="34" charset="0"/>
                          <a:ea typeface="IBM Plex Sans" pitchFamily="34" charset="-122"/>
                          <a:cs typeface="IBM Plex Sans" pitchFamily="34" charset="-120"/>
                        </a:rPr>
                        <a:t>F1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960"/>
                        </a:lnSpc>
                        <a:buNone/>
                      </a:pPr>
                      <a:r>
                        <a:rPr lang="en-US" sz="1400" b="1" dirty="0">
                          <a:solidFill>
                            <a:srgbClr val="FCFDFB"/>
                          </a:solidFill>
                          <a:latin typeface="IBM Plex Sans" pitchFamily="34" charset="0"/>
                          <a:ea typeface="IBM Plex Sans" pitchFamily="34" charset="-122"/>
                          <a:cs typeface="IBM Plex Sans" pitchFamily="34" charset="-120"/>
                        </a:rPr>
                        <a:t>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960"/>
                        </a:lnSpc>
                        <a:buNone/>
                      </a:pPr>
                      <a:r>
                        <a:rPr lang="en-US" sz="1400" b="1" dirty="0">
                          <a:solidFill>
                            <a:srgbClr val="FCFDFB"/>
                          </a:solidFill>
                          <a:latin typeface="IBM Plex Sans" pitchFamily="34" charset="0"/>
                          <a:ea typeface="IBM Plex Sans" pitchFamily="34" charset="-122"/>
                          <a:cs typeface="IBM Plex Sans" pitchFamily="34" charset="-120"/>
                        </a:rPr>
                        <a:t>Recall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c>
                  <a:txBody>
                    <a:bodyPr/>
                    <a:lstStyle/>
                    <a:p>
                      <a:pPr algn="r" indent="0" marL="0">
                        <a:lnSpc>
                          <a:spcPts val="1960"/>
                        </a:lnSpc>
                        <a:buNone/>
                      </a:pPr>
                      <a:r>
                        <a:rPr lang="en-US" sz="1400" b="1" dirty="0">
                          <a:solidFill>
                            <a:srgbClr val="FCFDFB"/>
                          </a:solidFill>
                          <a:latin typeface="IBM Plex Sans" pitchFamily="34" charset="0"/>
                          <a:ea typeface="IBM Plex Sans" pitchFamily="34" charset="-122"/>
                          <a:cs typeface="IBM Plex Sans" pitchFamily="34" charset="-120"/>
                        </a:rPr>
                        <a:t>AP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243F"/>
                      </a:solidFill>
                      <a:prstDash val="solid"/>
                      <a:round/>
                      <a:headEnd type="none" w="med" len="med"/>
                      <a:tailEnd type="none" w="med" len="med"/>
                    </a:lnL>
                    <a:lnR w="12700" cap="flat" cmpd="sng" algn="ctr">
                      <a:solidFill>
                        <a:srgbClr val="14243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14243F"/>
                      </a:solidFill>
                      <a:prstDash val="solid"/>
                      <a:round/>
                      <a:headEnd type="none" w="med" len="med"/>
                      <a:tailEnd type="none" w="med" len="med"/>
                    </a:lnB>
                    <a:solidFill>
                      <a:srgbClr val="14284B"/>
                    </a:solidFill>
                  </a:tcPr>
                </a:tc>
              </a:tr>
              <a:tr h="386011">
                <a:tc>
                  <a:txBody>
                    <a:bodyPr/>
                    <a:lstStyle/>
                    <a:p>
                      <a:pP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Ridge, earlier pipeline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0.4195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0.3330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0.5667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0.3903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14243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Logistic, earlier pipeline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0.4256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0.3573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0.5263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0.3877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Logistic, matched cleaning</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0.4345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0.3675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0.5312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0.4210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Booster, historical reference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BBC0BF"/>
                      </a:solidFill>
                      <a:prstDash val="solid"/>
                      <a:round/>
                      <a:headEnd type="none" w="med" len="med"/>
                      <a:tailEnd type="none" w="med" len="med"/>
                    </a:lnB>
                    <a:solidFill>
                      <a:srgbClr val="EAF0EF"/>
                    </a:solidFill>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0.4422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BBC0BF"/>
                      </a:solidFill>
                      <a:prstDash val="solid"/>
                      <a:round/>
                      <a:headEnd type="none" w="med" len="med"/>
                      <a:tailEnd type="none" w="med" len="med"/>
                    </a:lnB>
                    <a:solidFill>
                      <a:srgbClr val="EAF0EF"/>
                    </a:solidFill>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0.3676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BBC0BF"/>
                      </a:solidFill>
                      <a:prstDash val="solid"/>
                      <a:round/>
                      <a:headEnd type="none" w="med" len="med"/>
                      <a:tailEnd type="none" w="med" len="med"/>
                    </a:lnB>
                    <a:solidFill>
                      <a:srgbClr val="EAF0EF"/>
                    </a:solidFill>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0.5546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BBC0BF"/>
                      </a:solidFill>
                      <a:prstDash val="solid"/>
                      <a:round/>
                      <a:headEnd type="none" w="med" len="med"/>
                      <a:tailEnd type="none" w="med" len="med"/>
                    </a:lnB>
                    <a:solidFill>
                      <a:srgbClr val="EAF0EF"/>
                    </a:solidFill>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0.4286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BC0BF"/>
                      </a:solidFill>
                      <a:prstDash val="solid"/>
                      <a:round/>
                      <a:headEnd type="none" w="med" len="med"/>
                      <a:tailEnd type="none" w="med" len="med"/>
                    </a:lnL>
                    <a:lnR w="12700" cap="flat" cmpd="sng" algn="ctr">
                      <a:solidFill>
                        <a:srgbClr val="BBC0BF"/>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BBC0BF"/>
                      </a:solidFill>
                      <a:prstDash val="solid"/>
                      <a:round/>
                      <a:headEnd type="none" w="med" len="med"/>
                      <a:tailEnd type="none" w="med" len="med"/>
                    </a:lnB>
                    <a:solidFill>
                      <a:srgbClr val="EAF0EF"/>
                    </a:solidFill>
                  </a:tcPr>
                </a:tc>
              </a:tr>
              <a:tr h="386011">
                <a:tc>
                  <a:txBody>
                    <a:bodyPr/>
                    <a:lstStyle/>
                    <a:p>
                      <a:pP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MLP 64 → 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0.4245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0.3607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0.5155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0.3878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BBC0BF"/>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MLP 128 → 64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0.4193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0.3400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0.5467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c>
                  <a:txBody>
                    <a:bodyPr/>
                    <a:lstStyle/>
                    <a:p>
                      <a:pPr algn="r" indent="0" marL="0">
                        <a:lnSpc>
                          <a:spcPts val="1960"/>
                        </a:lnSpc>
                        <a:buNone/>
                      </a:pPr>
                      <a:r>
                        <a:rPr lang="en-US" sz="1400" dirty="0">
                          <a:solidFill>
                            <a:srgbClr val="34435C"/>
                          </a:solidFill>
                          <a:latin typeface="IBM Plex Sans" pitchFamily="34" charset="0"/>
                          <a:ea typeface="IBM Plex Sans" pitchFamily="34" charset="-122"/>
                          <a:cs typeface="IBM Plex Sans" pitchFamily="34" charset="-120"/>
                        </a:rPr>
                        <a:t>0.3794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6C3"/>
                      </a:solidFill>
                      <a:prstDash val="solid"/>
                      <a:round/>
                      <a:headEnd type="none" w="med" len="med"/>
                      <a:tailEnd type="none" w="med" len="med"/>
                    </a:lnL>
                    <a:lnR w="12700" cap="flat" cmpd="sng" algn="ctr">
                      <a:solidFill>
                        <a:srgbClr val="C5C6C3"/>
                      </a:solidFill>
                      <a:prstDash val="solid"/>
                      <a:round/>
                      <a:headEnd type="none" w="med" len="med"/>
                      <a:tailEnd type="none" w="med" len="med"/>
                    </a:lnR>
                    <a:lnT w="12700" cap="flat" cmpd="sng" algn="ctr">
                      <a:solidFill>
                        <a:srgbClr val="C5C6C3"/>
                      </a:solidFill>
                      <a:prstDash val="solid"/>
                      <a:round/>
                      <a:headEnd type="none" w="med" len="med"/>
                      <a:tailEnd type="none" w="med" len="med"/>
                    </a:lnT>
                    <a:lnB w="12700" cap="flat" cmpd="sng" algn="ctr">
                      <a:solidFill>
                        <a:srgbClr val="C5C6C3"/>
                      </a:solidFill>
                      <a:prstDash val="solid"/>
                      <a:round/>
                      <a:headEnd type="none" w="med" len="med"/>
                      <a:tailEnd type="none" w="med" len="med"/>
                    </a:lnB>
                  </a:tcPr>
                </a:tc>
              </a:tr>
            </a:tbl>
          </a:graphicData>
        </a:graphic>
      </p:graphicFrame>
      <p:sp>
        <p:nvSpPr>
          <p:cNvPr id="4" name="Shape 1"/>
          <p:cNvSpPr/>
          <p:nvPr/>
        </p:nvSpPr>
        <p:spPr>
          <a:xfrm>
            <a:off x="812800" y="4688929"/>
            <a:ext cx="10566400" cy="1153071"/>
          </a:xfrm>
          <a:prstGeom prst="roundRect">
            <a:avLst>
              <a:gd name="adj" fmla="val 8811"/>
            </a:avLst>
          </a:prstGeom>
          <a:solidFill>
            <a:srgbClr val="CFE8E5"/>
          </a:solidFill>
          <a:ln/>
        </p:spPr>
      </p:sp>
      <p:sp>
        <p:nvSpPr>
          <p:cNvPr id="5" name="Text 2"/>
          <p:cNvSpPr/>
          <p:nvPr/>
        </p:nvSpPr>
        <p:spPr>
          <a:xfrm>
            <a:off x="990600" y="4866729"/>
            <a:ext cx="10517124"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34435C"/>
                </a:solidFill>
                <a:latin typeface="IBM Plex Sans" pitchFamily="34" charset="0"/>
                <a:ea typeface="IBM Plex Sans" pitchFamily="34" charset="-122"/>
                <a:cs typeface="IBM Plex Sans" pitchFamily="34" charset="-120"/>
              </a:rPr>
              <a:t>Selected release (combined pipeline):</a:t>
            </a:r>
            <a:r>
              <a:rPr lang="en-US" sz="1400" dirty="0">
                <a:solidFill>
                  <a:srgbClr val="34435C"/>
                </a:solidFill>
                <a:latin typeface="IBM Plex Sans" pitchFamily="34" charset="0"/>
                <a:ea typeface="IBM Plex Sans" pitchFamily="34" charset="-122"/>
                <a:cs typeface="IBM Plex Sans" pitchFamily="34" charset="-120"/>
              </a:rPr>
              <a:t> OOF calibration F1 0.4439 · AIcrowd F1 0.455, accuracy 0.882 · ranked 3rd on 14 October 2026 (author-reported, not independently verified).</a:t>
            </a:r>
            <a:endParaRPr lang="en-US" sz="1400" dirty="0"/>
          </a:p>
        </p:txBody>
      </p:sp>
      <p:sp>
        <p:nvSpPr>
          <p:cNvPr id="6" name="Text 3"/>
          <p:cNvSpPr/>
          <p:nvPr/>
        </p:nvSpPr>
        <p:spPr>
          <a:xfrm>
            <a:off x="990600" y="5415310"/>
            <a:ext cx="10517124"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34E12"/>
                </a:solidFill>
                <a:latin typeface="IBM Plex Sans" pitchFamily="34" charset="0"/>
                <a:ea typeface="IBM Plex Sans" pitchFamily="34" charset="-122"/>
                <a:cs typeface="IBM Plex Sans" pitchFamily="34" charset="-120"/>
              </a:rPr>
              <a:t>No nested held-out estimate is recorded for the combined pipeline, so it is not listed in the table.</a:t>
            </a:r>
            <a:endParaRPr lang="en-US" sz="1400" dirty="0"/>
          </a:p>
        </p:txBody>
      </p:sp>
      <p:sp>
        <p:nvSpPr>
          <p:cNvPr id="7" name="Text 4"/>
          <p:cNvSpPr/>
          <p:nvPr/>
        </p:nvSpPr>
        <p:spPr>
          <a:xfrm>
            <a:off x="812800" y="6238280"/>
            <a:ext cx="8502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Nested development: 262,508 rows, 3 outer / 2 inner folds. AP = average precision. Source: evidence/METRICS.json</a:t>
            </a:r>
            <a:endParaRPr lang="en-US" sz="1200" dirty="0"/>
          </a:p>
        </p:txBody>
      </p:sp>
      <p:sp>
        <p:nvSpPr>
          <p:cNvPr id="8" name="Text 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B6678"/>
                </a:solidFill>
                <a:latin typeface="IBM Plex Sans" pitchFamily="34" charset="0"/>
                <a:ea typeface="IBM Plex Sans" pitchFamily="34" charset="-122"/>
                <a:cs typeface="IBM Plex Sans" pitchFamily="34" charset="-120"/>
              </a:rPr>
              <a:t>A2</a:t>
            </a:r>
            <a:endParaRPr lang="en-US" sz="1200" dirty="0"/>
          </a:p>
        </p:txBody>
      </p:sp>
    </p:spTree>
  </p:cSld>
  <p:clrMapOvr>
    <a:masterClrMapping/>
  </p:clrMapOvr>
</p:sld>
</file>

<file path=ppt/theme/theme1.xml><?xml version="1.0" encoding="utf-8"?>
<a:theme xmlns:a="http://schemas.openxmlformats.org/drawingml/2006/main" name="Cardiovascular Disease Classification in NumPy">
  <a:themeElements>
    <a:clrScheme name="Cardiovascular Disease Classification in NumPy">
      <a:dk1>
        <a:srgbClr val="5B6678"/>
      </a:dk1>
      <a:lt1>
        <a:srgbClr val="F7F8F5"/>
      </a:lt1>
      <a:dk2>
        <a:srgbClr val="828B97"/>
      </a:dk2>
      <a:lt2>
        <a:srgbClr val="E7E9E9"/>
      </a:lt2>
      <a:accent1>
        <a:srgbClr val="14284B"/>
      </a:accent1>
      <a:accent2>
        <a:srgbClr val="34435C"/>
      </a:accent2>
      <a:accent3>
        <a:srgbClr val="0B6E70"/>
      </a:accent3>
      <a:accent4>
        <a:srgbClr val="6FD6CC"/>
      </a:accent4>
      <a:accent5>
        <a:srgbClr val="1E3563"/>
      </a:accent5>
      <a:accent6>
        <a:srgbClr val="B34E12"/>
      </a:accent6>
      <a:hlink>
        <a:srgbClr val="0563C1"/>
      </a:hlink>
      <a:folHlink>
        <a:srgbClr val="954F72"/>
      </a:folHlink>
    </a:clrScheme>
    <a:fontScheme name="Cardiovascular Disease Classification in NumPy">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Cardiovascular Disease Classification in NumPy</dc:title>
  <dc:subject/>
  <dc:creator/>
  <cp:lastModifiedBy/>
  <cp:revision>1</cp:revision>
  <dcterms:created xsi:type="dcterms:W3CDTF">2026-10-14T01:57:18Z</dcterms:created>
  <dcterms:modified xsi:type="dcterms:W3CDTF">2026-10-14T01:57:18Z</dcterms:modified>
</cp:coreProperties>
</file>