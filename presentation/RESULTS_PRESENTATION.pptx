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line: AIcrowd F1 0.455 (accuracy 0.882) is the author-reported display score of the final submission, recorded on 13 October 2026. The 3rd place is the author-reported leaderboard position of user anto_arbi on 14 October 2026: a dated snapshot, not a final placing; the public leaderboard link lets readers check it. The task is survey classification: the label is a reported diagnosis in a cross-sectional survey, not a future event. Dataset: challenge extract with 328,135 labeled respondents, 321 predictors and 109,379 unlabeled test respondents. The course context is secondary; the slide should be understandable without it. Sources: evidence/METRICS.json (dataset), project/results/eda/dataset_audit.json, project/docs/DATA.md (task and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counts: 28,975 positives and 299,160 negatives (positive fraction 0.0883). Missing cells: 47,175,779, i.e. 44.79% of the raw training predictor matrix; this has a different denominator from the class prevalence, so the two are shown separately. The all-negative accuracy is the complement of the positive fraction, computed on the training labels; it is not an AIcrowd result. Sources: evidence/METRICS.json (dataset), project/results/eda/dataset_audit.json, project/docs/DATA.md (measured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ALCDAY5 = 888 means no alcohol consumption and becomes 0; PHYSHLTH = 88 means zero physically unhealthy days and becomes 0; documented unknown or refused codes become NaN. The historical cleaning audit mapped 1,095,421 nonresponse codes to missing and 899,687 zero-quantity codes to zero across 262,508 development rows and 295 retained columns. Sources: project/configs/experiments/phase14_codebook_corrections_only.json (preprocessing overrides); project/results/eda/phase33_preprocessing_counts.json (counts and scope); project/src/feature_preprocessing.py (tree_feature_matrices); project/official_material/project1/brfss_2015_codebook.txt.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Excluded raw diet fields: FRUITJU1, FRUIT1, FVBEANS, FVGREEN, FVORANG, VEGETAB1; the derived daily-frequency counterparts already present in the data (FTJUDA1_, FRUTDA1_, BEANDAY_, GRENDAY_, ORNGDAY_, VEGEDA1_) are kept. Restricted filling: unknown/refused answers of INCOME2, PNEUVAC3 and EMPLOY1 with feature-only conditional naive Bayes; blank HTM4 / WTKG3 with anchor-bin ridge models; missing BMI derived from completed height and weight. Imputers learn from the corresponding training partition only, without target labels. Model input: 289 source columns + 8 original missing-state flags = 297 transformed features. Repository identifiers: diet exclusions = Phase 18; restricted imputation = Phase 24. Sources: project/configs/final_model.json (preprocessing); project/configs/experiments/combined18_24_preprocessing.json (variants[0].preprocessing); project/src/conditional_imputation.py (impute_tree_pair); project/docs/DATA.md (selected final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frozen booster (HistogramBinner, _NewtonTree, HistogramGradientBoostingClassifier) learns up to 64 quantile bins per feature from training rows, fits Newton trees on the logistic loss and adds their outputs with learning rate 0.05; 200 trees, maximum depth 5. A respondent is positive when the predicted probability is at or above the saved threshold 0.21811010373987366. The historical source can skip some split candidates that separate observed values from missing responses; the corrected search (repository Phase 34) was evaluated separately and is summarized in Appendix B2. The final pipeline does not include that correction. Sources: project/src/numpy_boosting_phase14.py; project/configs/final_model.json (model, implementation, source hash); project/docs/FINAL_REPORT.md (split-search comparison); project/results/eda/phase34_missing_only_split_summary.md.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Per-fold nested F1, matched logistic vs reference booster: fold 1 0.434666 vs 0.439027 (+0.004361); fold 2 0.433678 vs 0.444054 (+0.010376); fold 3 0.435014 vs 0.443512 (+0.008498); pooled 0.434467 vs 0.442155 (+0.007689). The booster is higher in all three outer folds. Paired 95% interval [+0.004919, +0.010463] from a class-stratified paired bootstrap (20,000 resamples) holding fitted models, folds and thresholds fixed, so it excludes retraining and repeated-selection uncertainty. Matched logistic regression (repository Phase 38): same 262,508 development rows, exact codebook cleaning, 295 source columns and 3 outer / 2 inner folds as the historical booster (Phase 14); training mode or median fill, z-scores, one missingness flag per source, intercept; NumPy L-BFGS with L2 1e-4 fixed in advance; all nine fits converged. Full model table in Appendix B1. Sources: project/results/eda/phase38_matched_logistic_summary.md; project/results/eda/phase38_matched_logistic_verification.json; assets/chart_data/model_comparison.csv.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nested evaluation: 262,508 development rows, three outer folds and two inner folds; each threshold is selected from inner out-of-fold probabilities, then fixed before the excluded outer fold is scored. Final decision-threshold calibration: three new stratified folds produce OOF probabilities covering all 328,135 labeled rows (fold seed 20260919); the threshold 0.21811010373987366 maximizes F1 on the pooled OOF probabilities, with accuracy breaking ties; the final fit uses all labeled rows. The same pooled labels select and describe the threshold, so calibration F1 0.443882 is optimistic and not a test score. Sources: project/configs/experiments/final_phase14_validation.json; historical record results/experiments/20260921T105139261213Z_phase14-boosting-codebook-corrections-only-depth5-features128-200trees.json (outcome.nested_threshold_evaluation); project/results/eda/final_combined18_24_submission.json (threshold, calibration_metrics, nested status); project/configs/final_model.json (threshold_source,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rule: the final combination had the highest displayed AIcrowd F1 among completed candidates with recorded feedback at the 14 October 2026 release. The rows are individual variants of the historical reference ("only"), not a cumulative sequence; the table does not imply a controlled causal progression. The local nested values in the panel are historical results for the individual variants: diet representation (Phase 18) F1 0.441862 and restricted imputation (Phase 24) F1 0.441791, against the reference 0.442155; no nested estimate exists for the combination. Repository identifiers: historical reference = Phase 14; leaf L2 = 5 = Phase 25; selected = combined18_24_l2_1. Sources: assets/chart_data/aicrowd_progression.csv; evidence/aicrowd/candidates_feedback_20261013.json (variant scores and CSV hashes); evidence/aicrowd/combined_feedback_20261013.json; project/results/eda/final_combined18_24_submission.json (selection_reason, selection_limits); docs/RESULTS.md.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HAREHAB1 records outpatient rehabilitation after a heart attack, asked conditional on a heart-attack response, and remains in the final pipeline. All 620 historical development respondents with a recorded code are positive (0.24% of the 262,508 rows). Historical ablation (repository Phase 15): removing the feature reduced nested F1 from 0.442155 to 0.431039. Neither threshold nesting nor the challenge score removes model-selection optimism: development folds and AIcrowd feedback were consulted repeatedly, and early baselines also consulted the original 65,627-row local validation partition. Sources: project/configs/feature_metadata.json (HAREHAB1); evidence/METRICS.json (temporal_proxy, evaluation.limits); results/experiments/20260921T154905753681Z_phase15-boosting-ablate-harehab1-depth5-features128-200trees.json; project/docs/FINAL_REPORT.md (HAREHAB1).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commands from project/ after installing the documented environment (requirements-dev.txt) and placing the official challenge CSVs in project/data/raw/dataset/. The entry point (run.py, run_pipeline) fits all labeled rows and applies the threshold in project/configs/final_model.json. Repository checks without data: python -m tools.verify_repository and python -m unittest discover -s tests -q. Verification is dated: on 14 October 2026 the release record reports 242 synthetic project tests and exact replay of the selected predictions (maximum probability difference 0.0); these are not new training results. Rank is author-reported, dated 14 October 2026, not independently verified and not a final placing; the leaderboard link is context, not proof. Sources: project/README.md; project/run.py; project/results/eda/final_combined18_24_submission.json (prediction counts); evidence/RELEASE_20261014.json (rank provenance); evidence/VERIFICATION.json (project_tests, selected_replay).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 booster source SHA-256: 6fede57915b07a6ea7675292833f8ad79269e665f09977bffd2a9562ce1aaf98 (src/numpy_boosting_phase14.py). The threshold maximizes F1 on pooled three-fold full-training OOF probabilities over all 328,135 labeled rows (fold seed 20260919), with accuracy breaking F1 ties. Selected submission CSV SHA-256: 1e4817ab85020156f579ab33fc5384c8aecd24fd8453ce6e37a3dcc094a45854. Sources: project/configs/final_model.json (model, threshold_source); project/configs/experiments/combined18_24_preprocessing.json; project/results/eda/final_combined18_24_submission.json (threshold, implementation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to six decimals from assets/chart_data/model_comparison.csv and docs/RESULTS.md. Repository identifiers: reference booster = Phase 14; corrected split search = Phase 34; matched logistic regression = Phase 38; MLPs = Phase 32. Matched logistic shares the reference booster's codebook cleaning, source variables and folds but has its own filling, missingness flags, scaling and optimizer, so rows compare complete pipelines. The final pipeline keeps the historical (uncorrected) search. Sources: assets/chart_data/model_comparison.csv; evidence/METRICS.json (model_results, phase34, matched_logistic_comparison).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and exclusions (repository Phase 33): raw-input booster F1 0.441457 vs 0.442155 after cleaning and exclusions; difference +0.000698, paired 95% interval [-0.001226, +0.002635]. Raw and cleaned pipelines have 321 and 295 source variables and each samples 128 features per node, so the benchmark cannot attribute the difference to one operation. Corrected split search (repository Phase 34): nested F1 0.440803 vs 0.442155; difference -0.001352, paired interval [-0.003005, +0.000319]. Both point estimates are drawn as dots inside their intervals on a common axis from -0.004 to +0.004. Sources: project/results/eda/phase33_raw_preprocessing_summary.md; project/results/eda/phase34_missing_only_split_summary.md; evidence/METRICS.json (preprocessing, phase34).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Phase 14 reference, pooled nested development predictions: TP 12,855, FN 10,325, FP 22,112, TN 217,216; precision 0.367632, recall 0.554573. Actual classes are the rows (left), predicted classes the columns (top). The final submission contains 13,999 positive and 95,380 negative test predictions; test labels are unavailable, so no confusion matrix exists for the final pipeline. Source: evidence/METRICS.json (model_results, Phase 14 reference: confusion_counts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84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5B667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84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5B667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aicrowd.com/challenges/epfl-machine-learning-project-1/leaderboards"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aicrowd.com/challenges/epfl-machine-learning-project-1/leaderboards" TargetMode="External"/><Relationship Id="rId2" Type="http://schemas.openxmlformats.org/officeDocument/2006/relationships/hyperlink" Target="https://www.linkedin.com/in/antonio-arbizzani-tonelli" TargetMode="External"/><Relationship Id="rId3" Type="http://schemas.openxmlformats.org/officeDocument/2006/relationships/hyperlink" Target="https://github.com/antonio-arbizzani-tonelli/cardiovascular-classification-numpy" TargetMode="External"/><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6FD6CC"/>
                </a:solidFill>
                <a:latin typeface="IBM Plex Sans" pitchFamily="34" charset="0"/>
                <a:ea typeface="IBM Plex Sans" pitchFamily="34" charset="-122"/>
                <a:cs typeface="IBM Plex Sans" pitchFamily="34" charset="-120"/>
              </a:rPr>
              <a:t>CARDIOVASCULAR DISEASE CLASSIFICATION IN NUMPY</a:t>
            </a:r>
            <a:endParaRPr lang="en-US" sz="1400" dirty="0"/>
          </a:p>
        </p:txBody>
      </p:sp>
      <p:sp>
        <p:nvSpPr>
          <p:cNvPr id="3" name="Text 1"/>
          <p:cNvSpPr/>
          <p:nvPr>
            <p:ph type="title"/>
          </p:nvPr>
        </p:nvSpPr>
        <p:spPr>
          <a:xfrm>
            <a:off x="812800" y="1444476"/>
            <a:ext cx="10883392" cy="119886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5F7FA"/>
                </a:solidFill>
                <a:latin typeface="IBM Plex Sans" pitchFamily="34" charset="0"/>
                <a:ea typeface="IBM Plex Sans" pitchFamily="34" charset="-122"/>
                <a:cs typeface="IBM Plex Sans" pitchFamily="34" charset="-120"/>
              </a:rPr>
              <a:t>Classifying reported cardiovascular conditions</a:t>
            </a:r>
            <a:endParaRPr lang="en-US" sz="4400" dirty="0"/>
          </a:p>
        </p:txBody>
      </p:sp>
      <p:sp>
        <p:nvSpPr>
          <p:cNvPr id="4" name="Text 2"/>
          <p:cNvSpPr/>
          <p:nvPr/>
        </p:nvSpPr>
        <p:spPr>
          <a:xfrm>
            <a:off x="812800" y="2795736"/>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4E3"/>
                </a:solidFill>
                <a:latin typeface="IBM Plex Sans" pitchFamily="34" charset="0"/>
                <a:ea typeface="IBM Plex Sans" pitchFamily="34" charset="-122"/>
                <a:cs typeface="IBM Plex Sans" pitchFamily="34" charset="-120"/>
              </a:rPr>
              <a:t>Classify whether respondents to the 2015 Behavioral Risk Factor Surveillance System (BRFSS), a U.S. health survey, reported myocardial infarction or coronary heart disease.</a:t>
            </a:r>
            <a:endParaRPr lang="en-US" sz="1600" dirty="0"/>
          </a:p>
        </p:txBody>
      </p:sp>
      <p:sp>
        <p:nvSpPr>
          <p:cNvPr id="5" name="Shape 3"/>
          <p:cNvSpPr/>
          <p:nvPr/>
        </p:nvSpPr>
        <p:spPr>
          <a:xfrm>
            <a:off x="812800" y="3747443"/>
            <a:ext cx="2489200" cy="1401961"/>
          </a:xfrm>
          <a:prstGeom prst="roundRect">
            <a:avLst>
              <a:gd name="adj" fmla="val 7247"/>
            </a:avLst>
          </a:prstGeom>
          <a:solidFill>
            <a:srgbClr val="1E3563"/>
          </a:solidFill>
          <a:ln/>
        </p:spPr>
      </p:sp>
      <p:sp>
        <p:nvSpPr>
          <p:cNvPr id="6" name="Text 4"/>
          <p:cNvSpPr/>
          <p:nvPr/>
        </p:nvSpPr>
        <p:spPr>
          <a:xfrm>
            <a:off x="990600" y="3899843"/>
            <a:ext cx="219760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7FA"/>
                </a:solidFill>
                <a:latin typeface="IBM Plex Sans" pitchFamily="34" charset="0"/>
                <a:ea typeface="IBM Plex Sans" pitchFamily="34" charset="-122"/>
                <a:cs typeface="IBM Plex Sans" pitchFamily="34" charset="-120"/>
              </a:rPr>
              <a:t>328,135</a:t>
            </a:r>
            <a:endParaRPr lang="en-US" sz="3000" dirty="0"/>
          </a:p>
        </p:txBody>
      </p:sp>
      <p:sp>
        <p:nvSpPr>
          <p:cNvPr id="7" name="Text 5"/>
          <p:cNvSpPr/>
          <p:nvPr/>
        </p:nvSpPr>
        <p:spPr>
          <a:xfrm>
            <a:off x="990600" y="435704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labeled respondents</a:t>
            </a:r>
            <a:endParaRPr lang="en-US" sz="1200" dirty="0"/>
          </a:p>
        </p:txBody>
      </p:sp>
      <p:sp>
        <p:nvSpPr>
          <p:cNvPr id="8" name="Shape 6"/>
          <p:cNvSpPr/>
          <p:nvPr/>
        </p:nvSpPr>
        <p:spPr>
          <a:xfrm>
            <a:off x="3505200" y="3747443"/>
            <a:ext cx="2489200" cy="1401961"/>
          </a:xfrm>
          <a:prstGeom prst="roundRect">
            <a:avLst>
              <a:gd name="adj" fmla="val 7247"/>
            </a:avLst>
          </a:prstGeom>
          <a:solidFill>
            <a:srgbClr val="1E3563"/>
          </a:solidFill>
          <a:ln/>
        </p:spPr>
      </p:sp>
      <p:sp>
        <p:nvSpPr>
          <p:cNvPr id="9" name="Text 7"/>
          <p:cNvSpPr/>
          <p:nvPr/>
        </p:nvSpPr>
        <p:spPr>
          <a:xfrm>
            <a:off x="3683000" y="3899843"/>
            <a:ext cx="219760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7FA"/>
                </a:solidFill>
                <a:latin typeface="IBM Plex Sans" pitchFamily="34" charset="0"/>
                <a:ea typeface="IBM Plex Sans" pitchFamily="34" charset="-122"/>
                <a:cs typeface="IBM Plex Sans" pitchFamily="34" charset="-120"/>
              </a:rPr>
              <a:t>321</a:t>
            </a:r>
            <a:endParaRPr lang="en-US" sz="3000" dirty="0"/>
          </a:p>
        </p:txBody>
      </p:sp>
      <p:sp>
        <p:nvSpPr>
          <p:cNvPr id="10" name="Text 8"/>
          <p:cNvSpPr/>
          <p:nvPr/>
        </p:nvSpPr>
        <p:spPr>
          <a:xfrm>
            <a:off x="3683000" y="435704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survey predictors</a:t>
            </a:r>
            <a:endParaRPr lang="en-US" sz="1200" dirty="0"/>
          </a:p>
        </p:txBody>
      </p:sp>
      <p:sp>
        <p:nvSpPr>
          <p:cNvPr id="11" name="Shape 9"/>
          <p:cNvSpPr/>
          <p:nvPr/>
        </p:nvSpPr>
        <p:spPr>
          <a:xfrm>
            <a:off x="6197600" y="3747443"/>
            <a:ext cx="2489200" cy="1401961"/>
          </a:xfrm>
          <a:prstGeom prst="roundRect">
            <a:avLst>
              <a:gd name="adj" fmla="val 7247"/>
            </a:avLst>
          </a:prstGeom>
          <a:solidFill>
            <a:srgbClr val="1E3563"/>
          </a:solidFill>
          <a:ln/>
        </p:spPr>
      </p:sp>
      <p:sp>
        <p:nvSpPr>
          <p:cNvPr id="12" name="Text 10"/>
          <p:cNvSpPr/>
          <p:nvPr/>
        </p:nvSpPr>
        <p:spPr>
          <a:xfrm>
            <a:off x="6375400" y="3899843"/>
            <a:ext cx="219760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7FA"/>
                </a:solidFill>
                <a:latin typeface="IBM Plex Sans" pitchFamily="34" charset="0"/>
                <a:ea typeface="IBM Plex Sans" pitchFamily="34" charset="-122"/>
                <a:cs typeface="IBM Plex Sans" pitchFamily="34" charset="-120"/>
              </a:rPr>
              <a:t>109,379</a:t>
            </a:r>
            <a:endParaRPr lang="en-US" sz="3000" dirty="0"/>
          </a:p>
        </p:txBody>
      </p:sp>
      <p:sp>
        <p:nvSpPr>
          <p:cNvPr id="13" name="Text 11"/>
          <p:cNvSpPr/>
          <p:nvPr/>
        </p:nvSpPr>
        <p:spPr>
          <a:xfrm>
            <a:off x="6375400" y="435704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unlabeled test respondents</a:t>
            </a:r>
            <a:endParaRPr lang="en-US" sz="1200" dirty="0"/>
          </a:p>
        </p:txBody>
      </p:sp>
      <p:sp>
        <p:nvSpPr>
          <p:cNvPr id="14" name="Shape 12"/>
          <p:cNvSpPr/>
          <p:nvPr/>
        </p:nvSpPr>
        <p:spPr>
          <a:xfrm>
            <a:off x="8890000" y="3747443"/>
            <a:ext cx="2489200" cy="1401961"/>
          </a:xfrm>
          <a:prstGeom prst="roundRect">
            <a:avLst>
              <a:gd name="adj" fmla="val 7247"/>
            </a:avLst>
          </a:prstGeom>
          <a:solidFill>
            <a:srgbClr val="1E3563"/>
          </a:solidFill>
          <a:ln/>
        </p:spPr>
      </p:sp>
      <p:sp>
        <p:nvSpPr>
          <p:cNvPr id="15" name="Text 13"/>
          <p:cNvSpPr/>
          <p:nvPr/>
        </p:nvSpPr>
        <p:spPr>
          <a:xfrm>
            <a:off x="9067800" y="3899843"/>
            <a:ext cx="219760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6FD6CC"/>
                </a:solidFill>
                <a:latin typeface="IBM Plex Sans" pitchFamily="34" charset="0"/>
                <a:ea typeface="IBM Plex Sans" pitchFamily="34" charset="-122"/>
                <a:cs typeface="IBM Plex Sans" pitchFamily="34" charset="-120"/>
              </a:rPr>
              <a:t>NumPy</a:t>
            </a:r>
            <a:endParaRPr lang="en-US" sz="3000" dirty="0"/>
          </a:p>
        </p:txBody>
      </p:sp>
      <p:sp>
        <p:nvSpPr>
          <p:cNvPr id="16" name="Text 14"/>
          <p:cNvSpPr/>
          <p:nvPr/>
        </p:nvSpPr>
        <p:spPr>
          <a:xfrm>
            <a:off x="9067800" y="4357043"/>
            <a:ext cx="21976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models and preprocessing, plus the Python standard library</a:t>
            </a:r>
            <a:endParaRPr lang="en-US" sz="1200" dirty="0"/>
          </a:p>
        </p:txBody>
      </p:sp>
      <p:sp>
        <p:nvSpPr>
          <p:cNvPr id="17" name="Text 15"/>
          <p:cNvSpPr/>
          <p:nvPr/>
        </p:nvSpPr>
        <p:spPr>
          <a:xfrm>
            <a:off x="812800" y="553218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Final submission: AIcrowd F1 0.455 · 3rd on the </a:t>
            </a:r>
            <a:r>
              <a:rPr lang="en-US" sz="1400" u="sng" dirty="0">
                <a:solidFill>
                  <a:srgbClr val="6FD6CC"/>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AIcrowd leaderboard</a:t>
            </a:r>
            <a:r>
              <a:rPr lang="en-US" sz="1400" dirty="0">
                <a:solidFill>
                  <a:srgbClr val="F5F7FA"/>
                </a:solidFill>
                <a:latin typeface="IBM Plex Sans" pitchFamily="34" charset="0"/>
                <a:ea typeface="IBM Plex Sans" pitchFamily="34" charset="-122"/>
                <a:cs typeface="IBM Plex Sans" pitchFamily="34" charset="-120"/>
              </a:rPr>
              <a:t> as </a:t>
            </a:r>
            <a:r>
              <a:rPr lang="en-US" sz="1400" b="1" dirty="0">
                <a:solidFill>
                  <a:srgbClr val="F5F7FA"/>
                </a:solidFill>
                <a:latin typeface="IBM Plex Sans" pitchFamily="34" charset="0"/>
                <a:ea typeface="IBM Plex Sans" pitchFamily="34" charset="-122"/>
                <a:cs typeface="IBM Plex Sans" pitchFamily="34" charset="-120"/>
              </a:rPr>
              <a:t>anto_arbi</a:t>
            </a:r>
            <a:r>
              <a:rPr lang="en-US" sz="1400" dirty="0">
                <a:solidFill>
                  <a:srgbClr val="F5F7FA"/>
                </a:solidFill>
                <a:latin typeface="IBM Plex Sans" pitchFamily="34" charset="0"/>
                <a:ea typeface="IBM Plex Sans" pitchFamily="34" charset="-122"/>
                <a:cs typeface="IBM Plex Sans" pitchFamily="34" charset="-120"/>
              </a:rPr>
              <a:t> (14 October 2026)</a:t>
            </a:r>
            <a:endParaRPr lang="en-US" sz="1400" dirty="0"/>
          </a:p>
        </p:txBody>
      </p:sp>
      <p:sp>
        <p:nvSpPr>
          <p:cNvPr id="18" name="Text 16"/>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E"/>
                </a:solidFill>
                <a:latin typeface="IBM Plex Sans" pitchFamily="34" charset="0"/>
                <a:ea typeface="IBM Plex Sans" pitchFamily="34" charset="-122"/>
                <a:cs typeface="IBM Plex Sans" pitchFamily="34" charset="-120"/>
              </a:rPr>
              <a:t>Antonio Arbizzani Tonelli · EPFL Machine Learning CS-433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An uncommon positive class and substantial missingness</a:t>
            </a:r>
            <a:endParaRPr lang="en-US" sz="3000" dirty="0"/>
          </a:p>
        </p:txBody>
      </p:sp>
      <p:sp>
        <p:nvSpPr>
          <p:cNvPr id="3" name="Shape 1"/>
          <p:cNvSpPr/>
          <p:nvPr/>
        </p:nvSpPr>
        <p:spPr>
          <a:xfrm>
            <a:off x="812800" y="1906389"/>
            <a:ext cx="5181600" cy="2407791"/>
          </a:xfrm>
          <a:prstGeom prst="roundRect">
            <a:avLst>
              <a:gd name="adj" fmla="val 4220"/>
            </a:avLst>
          </a:prstGeom>
          <a:solidFill>
            <a:srgbClr val="EAF0EF"/>
          </a:solidFill>
          <a:ln/>
        </p:spPr>
      </p:sp>
      <p:sp>
        <p:nvSpPr>
          <p:cNvPr id="4" name="Text 2"/>
          <p:cNvSpPr/>
          <p:nvPr/>
        </p:nvSpPr>
        <p:spPr>
          <a:xfrm>
            <a:off x="1016000" y="2109589"/>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8"/>
                </a:solidFill>
                <a:latin typeface="IBM Plex Sans" pitchFamily="34" charset="0"/>
                <a:ea typeface="IBM Plex Sans" pitchFamily="34" charset="-122"/>
                <a:cs typeface="IBM Plex Sans" pitchFamily="34" charset="-120"/>
              </a:rPr>
              <a:t>CLASS BALANCE · RESPONDENTS</a:t>
            </a:r>
            <a:endParaRPr lang="en-US" sz="1200" dirty="0"/>
          </a:p>
        </p:txBody>
      </p:sp>
      <p:sp>
        <p:nvSpPr>
          <p:cNvPr id="5" name="Text 3"/>
          <p:cNvSpPr/>
          <p:nvPr/>
        </p:nvSpPr>
        <p:spPr>
          <a:xfrm>
            <a:off x="1016000" y="2424509"/>
            <a:ext cx="4918456"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0B6E70"/>
                </a:solidFill>
                <a:latin typeface="IBM Plex Sans" pitchFamily="34" charset="0"/>
                <a:ea typeface="IBM Plex Sans" pitchFamily="34" charset="-122"/>
                <a:cs typeface="IBM Plex Sans" pitchFamily="34" charset="-120"/>
              </a:rPr>
              <a:t>8.83%</a:t>
            </a:r>
            <a:endParaRPr lang="en-US" sz="4400" dirty="0"/>
          </a:p>
        </p:txBody>
      </p:sp>
      <p:sp>
        <p:nvSpPr>
          <p:cNvPr id="6" name="Text 4"/>
          <p:cNvSpPr/>
          <p:nvPr/>
        </p:nvSpPr>
        <p:spPr>
          <a:xfrm>
            <a:off x="1016000" y="3140770"/>
            <a:ext cx="49184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28,975 of 328,135 training respondents are positive.</a:t>
            </a:r>
            <a:endParaRPr lang="en-US" sz="1400" dirty="0"/>
          </a:p>
        </p:txBody>
      </p:sp>
      <p:sp>
        <p:nvSpPr>
          <p:cNvPr id="7" name="Shape 5"/>
          <p:cNvSpPr/>
          <p:nvPr/>
        </p:nvSpPr>
        <p:spPr>
          <a:xfrm>
            <a:off x="1016000" y="3491260"/>
            <a:ext cx="393700" cy="304800"/>
          </a:xfrm>
          <a:custGeom>
            <a:avLst/>
            <a:gdLst/>
            <a:ahLst/>
            <a:cxnLst/>
            <a:rect l="l" t="t" r="r" b="b"/>
            <a:pathLst>
              <a:path w="393700" h="304800">
                <a:moveTo>
                  <a:pt x="0" y="50800"/>
                </a:moveTo>
                <a:arcTo hR="50800" wR="50800" stAng="10800000" swAng="5400000"/>
                <a:lnTo>
                  <a:pt x="393700" y="0"/>
                </a:lnTo>
                <a:lnTo>
                  <a:pt x="393700" y="304800"/>
                </a:lnTo>
                <a:lnTo>
                  <a:pt x="50800" y="304800"/>
                </a:lnTo>
                <a:arcTo hR="50800" wR="50800" stAng="5400000" swAng="5400000"/>
                <a:close/>
              </a:path>
            </a:pathLst>
          </a:custGeom>
          <a:solidFill>
            <a:srgbClr val="0E7C7B"/>
          </a:solidFill>
          <a:ln/>
        </p:spPr>
      </p:sp>
      <p:sp>
        <p:nvSpPr>
          <p:cNvPr id="8" name="Shape 6"/>
          <p:cNvSpPr/>
          <p:nvPr/>
        </p:nvSpPr>
        <p:spPr>
          <a:xfrm>
            <a:off x="1409700" y="3491260"/>
            <a:ext cx="4051300" cy="304800"/>
          </a:xfrm>
          <a:prstGeom prst="rect">
            <a:avLst/>
          </a:prstGeom>
          <a:solidFill>
            <a:srgbClr val="B8C2CE"/>
          </a:solidFill>
          <a:ln/>
        </p:spPr>
      </p:sp>
      <p:sp>
        <p:nvSpPr>
          <p:cNvPr id="9" name="Text 7"/>
          <p:cNvSpPr/>
          <p:nvPr/>
        </p:nvSpPr>
        <p:spPr>
          <a:xfrm>
            <a:off x="1016000" y="3897660"/>
            <a:ext cx="12719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70"/>
                </a:solidFill>
                <a:latin typeface="IBM Plex Sans" pitchFamily="34" charset="0"/>
                <a:ea typeface="IBM Plex Sans" pitchFamily="34" charset="-122"/>
                <a:cs typeface="IBM Plex Sans" pitchFamily="34" charset="-120"/>
              </a:rPr>
              <a:t>8.83% positive</a:t>
            </a:r>
            <a:endParaRPr lang="en-US" sz="1200" dirty="0"/>
          </a:p>
        </p:txBody>
      </p:sp>
      <p:sp>
        <p:nvSpPr>
          <p:cNvPr id="10" name="Text 8"/>
          <p:cNvSpPr/>
          <p:nvPr/>
        </p:nvSpPr>
        <p:spPr>
          <a:xfrm>
            <a:off x="4353461" y="3897660"/>
            <a:ext cx="143773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B6678"/>
                </a:solidFill>
                <a:latin typeface="IBM Plex Sans" pitchFamily="34" charset="0"/>
                <a:ea typeface="IBM Plex Sans" pitchFamily="34" charset="-122"/>
                <a:cs typeface="IBM Plex Sans" pitchFamily="34" charset="-120"/>
              </a:rPr>
              <a:t>91.17% negative</a:t>
            </a:r>
            <a:endParaRPr lang="en-US" sz="1200" dirty="0"/>
          </a:p>
        </p:txBody>
      </p:sp>
      <p:sp>
        <p:nvSpPr>
          <p:cNvPr id="11" name="Shape 9"/>
          <p:cNvSpPr/>
          <p:nvPr/>
        </p:nvSpPr>
        <p:spPr>
          <a:xfrm>
            <a:off x="6197600" y="1906389"/>
            <a:ext cx="5181600" cy="2407791"/>
          </a:xfrm>
          <a:prstGeom prst="roundRect">
            <a:avLst>
              <a:gd name="adj" fmla="val 4220"/>
            </a:avLst>
          </a:prstGeom>
          <a:solidFill>
            <a:srgbClr val="EAF0EF"/>
          </a:solidFill>
          <a:ln/>
        </p:spPr>
      </p:sp>
      <p:sp>
        <p:nvSpPr>
          <p:cNvPr id="12" name="Text 10"/>
          <p:cNvSpPr/>
          <p:nvPr/>
        </p:nvSpPr>
        <p:spPr>
          <a:xfrm>
            <a:off x="6400800" y="2109589"/>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8"/>
                </a:solidFill>
                <a:latin typeface="IBM Plex Sans" pitchFamily="34" charset="0"/>
                <a:ea typeface="IBM Plex Sans" pitchFamily="34" charset="-122"/>
                <a:cs typeface="IBM Plex Sans" pitchFamily="34" charset="-120"/>
              </a:rPr>
              <a:t>MISSINGNESS · PREDICTOR CELLS</a:t>
            </a:r>
            <a:endParaRPr lang="en-US" sz="1200" dirty="0"/>
          </a:p>
        </p:txBody>
      </p:sp>
      <p:sp>
        <p:nvSpPr>
          <p:cNvPr id="13" name="Text 11"/>
          <p:cNvSpPr/>
          <p:nvPr/>
        </p:nvSpPr>
        <p:spPr>
          <a:xfrm>
            <a:off x="6400800" y="2424509"/>
            <a:ext cx="4918456"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4284B"/>
                </a:solidFill>
                <a:latin typeface="IBM Plex Sans" pitchFamily="34" charset="0"/>
                <a:ea typeface="IBM Plex Sans" pitchFamily="34" charset="-122"/>
                <a:cs typeface="IBM Plex Sans" pitchFamily="34" charset="-120"/>
              </a:rPr>
              <a:t>44.79%</a:t>
            </a:r>
            <a:endParaRPr lang="en-US" sz="4400" dirty="0"/>
          </a:p>
        </p:txBody>
      </p:sp>
      <p:sp>
        <p:nvSpPr>
          <p:cNvPr id="14" name="Text 12"/>
          <p:cNvSpPr/>
          <p:nvPr/>
        </p:nvSpPr>
        <p:spPr>
          <a:xfrm>
            <a:off x="6400800" y="3140770"/>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of raw training predictor cells are blank. Many blanks reflect questionnaire branching rather than a zero quantity.</a:t>
            </a:r>
            <a:endParaRPr lang="en-US" sz="1400" dirty="0"/>
          </a:p>
        </p:txBody>
      </p:sp>
      <p:sp>
        <p:nvSpPr>
          <p:cNvPr id="15" name="Shape 13"/>
          <p:cNvSpPr/>
          <p:nvPr/>
        </p:nvSpPr>
        <p:spPr>
          <a:xfrm>
            <a:off x="812800" y="4988620"/>
            <a:ext cx="10566400" cy="853380"/>
          </a:xfrm>
          <a:prstGeom prst="roundRect">
            <a:avLst>
              <a:gd name="adj" fmla="val 11906"/>
            </a:avLst>
          </a:prstGeom>
          <a:solidFill>
            <a:srgbClr val="14284B"/>
          </a:solidFill>
          <a:ln/>
        </p:spPr>
      </p:sp>
      <p:sp>
        <p:nvSpPr>
          <p:cNvPr id="16" name="Text 14"/>
          <p:cNvSpPr/>
          <p:nvPr/>
        </p:nvSpPr>
        <p:spPr>
          <a:xfrm>
            <a:off x="1016000" y="5278140"/>
            <a:ext cx="27470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Why F1 guides selection</a:t>
            </a:r>
            <a:endParaRPr lang="en-US" sz="1800" dirty="0"/>
          </a:p>
        </p:txBody>
      </p:sp>
      <p:sp>
        <p:nvSpPr>
          <p:cNvPr id="17" name="Text 15"/>
          <p:cNvSpPr/>
          <p:nvPr/>
        </p:nvSpPr>
        <p:spPr>
          <a:xfrm>
            <a:off x="3886200" y="5166420"/>
            <a:ext cx="750849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3"/>
                </a:solidFill>
                <a:latin typeface="IBM Plex Sans" pitchFamily="34" charset="0"/>
                <a:ea typeface="IBM Plex Sans" pitchFamily="34" charset="-122"/>
                <a:cs typeface="IBM Plex Sans" pitchFamily="34" charset="-120"/>
              </a:rPr>
              <a:t>Predicting every respondent as negative gives 91.17% training accuracy and F1 = 0. F1 is used because positive recovery and false positives both matter.</a:t>
            </a:r>
            <a:endParaRPr lang="en-US" sz="1400" dirty="0"/>
          </a:p>
        </p:txBody>
      </p:sp>
      <p:sp>
        <p:nvSpPr>
          <p:cNvPr id="18" name="Text 1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evidence/METRICS.json (dataset), project/docs/DATA.md</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Response codes need their survey meanings</a:t>
            </a:r>
            <a:endParaRPr lang="en-US" sz="3000" dirty="0"/>
          </a:p>
        </p:txBody>
      </p:sp>
      <p:sp>
        <p:nvSpPr>
          <p:cNvPr id="3" name="Text 1"/>
          <p:cNvSpPr/>
          <p:nvPr/>
        </p:nvSpPr>
        <p:spPr>
          <a:xfrm>
            <a:off x="812800" y="1774726"/>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Codes are interpreted separately for each variable: a finite number can represent a quantity, a category or a nonresponse.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79191"/>
          <a:ext cx="10553700" cy="1544042"/>
        </p:xfrm>
        <a:graphic>
          <a:graphicData uri="http://schemas.openxmlformats.org/drawingml/2006/table">
            <a:tbl>
              <a:tblPr/>
              <a:tblGrid>
                <a:gridCol w="3588258"/>
                <a:gridCol w="4643628"/>
                <a:gridCol w="2321814"/>
              </a:tblGrid>
              <a:tr h="386011">
                <a:tc>
                  <a:txBody>
                    <a:bodyPr/>
                    <a:lstStyle/>
                    <a:p>
                      <a:pPr indent="0" marL="0">
                        <a:lnSpc>
                          <a:spcPts val="1960"/>
                        </a:lnSpc>
                        <a:buNone/>
                      </a:pPr>
                      <a:r>
                        <a:rPr lang="en-US" sz="1400" b="1" dirty="0">
                          <a:solidFill>
                            <a:srgbClr val="FCFDFB"/>
                          </a:solidFill>
                          <a:latin typeface="IBM Plex Sans" pitchFamily="34" charset="0"/>
                          <a:ea typeface="IBM Plex Sans" pitchFamily="34" charset="-122"/>
                          <a:cs typeface="IBM Plex Sans" pitchFamily="34" charset="-120"/>
                        </a:rPr>
                        <a:t>Survey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indent="0" marL="0">
                        <a:lnSpc>
                          <a:spcPts val="1960"/>
                        </a:lnSpc>
                        <a:buNone/>
                      </a:pPr>
                      <a:r>
                        <a:rPr lang="en-US" sz="1400" b="1" dirty="0">
                          <a:solidFill>
                            <a:srgbClr val="FCFDFB"/>
                          </a:solidFill>
                          <a:latin typeface="IBM Plex Sans" pitchFamily="34" charset="0"/>
                          <a:ea typeface="IBM Plex Sans" pitchFamily="34" charset="-122"/>
                          <a:cs typeface="IBM Plex Sans" pitchFamily="34" charset="-120"/>
                        </a:rPr>
                        <a:t>Meaning in the codebook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indent="0" marL="0">
                        <a:lnSpc>
                          <a:spcPts val="1960"/>
                        </a:lnSpc>
                        <a:buNone/>
                      </a:pPr>
                      <a:r>
                        <a:rPr lang="en-US" sz="1400" b="1" dirty="0">
                          <a:solidFill>
                            <a:srgbClr val="FCFDFB"/>
                          </a:solidFill>
                          <a:latin typeface="IBM Plex Sans" pitchFamily="34" charset="0"/>
                          <a:ea typeface="IBM Plex Sans" pitchFamily="34" charset="-122"/>
                          <a:cs typeface="IBM Plex Sans" pitchFamily="34" charset="-120"/>
                        </a:rPr>
                        <a:t>Becomes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r>
              <a:tr h="386011">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ALCDAY5 = 888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No alcohol consumption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PHYSHLTH = 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Zero physically unhealthy days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Documented unknown or refused codes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Nonresponse, defined per variable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missing (NaN)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Shape 2"/>
          <p:cNvSpPr/>
          <p:nvPr/>
        </p:nvSpPr>
        <p:spPr>
          <a:xfrm>
            <a:off x="812800" y="4666059"/>
            <a:ext cx="2794000" cy="1175941"/>
          </a:xfrm>
          <a:prstGeom prst="roundRect">
            <a:avLst>
              <a:gd name="adj" fmla="val 8640"/>
            </a:avLst>
          </a:prstGeom>
          <a:solidFill>
            <a:srgbClr val="CFE8E5"/>
          </a:solidFill>
          <a:ln/>
        </p:spPr>
      </p:sp>
      <p:sp>
        <p:nvSpPr>
          <p:cNvPr id="6" name="Text 3"/>
          <p:cNvSpPr/>
          <p:nvPr/>
        </p:nvSpPr>
        <p:spPr>
          <a:xfrm>
            <a:off x="990600" y="4818459"/>
            <a:ext cx="251155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1,095,421</a:t>
            </a:r>
            <a:endParaRPr lang="en-US" sz="3000" dirty="0"/>
          </a:p>
        </p:txBody>
      </p:sp>
      <p:sp>
        <p:nvSpPr>
          <p:cNvPr id="7" name="Text 4"/>
          <p:cNvSpPr/>
          <p:nvPr/>
        </p:nvSpPr>
        <p:spPr>
          <a:xfrm>
            <a:off x="990600" y="5262959"/>
            <a:ext cx="25115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nonresponse codes mapped to missing</a:t>
            </a:r>
            <a:endParaRPr lang="en-US" sz="1200" dirty="0"/>
          </a:p>
        </p:txBody>
      </p:sp>
      <p:sp>
        <p:nvSpPr>
          <p:cNvPr id="8" name="Shape 5"/>
          <p:cNvSpPr/>
          <p:nvPr/>
        </p:nvSpPr>
        <p:spPr>
          <a:xfrm>
            <a:off x="3759200" y="4666059"/>
            <a:ext cx="2794000" cy="1175941"/>
          </a:xfrm>
          <a:prstGeom prst="roundRect">
            <a:avLst>
              <a:gd name="adj" fmla="val 8640"/>
            </a:avLst>
          </a:prstGeom>
          <a:solidFill>
            <a:srgbClr val="CFE8E5"/>
          </a:solidFill>
          <a:ln/>
        </p:spPr>
      </p:sp>
      <p:sp>
        <p:nvSpPr>
          <p:cNvPr id="9" name="Text 6"/>
          <p:cNvSpPr/>
          <p:nvPr/>
        </p:nvSpPr>
        <p:spPr>
          <a:xfrm>
            <a:off x="3937000" y="4818459"/>
            <a:ext cx="251155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899,687</a:t>
            </a:r>
            <a:endParaRPr lang="en-US" sz="3000" dirty="0"/>
          </a:p>
        </p:txBody>
      </p:sp>
      <p:sp>
        <p:nvSpPr>
          <p:cNvPr id="10" name="Text 7"/>
          <p:cNvSpPr/>
          <p:nvPr/>
        </p:nvSpPr>
        <p:spPr>
          <a:xfrm>
            <a:off x="3937000" y="5262959"/>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zero-quantity codes mapped to 0</a:t>
            </a:r>
            <a:endParaRPr lang="en-US" sz="1200" dirty="0"/>
          </a:p>
        </p:txBody>
      </p:sp>
      <p:sp>
        <p:nvSpPr>
          <p:cNvPr id="11" name="Text 8"/>
          <p:cNvSpPr/>
          <p:nvPr/>
        </p:nvSpPr>
        <p:spPr>
          <a:xfrm>
            <a:off x="6705600" y="4666059"/>
            <a:ext cx="4813808" cy="12013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Historical cleaning audit across 262,508 development rows and 295 retained columns. Transformation counts, not evidence of a performance gain. No universal rule applies to codes such as 7, 9, 88 or 888.</a:t>
            </a:r>
            <a:endParaRPr lang="en-US" sz="1200" dirty="0"/>
          </a:p>
        </p:txBody>
      </p:sp>
      <p:sp>
        <p:nvSpPr>
          <p:cNvPr id="12" name="Text 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phase14_codebook_corrections_only.json, phase33_preprocessing_counts.json</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0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41673"/>
          </a:xfrm>
          <a:prstGeom prst="rect">
            <a:avLst/>
          </a:prstGeom>
          <a:noFill/>
          <a:ln/>
        </p:spPr>
        <p:txBody>
          <a:bodyPr wrap="square" lIns="0" tIns="0" rIns="0" bIns="0" rtlCol="0" anchor="t">
            <a:normAutofit/>
          </a:bodyPr>
          <a:lstStyle/>
          <a:p>
            <a:pPr algn="l" indent="0" marL="0">
              <a:lnSpc>
                <a:spcPts val="3228"/>
              </a:lnSpc>
              <a:buNone/>
            </a:pPr>
            <a:r>
              <a:rPr lang="en-US" sz="2934" b="1" i="0" dirty="0">
                <a:solidFill>
                  <a:srgbClr val="14284B"/>
                </a:solidFill>
                <a:latin typeface="IBM Plex Sans" pitchFamily="34" charset="0"/>
                <a:ea typeface="IBM Plex Sans" pitchFamily="34" charset="-122"/>
                <a:cs typeface="IBM Plex Sans" pitchFamily="34" charset="-120"/>
              </a:rPr>
              <a:t>The final representation adds diet exclusions and restricted imputation</a:t>
            </a:r>
            <a:endParaRPr lang="en-US" sz="2934" dirty="0"/>
          </a:p>
        </p:txBody>
      </p:sp>
      <p:sp>
        <p:nvSpPr>
          <p:cNvPr id="3" name="Shape 1"/>
          <p:cNvSpPr/>
          <p:nvPr/>
        </p:nvSpPr>
        <p:spPr>
          <a:xfrm>
            <a:off x="815975" y="1842988"/>
            <a:ext cx="4819650" cy="1446411"/>
          </a:xfrm>
          <a:prstGeom prst="roundRect">
            <a:avLst>
              <a:gd name="adj" fmla="val 6805"/>
            </a:avLst>
          </a:prstGeom>
          <a:solidFill>
            <a:srgbClr val="FCFDFB"/>
          </a:solidFill>
          <a:ln w="6350">
            <a:solidFill>
              <a:srgbClr val="D3DCD9"/>
            </a:solidFill>
            <a:prstDash val="solid"/>
          </a:ln>
        </p:spPr>
      </p:sp>
      <p:sp>
        <p:nvSpPr>
          <p:cNvPr id="4" name="Text 2"/>
          <p:cNvSpPr/>
          <p:nvPr/>
        </p:nvSpPr>
        <p:spPr>
          <a:xfrm>
            <a:off x="996950" y="2023963"/>
            <a:ext cx="459143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Diet exclusions</a:t>
            </a:r>
            <a:endParaRPr lang="en-US" sz="1800" dirty="0"/>
          </a:p>
        </p:txBody>
      </p:sp>
      <p:sp>
        <p:nvSpPr>
          <p:cNvPr id="5" name="Text 3"/>
          <p:cNvSpPr/>
          <p:nvPr/>
        </p:nvSpPr>
        <p:spPr>
          <a:xfrm>
            <a:off x="996950" y="2361754"/>
            <a:ext cx="459143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Exclude six raw diet questions that mix daily, weekly and monthly codes. Keep the derived daily-frequency columns already in the data.</a:t>
            </a:r>
            <a:endParaRPr lang="en-US" sz="1400" dirty="0"/>
          </a:p>
        </p:txBody>
      </p:sp>
      <p:sp>
        <p:nvSpPr>
          <p:cNvPr id="6" name="Shape 4"/>
          <p:cNvSpPr/>
          <p:nvPr/>
        </p:nvSpPr>
        <p:spPr>
          <a:xfrm>
            <a:off x="815975" y="3448149"/>
            <a:ext cx="4819650" cy="1695301"/>
          </a:xfrm>
          <a:prstGeom prst="roundRect">
            <a:avLst>
              <a:gd name="adj" fmla="val 5806"/>
            </a:avLst>
          </a:prstGeom>
          <a:solidFill>
            <a:srgbClr val="FCFDFB"/>
          </a:solidFill>
          <a:ln w="6350">
            <a:solidFill>
              <a:srgbClr val="D3DCD9"/>
            </a:solidFill>
            <a:prstDash val="solid"/>
          </a:ln>
        </p:spPr>
      </p:sp>
      <p:sp>
        <p:nvSpPr>
          <p:cNvPr id="7" name="Text 5"/>
          <p:cNvSpPr/>
          <p:nvPr/>
        </p:nvSpPr>
        <p:spPr>
          <a:xfrm>
            <a:off x="996950" y="3629124"/>
            <a:ext cx="459143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Restricted imputation</a:t>
            </a:r>
            <a:endParaRPr lang="en-US" sz="1800" dirty="0"/>
          </a:p>
        </p:txBody>
      </p:sp>
      <p:sp>
        <p:nvSpPr>
          <p:cNvPr id="8" name="Text 6"/>
          <p:cNvSpPr/>
          <p:nvPr/>
        </p:nvSpPr>
        <p:spPr>
          <a:xfrm>
            <a:off x="996950" y="3966914"/>
            <a:ext cx="459143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Fill only specified unknown or refused answers and blank height/weight; derive missing BMI. Imputers learn from training features, without disease labels, inside each training partition.</a:t>
            </a:r>
            <a:endParaRPr lang="en-US" sz="1400" dirty="0"/>
          </a:p>
        </p:txBody>
      </p:sp>
      <p:pic>
        <p:nvPicPr>
          <p:cNvPr id="9" name="Image 0" descr="arrow-right">    </p:cNvPr>
          <p:cNvPicPr>
            <a:picLocks noChangeAspect="1"/>
          </p:cNvPicPr>
          <p:nvPr/>
        </p:nvPicPr>
        <p:blipFill>
          <a:blip r:embed="rId1"/>
          <a:srcRect l="0" r="0" t="0" b="0"/>
          <a:stretch/>
        </p:blipFill>
        <p:spPr>
          <a:xfrm>
            <a:off x="5816600" y="2629595"/>
            <a:ext cx="457200" cy="228600"/>
          </a:xfrm>
          <a:prstGeom prst="rect">
            <a:avLst/>
          </a:prstGeom>
        </p:spPr>
      </p:pic>
      <p:pic>
        <p:nvPicPr>
          <p:cNvPr id="10" name="Image 1" descr="arrow-right">    </p:cNvPr>
          <p:cNvPicPr>
            <a:picLocks noChangeAspect="1"/>
          </p:cNvPicPr>
          <p:nvPr/>
        </p:nvPicPr>
        <p:blipFill>
          <a:blip r:embed="rId2"/>
          <a:srcRect l="0" r="0" t="0" b="0"/>
          <a:stretch/>
        </p:blipFill>
        <p:spPr>
          <a:xfrm>
            <a:off x="5816600" y="4128195"/>
            <a:ext cx="457200" cy="228600"/>
          </a:xfrm>
          <a:prstGeom prst="rect">
            <a:avLst/>
          </a:prstGeom>
        </p:spPr>
      </p:pic>
      <p:sp>
        <p:nvSpPr>
          <p:cNvPr id="11" name="Shape 7"/>
          <p:cNvSpPr/>
          <p:nvPr/>
        </p:nvSpPr>
        <p:spPr>
          <a:xfrm>
            <a:off x="6451600" y="2563564"/>
            <a:ext cx="4927600" cy="1859211"/>
          </a:xfrm>
          <a:prstGeom prst="roundRect">
            <a:avLst>
              <a:gd name="adj" fmla="val 5465"/>
            </a:avLst>
          </a:prstGeom>
          <a:solidFill>
            <a:srgbClr val="14284B"/>
          </a:solidFill>
          <a:ln/>
        </p:spPr>
      </p:sp>
      <p:sp>
        <p:nvSpPr>
          <p:cNvPr id="12" name="Text 8"/>
          <p:cNvSpPr/>
          <p:nvPr/>
        </p:nvSpPr>
        <p:spPr>
          <a:xfrm>
            <a:off x="6705600" y="2817564"/>
            <a:ext cx="455218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7FA"/>
                </a:solidFill>
                <a:latin typeface="IBM Plex Sans" pitchFamily="34" charset="0"/>
                <a:ea typeface="IBM Plex Sans" pitchFamily="34" charset="-122"/>
                <a:cs typeface="IBM Plex Sans" pitchFamily="34" charset="-120"/>
              </a:rPr>
              <a:t>297 features</a:t>
            </a:r>
            <a:endParaRPr lang="en-US" sz="3000" dirty="0"/>
          </a:p>
        </p:txBody>
      </p:sp>
      <p:sp>
        <p:nvSpPr>
          <p:cNvPr id="13" name="Text 9"/>
          <p:cNvSpPr/>
          <p:nvPr/>
        </p:nvSpPr>
        <p:spPr>
          <a:xfrm>
            <a:off x="6705600" y="3338264"/>
            <a:ext cx="455218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FD6CC"/>
                </a:solidFill>
                <a:latin typeface="IBM Plex Sans" pitchFamily="34" charset="0"/>
                <a:ea typeface="IBM Plex Sans" pitchFamily="34" charset="-122"/>
                <a:cs typeface="IBM Plex Sans" pitchFamily="34" charset="-120"/>
              </a:rPr>
              <a:t>289 source columns + 8 missing-state flags</a:t>
            </a:r>
            <a:endParaRPr lang="en-US" sz="1400" dirty="0"/>
          </a:p>
        </p:txBody>
      </p:sp>
      <p:sp>
        <p:nvSpPr>
          <p:cNvPr id="14" name="Text 10"/>
          <p:cNvSpPr/>
          <p:nvPr/>
        </p:nvSpPr>
        <p:spPr>
          <a:xfrm>
            <a:off x="6705600" y="3670995"/>
            <a:ext cx="455218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3"/>
                </a:solidFill>
                <a:latin typeface="IBM Plex Sans" pitchFamily="34" charset="0"/>
                <a:ea typeface="IBM Plex Sans" pitchFamily="34" charset="-122"/>
                <a:cs typeface="IBM Plex Sans" pitchFamily="34" charset="-120"/>
              </a:rPr>
              <a:t>Questionnaire-branching blanks stay missing, and the original missing-state indicators are preserved.</a:t>
            </a:r>
            <a:endParaRPr lang="en-US" sz="1400" dirty="0"/>
          </a:p>
        </p:txBody>
      </p:sp>
      <p:sp>
        <p:nvSpPr>
          <p:cNvPr id="15" name="Text 11"/>
          <p:cNvSpPr/>
          <p:nvPr/>
        </p:nvSpPr>
        <p:spPr>
          <a:xfrm>
            <a:off x="812800" y="5357316"/>
            <a:ext cx="10883392" cy="510084"/>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5B6678"/>
                </a:solidFill>
                <a:latin typeface="IBM Plex Sans" pitchFamily="34" charset="0"/>
                <a:ea typeface="IBM Plex Sans" pitchFamily="34" charset="-122"/>
                <a:cs typeface="IBM Plex Sans" pitchFamily="34" charset="-120"/>
              </a:rPr>
              <a:t>Both changes start from the historical codebook cleaning. Not every missing value is filled, and the daily-frequency columns are not newly calculated by this pipeline.</a:t>
            </a:r>
            <a:endParaRPr lang="en-US" sz="1365" dirty="0"/>
          </a:p>
        </p:txBody>
      </p:sp>
      <p:sp>
        <p:nvSpPr>
          <p:cNvPr id="16"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combined18_24_preprocessing.json, conditional_imputation.py, project/docs/DATA.md</a:t>
            </a:r>
            <a:endParaRPr lang="en-US" sz="1200" dirty="0"/>
          </a:p>
        </p:txBody>
      </p:sp>
      <p:sp>
        <p:nvSpPr>
          <p:cNvPr id="17"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Histogram gradient boosting in NumPy</a:t>
            </a:r>
            <a:endParaRPr lang="en-US" sz="3000" dirty="0"/>
          </a:p>
        </p:txBody>
      </p:sp>
      <p:sp>
        <p:nvSpPr>
          <p:cNvPr id="3" name="Shape 1"/>
          <p:cNvSpPr/>
          <p:nvPr/>
        </p:nvSpPr>
        <p:spPr>
          <a:xfrm>
            <a:off x="812800" y="1753493"/>
            <a:ext cx="2222500" cy="1440061"/>
          </a:xfrm>
          <a:prstGeom prst="roundRect">
            <a:avLst>
              <a:gd name="adj" fmla="val 7055"/>
            </a:avLst>
          </a:prstGeom>
          <a:solidFill>
            <a:srgbClr val="EAF0EF"/>
          </a:solidFill>
          <a:ln/>
        </p:spPr>
      </p:sp>
      <p:sp>
        <p:nvSpPr>
          <p:cNvPr id="4" name="Text 2"/>
          <p:cNvSpPr/>
          <p:nvPr/>
        </p:nvSpPr>
        <p:spPr>
          <a:xfrm>
            <a:off x="990600" y="1931293"/>
            <a:ext cx="192290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1 Bin</a:t>
            </a:r>
            <a:endParaRPr lang="en-US" sz="1800" dirty="0"/>
          </a:p>
        </p:txBody>
      </p:sp>
      <p:sp>
        <p:nvSpPr>
          <p:cNvPr id="5" name="Text 3"/>
          <p:cNvSpPr/>
          <p:nvPr/>
        </p:nvSpPr>
        <p:spPr>
          <a:xfrm>
            <a:off x="990600" y="2269083"/>
            <a:ext cx="192290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Up to 64 quantile bins per feature, learned from training rows</a:t>
            </a:r>
            <a:endParaRPr lang="en-US" sz="1400" dirty="0"/>
          </a:p>
        </p:txBody>
      </p:sp>
      <p:pic>
        <p:nvPicPr>
          <p:cNvPr id="6" name="Image 0" descr="arrow-right">    </p:cNvPr>
          <p:cNvPicPr>
            <a:picLocks noChangeAspect="1"/>
          </p:cNvPicPr>
          <p:nvPr/>
        </p:nvPicPr>
        <p:blipFill>
          <a:blip r:embed="rId1"/>
          <a:srcRect l="0" r="0" t="0" b="0"/>
          <a:stretch/>
        </p:blipFill>
        <p:spPr>
          <a:xfrm>
            <a:off x="3136900" y="2384623"/>
            <a:ext cx="355600" cy="177800"/>
          </a:xfrm>
          <a:prstGeom prst="rect">
            <a:avLst/>
          </a:prstGeom>
        </p:spPr>
      </p:pic>
      <p:sp>
        <p:nvSpPr>
          <p:cNvPr id="7" name="Shape 4"/>
          <p:cNvSpPr/>
          <p:nvPr/>
        </p:nvSpPr>
        <p:spPr>
          <a:xfrm>
            <a:off x="3594100" y="1629073"/>
            <a:ext cx="2222500" cy="1688951"/>
          </a:xfrm>
          <a:prstGeom prst="roundRect">
            <a:avLst>
              <a:gd name="adj" fmla="val 6016"/>
            </a:avLst>
          </a:prstGeom>
          <a:solidFill>
            <a:srgbClr val="EAF0EF"/>
          </a:solidFill>
          <a:ln/>
        </p:spPr>
      </p:sp>
      <p:sp>
        <p:nvSpPr>
          <p:cNvPr id="8" name="Text 5"/>
          <p:cNvSpPr/>
          <p:nvPr/>
        </p:nvSpPr>
        <p:spPr>
          <a:xfrm>
            <a:off x="3771900" y="1806873"/>
            <a:ext cx="192290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2 Fit</a:t>
            </a:r>
            <a:endParaRPr lang="en-US" sz="1800" dirty="0"/>
          </a:p>
        </p:txBody>
      </p:sp>
      <p:sp>
        <p:nvSpPr>
          <p:cNvPr id="9" name="Text 6"/>
          <p:cNvSpPr/>
          <p:nvPr/>
        </p:nvSpPr>
        <p:spPr>
          <a:xfrm>
            <a:off x="3771900" y="2144663"/>
            <a:ext cx="1922907"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Trees fitted with Newton updates on logistic loss, depth up to 5</a:t>
            </a:r>
            <a:endParaRPr lang="en-US" sz="1400" dirty="0"/>
          </a:p>
        </p:txBody>
      </p:sp>
      <p:pic>
        <p:nvPicPr>
          <p:cNvPr id="10" name="Image 1" descr="arrow-right">    </p:cNvPr>
          <p:cNvPicPr>
            <a:picLocks noChangeAspect="1"/>
          </p:cNvPicPr>
          <p:nvPr/>
        </p:nvPicPr>
        <p:blipFill>
          <a:blip r:embed="rId2"/>
          <a:srcRect l="0" r="0" t="0" b="0"/>
          <a:stretch/>
        </p:blipFill>
        <p:spPr>
          <a:xfrm>
            <a:off x="5918200" y="2384623"/>
            <a:ext cx="355600" cy="177800"/>
          </a:xfrm>
          <a:prstGeom prst="rect">
            <a:avLst/>
          </a:prstGeom>
        </p:spPr>
      </p:pic>
      <p:sp>
        <p:nvSpPr>
          <p:cNvPr id="11" name="Shape 7"/>
          <p:cNvSpPr/>
          <p:nvPr/>
        </p:nvSpPr>
        <p:spPr>
          <a:xfrm>
            <a:off x="6375400" y="1753493"/>
            <a:ext cx="2222500" cy="1440061"/>
          </a:xfrm>
          <a:prstGeom prst="roundRect">
            <a:avLst>
              <a:gd name="adj" fmla="val 7055"/>
            </a:avLst>
          </a:prstGeom>
          <a:solidFill>
            <a:srgbClr val="EAF0EF"/>
          </a:solidFill>
          <a:ln/>
        </p:spPr>
      </p:sp>
      <p:sp>
        <p:nvSpPr>
          <p:cNvPr id="12" name="Text 8"/>
          <p:cNvSpPr/>
          <p:nvPr/>
        </p:nvSpPr>
        <p:spPr>
          <a:xfrm>
            <a:off x="6553200" y="1931293"/>
            <a:ext cx="192290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3 Sum</a:t>
            </a:r>
            <a:endParaRPr lang="en-US" sz="1800" dirty="0"/>
          </a:p>
        </p:txBody>
      </p:sp>
      <p:sp>
        <p:nvSpPr>
          <p:cNvPr id="13" name="Text 9"/>
          <p:cNvSpPr/>
          <p:nvPr/>
        </p:nvSpPr>
        <p:spPr>
          <a:xfrm>
            <a:off x="6553200" y="2269083"/>
            <a:ext cx="192290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200 tree outputs added with learning rate 0.05</a:t>
            </a:r>
            <a:endParaRPr lang="en-US" sz="1400" dirty="0"/>
          </a:p>
        </p:txBody>
      </p:sp>
      <p:pic>
        <p:nvPicPr>
          <p:cNvPr id="14" name="Image 2" descr="arrow-right">    </p:cNvPr>
          <p:cNvPicPr>
            <a:picLocks noChangeAspect="1"/>
          </p:cNvPicPr>
          <p:nvPr/>
        </p:nvPicPr>
        <p:blipFill>
          <a:blip r:embed="rId3"/>
          <a:srcRect l="0" r="0" t="0" b="0"/>
          <a:stretch/>
        </p:blipFill>
        <p:spPr>
          <a:xfrm>
            <a:off x="8699500" y="2384623"/>
            <a:ext cx="355600" cy="177800"/>
          </a:xfrm>
          <a:prstGeom prst="rect">
            <a:avLst/>
          </a:prstGeom>
        </p:spPr>
      </p:pic>
      <p:sp>
        <p:nvSpPr>
          <p:cNvPr id="15" name="Shape 10"/>
          <p:cNvSpPr/>
          <p:nvPr/>
        </p:nvSpPr>
        <p:spPr>
          <a:xfrm>
            <a:off x="9156700" y="1753493"/>
            <a:ext cx="2222500" cy="1440061"/>
          </a:xfrm>
          <a:prstGeom prst="roundRect">
            <a:avLst>
              <a:gd name="adj" fmla="val 7055"/>
            </a:avLst>
          </a:prstGeom>
          <a:solidFill>
            <a:srgbClr val="EAF0EF"/>
          </a:solidFill>
          <a:ln/>
        </p:spPr>
      </p:sp>
      <p:sp>
        <p:nvSpPr>
          <p:cNvPr id="16" name="Text 11"/>
          <p:cNvSpPr/>
          <p:nvPr/>
        </p:nvSpPr>
        <p:spPr>
          <a:xfrm>
            <a:off x="9334500" y="1931293"/>
            <a:ext cx="192290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4B"/>
                </a:solidFill>
                <a:latin typeface="IBM Plex Sans" pitchFamily="34" charset="0"/>
                <a:ea typeface="IBM Plex Sans" pitchFamily="34" charset="-122"/>
                <a:cs typeface="IBM Plex Sans" pitchFamily="34" charset="-120"/>
              </a:rPr>
              <a:t>4 Decide</a:t>
            </a:r>
            <a:endParaRPr lang="en-US" sz="1800" dirty="0"/>
          </a:p>
        </p:txBody>
      </p:sp>
      <p:sp>
        <p:nvSpPr>
          <p:cNvPr id="17" name="Text 12"/>
          <p:cNvSpPr/>
          <p:nvPr/>
        </p:nvSpPr>
        <p:spPr>
          <a:xfrm>
            <a:off x="9334500" y="2269083"/>
            <a:ext cx="192290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Positive when p ≥ the saved threshold 0.2181</a:t>
            </a:r>
            <a:endParaRPr lang="en-US" sz="1400" dirty="0"/>
          </a:p>
        </p:txBody>
      </p:sp>
      <p:sp>
        <p:nvSpPr>
          <p:cNvPr id="18" name="Shape 13"/>
          <p:cNvSpPr/>
          <p:nvPr/>
        </p:nvSpPr>
        <p:spPr>
          <a:xfrm>
            <a:off x="812800" y="3715246"/>
            <a:ext cx="5207000" cy="1480691"/>
          </a:xfrm>
          <a:prstGeom prst="roundRect">
            <a:avLst>
              <a:gd name="adj" fmla="val 6862"/>
            </a:avLst>
          </a:prstGeom>
          <a:solidFill>
            <a:srgbClr val="EAF0EF"/>
          </a:solidFill>
          <a:ln/>
        </p:spPr>
      </p:sp>
      <p:sp>
        <p:nvSpPr>
          <p:cNvPr id="19" name="Text 14"/>
          <p:cNvSpPr/>
          <p:nvPr/>
        </p:nvSpPr>
        <p:spPr>
          <a:xfrm>
            <a:off x="990600" y="3893046"/>
            <a:ext cx="1654373" cy="289520"/>
          </a:xfrm>
          <a:custGeom>
            <a:avLst/>
            <a:gdLst/>
            <a:ahLst/>
            <a:cxnLst/>
            <a:rect l="l" t="t" r="r" b="b"/>
            <a:pathLst>
              <a:path w="1654373" h="289520">
                <a:moveTo>
                  <a:pt x="144760" y="0"/>
                </a:moveTo>
                <a:lnTo>
                  <a:pt x="1509613" y="0"/>
                </a:lnTo>
                <a:arcTo hR="144760" wR="144760" stAng="16200000" swAng="5400000"/>
                <a:lnTo>
                  <a:pt x="1654373" y="144760"/>
                </a:lnTo>
                <a:arcTo hR="144760" wR="144760" stAng="0" swAng="5400000"/>
                <a:lnTo>
                  <a:pt x="144760" y="289520"/>
                </a:lnTo>
                <a:arcTo hR="144760" wR="144760" stAng="5400000" swAng="5400000"/>
                <a:lnTo>
                  <a:pt x="0" y="144760"/>
                </a:lnTo>
                <a:arcTo hR="144760" wR="144760" stAng="10800000" swAng="5400000"/>
                <a:close/>
              </a:path>
            </a:pathLst>
          </a:custGeom>
          <a:solidFill>
            <a:srgbClr val="0E7C7B"/>
          </a:solidFill>
          <a:ln/>
        </p:spPr>
        <p:txBody>
          <a:bodyPr wrap="none" lIns="0" tIns="0" rIns="0" bIns="0" rtlCol="0" anchor="ctr">
            <a:normAutofit/>
          </a:bodyPr>
          <a:lstStyle/>
          <a:p>
            <a:pPr algn="ctr" indent="0" marL="0">
              <a:lnSpc>
                <a:spcPts val="1680"/>
              </a:lnSpc>
              <a:buNone/>
            </a:pPr>
            <a:r>
              <a:rPr lang="en-US" sz="1200" b="1" spc="100" kern="0" dirty="0">
                <a:solidFill>
                  <a:srgbClr val="FCFDFB"/>
                </a:solidFill>
                <a:latin typeface="IBM Plex Sans" pitchFamily="34" charset="0"/>
                <a:ea typeface="IBM Plex Sans" pitchFamily="34" charset="-122"/>
                <a:cs typeface="IBM Plex Sans" pitchFamily="34" charset="-120"/>
              </a:rPr>
              <a:t>MISSING VALUES</a:t>
            </a:r>
            <a:endParaRPr lang="en-US" sz="1200" dirty="0"/>
          </a:p>
        </p:txBody>
      </p:sp>
      <p:sp>
        <p:nvSpPr>
          <p:cNvPr id="20" name="Text 15"/>
          <p:cNvSpPr/>
          <p:nvPr/>
        </p:nvSpPr>
        <p:spPr>
          <a:xfrm>
            <a:off x="990600" y="4271466"/>
            <a:ext cx="49969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35C"/>
                </a:solidFill>
                <a:latin typeface="IBM Plex Sans" pitchFamily="34" charset="0"/>
                <a:ea typeface="IBM Plex Sans" pitchFamily="34" charset="-122"/>
                <a:cs typeface="IBM Plex Sans" pitchFamily="34" charset="-120"/>
              </a:rPr>
              <a:t>Each split learns which branch receives missing responses.</a:t>
            </a:r>
            <a:endParaRPr lang="en-US" sz="1400" dirty="0"/>
          </a:p>
        </p:txBody>
      </p:sp>
      <p:sp>
        <p:nvSpPr>
          <p:cNvPr id="21" name="Shape 16"/>
          <p:cNvSpPr/>
          <p:nvPr/>
        </p:nvSpPr>
        <p:spPr>
          <a:xfrm>
            <a:off x="6172200" y="3715246"/>
            <a:ext cx="5207000" cy="1480691"/>
          </a:xfrm>
          <a:prstGeom prst="roundRect">
            <a:avLst>
              <a:gd name="adj" fmla="val 6862"/>
            </a:avLst>
          </a:prstGeom>
          <a:solidFill>
            <a:srgbClr val="F6DCCB"/>
          </a:solidFill>
          <a:ln/>
        </p:spPr>
      </p:sp>
      <p:sp>
        <p:nvSpPr>
          <p:cNvPr id="22" name="Text 17"/>
          <p:cNvSpPr/>
          <p:nvPr/>
        </p:nvSpPr>
        <p:spPr>
          <a:xfrm>
            <a:off x="6350000" y="3893046"/>
            <a:ext cx="1949351" cy="289520"/>
          </a:xfrm>
          <a:custGeom>
            <a:avLst/>
            <a:gdLst/>
            <a:ahLst/>
            <a:cxnLst/>
            <a:rect l="l" t="t" r="r" b="b"/>
            <a:pathLst>
              <a:path w="1949351" h="289520">
                <a:moveTo>
                  <a:pt x="144760" y="0"/>
                </a:moveTo>
                <a:lnTo>
                  <a:pt x="1804591" y="0"/>
                </a:lnTo>
                <a:arcTo hR="144760" wR="144760" stAng="16200000" swAng="5400000"/>
                <a:lnTo>
                  <a:pt x="1949351" y="144760"/>
                </a:lnTo>
                <a:arcTo hR="144760" wR="144760" stAng="0" swAng="5400000"/>
                <a:lnTo>
                  <a:pt x="144760" y="289520"/>
                </a:lnTo>
                <a:arcTo hR="144760" wR="144760" stAng="5400000" swAng="5400000"/>
                <a:lnTo>
                  <a:pt x="0" y="144760"/>
                </a:lnTo>
                <a:arcTo hR="144760" wR="144760" stAng="10800000" swAng="5400000"/>
                <a:close/>
              </a:path>
            </a:pathLst>
          </a:custGeom>
          <a:solidFill>
            <a:srgbClr val="B34E12"/>
          </a:solidFill>
          <a:ln/>
        </p:spPr>
        <p:txBody>
          <a:bodyPr wrap="none" lIns="0" tIns="0" rIns="0" bIns="0" rtlCol="0" anchor="ctr">
            <a:normAutofit/>
          </a:bodyPr>
          <a:lstStyle/>
          <a:p>
            <a:pPr algn="ctr" indent="0" marL="0">
              <a:lnSpc>
                <a:spcPts val="1680"/>
              </a:lnSpc>
              <a:buNone/>
            </a:pPr>
            <a:r>
              <a:rPr lang="en-US" sz="1200" b="1" spc="100" kern="0" dirty="0">
                <a:solidFill>
                  <a:srgbClr val="FCFDFB"/>
                </a:solidFill>
                <a:latin typeface="IBM Plex Sans" pitchFamily="34" charset="0"/>
                <a:ea typeface="IBM Plex Sans" pitchFamily="34" charset="-122"/>
                <a:cs typeface="IBM Plex Sans" pitchFamily="34" charset="-120"/>
              </a:rPr>
              <a:t>SOURCE LIMITATION</a:t>
            </a:r>
            <a:endParaRPr lang="en-US" sz="1200" dirty="0"/>
          </a:p>
        </p:txBody>
      </p:sp>
      <p:sp>
        <p:nvSpPr>
          <p:cNvPr id="23" name="Text 18"/>
          <p:cNvSpPr/>
          <p:nvPr/>
        </p:nvSpPr>
        <p:spPr>
          <a:xfrm>
            <a:off x="6350000" y="4271466"/>
            <a:ext cx="499694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84B"/>
                </a:solidFill>
                <a:latin typeface="IBM Plex Sans" pitchFamily="34" charset="0"/>
                <a:ea typeface="IBM Plex Sans" pitchFamily="34" charset="-122"/>
                <a:cs typeface="IBM Plex Sans" pitchFamily="34" charset="-120"/>
              </a:rPr>
              <a:t>The preserved historical source omits some observed-versus-missing split candidates; a corrected search was evaluated separately.</a:t>
            </a:r>
            <a:endParaRPr lang="en-US" sz="1400" dirty="0"/>
          </a:p>
        </p:txBody>
      </p:sp>
      <p:sp>
        <p:nvSpPr>
          <p:cNvPr id="24" name="Text 19"/>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678"/>
                </a:solidFill>
                <a:latin typeface="IBM Plex Sans" pitchFamily="34" charset="0"/>
                <a:ea typeface="IBM Plex Sans" pitchFamily="34" charset="-122"/>
                <a:cs typeface="IBM Plex Sans" pitchFamily="34" charset="-120"/>
              </a:rPr>
              <a:t>The final pipeline uses the byte-identical historical booster source. Remaining parameters are in Appendix A.</a:t>
            </a:r>
            <a:endParaRPr lang="en-US" sz="1400" dirty="0"/>
          </a:p>
        </p:txBody>
      </p:sp>
      <p:sp>
        <p:nvSpPr>
          <p:cNvPr id="25"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src/numpy_boosting_phase14.py, configs/final_model.json, FINAL_REPORT.md</a:t>
            </a:r>
            <a:endParaRPr lang="en-US" sz="1200" dirty="0"/>
          </a:p>
        </p:txBody>
      </p:sp>
      <p:sp>
        <p:nvSpPr>
          <p:cNvPr id="26"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The historical booster beat matched logistic regression</a:t>
            </a:r>
            <a:endParaRPr lang="en-US" sz="3000" dirty="0"/>
          </a:p>
        </p:txBody>
      </p:sp>
      <p:sp>
        <p:nvSpPr>
          <p:cNvPr id="3" name="Text 1"/>
          <p:cNvSpPr/>
          <p:nvPr/>
        </p:nvSpPr>
        <p:spPr>
          <a:xfrm>
            <a:off x="812800" y="1967309"/>
            <a:ext cx="313944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84B"/>
                </a:solidFill>
                <a:latin typeface="IBM Plex Sans" pitchFamily="34" charset="0"/>
                <a:ea typeface="IBM Plex Sans" pitchFamily="34" charset="-122"/>
                <a:cs typeface="IBM Plex Sans" pitchFamily="34" charset="-120"/>
              </a:rPr>
              <a:t>Outer fold 1</a:t>
            </a:r>
            <a:endParaRPr lang="en-US" sz="1200" dirty="0"/>
          </a:p>
        </p:txBody>
      </p:sp>
      <p:sp>
        <p:nvSpPr>
          <p:cNvPr id="4" name="Text 2"/>
          <p:cNvSpPr/>
          <p:nvPr/>
        </p:nvSpPr>
        <p:spPr>
          <a:xfrm>
            <a:off x="812800" y="2380059"/>
            <a:ext cx="313944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84B"/>
                </a:solidFill>
                <a:latin typeface="IBM Plex Sans" pitchFamily="34" charset="0"/>
                <a:ea typeface="IBM Plex Sans" pitchFamily="34" charset="-122"/>
                <a:cs typeface="IBM Plex Sans" pitchFamily="34" charset="-120"/>
              </a:rPr>
              <a:t>Outer fold 2</a:t>
            </a:r>
            <a:endParaRPr lang="en-US" sz="1200" dirty="0"/>
          </a:p>
        </p:txBody>
      </p:sp>
      <p:sp>
        <p:nvSpPr>
          <p:cNvPr id="5" name="Text 3"/>
          <p:cNvSpPr/>
          <p:nvPr/>
        </p:nvSpPr>
        <p:spPr>
          <a:xfrm>
            <a:off x="812800" y="2792809"/>
            <a:ext cx="313944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84B"/>
                </a:solidFill>
                <a:latin typeface="IBM Plex Sans" pitchFamily="34" charset="0"/>
                <a:ea typeface="IBM Plex Sans" pitchFamily="34" charset="-122"/>
                <a:cs typeface="IBM Plex Sans" pitchFamily="34" charset="-120"/>
              </a:rPr>
              <a:t>Outer fold 3</a:t>
            </a:r>
            <a:endParaRPr lang="en-US" sz="1200" dirty="0"/>
          </a:p>
        </p:txBody>
      </p:sp>
      <p:sp>
        <p:nvSpPr>
          <p:cNvPr id="6" name="Text 4"/>
          <p:cNvSpPr/>
          <p:nvPr/>
        </p:nvSpPr>
        <p:spPr>
          <a:xfrm>
            <a:off x="812800" y="3211909"/>
            <a:ext cx="313944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B6E70"/>
                </a:solidFill>
                <a:latin typeface="IBM Plex Sans" pitchFamily="34" charset="0"/>
                <a:ea typeface="IBM Plex Sans" pitchFamily="34" charset="-122"/>
                <a:cs typeface="IBM Plex Sans" pitchFamily="34" charset="-120"/>
              </a:rPr>
              <a:t>Pooled, paired 95% interval [+0.0049, +0.0105]</a:t>
            </a:r>
            <a:endParaRPr lang="en-US" sz="1200" dirty="0"/>
          </a:p>
        </p:txBody>
      </p:sp>
      <p:sp>
        <p:nvSpPr>
          <p:cNvPr id="7" name="Shape 5"/>
          <p:cNvSpPr/>
          <p:nvPr/>
        </p:nvSpPr>
        <p:spPr>
          <a:xfrm>
            <a:off x="5086350" y="1827609"/>
            <a:ext cx="12700" cy="1905000"/>
          </a:xfrm>
          <a:prstGeom prst="rect">
            <a:avLst/>
          </a:prstGeom>
          <a:solidFill>
            <a:srgbClr val="14284B"/>
          </a:solidFill>
          <a:ln/>
        </p:spPr>
      </p:sp>
      <p:sp>
        <p:nvSpPr>
          <p:cNvPr id="8" name="Shape 6"/>
          <p:cNvSpPr/>
          <p:nvPr/>
        </p:nvSpPr>
        <p:spPr>
          <a:xfrm>
            <a:off x="4114800" y="3796109"/>
            <a:ext cx="6858000" cy="12700"/>
          </a:xfrm>
          <a:prstGeom prst="rect">
            <a:avLst/>
          </a:prstGeom>
          <a:solidFill>
            <a:srgbClr val="5B6678"/>
          </a:solidFill>
          <a:ln/>
        </p:spPr>
      </p:sp>
      <p:pic>
        <p:nvPicPr>
          <p:cNvPr id="9" name="Image 0" descr="ellipse">    </p:cNvPr>
          <p:cNvPicPr>
            <a:picLocks noChangeAspect="1"/>
          </p:cNvPicPr>
          <p:nvPr/>
        </p:nvPicPr>
        <p:blipFill>
          <a:blip r:embed="rId1"/>
          <a:srcRect l="0" r="0" t="0" b="0"/>
          <a:stretch/>
        </p:blipFill>
        <p:spPr>
          <a:xfrm>
            <a:off x="7143750" y="1992709"/>
            <a:ext cx="177800" cy="177800"/>
          </a:xfrm>
          <a:prstGeom prst="rect">
            <a:avLst/>
          </a:prstGeom>
        </p:spPr>
      </p:pic>
      <p:pic>
        <p:nvPicPr>
          <p:cNvPr id="10" name="Image 1" descr="ellipse">    </p:cNvPr>
          <p:cNvPicPr>
            <a:picLocks noChangeAspect="1"/>
          </p:cNvPicPr>
          <p:nvPr/>
        </p:nvPicPr>
        <p:blipFill>
          <a:blip r:embed="rId2"/>
          <a:srcRect l="0" r="0" t="0" b="0"/>
          <a:stretch/>
        </p:blipFill>
        <p:spPr>
          <a:xfrm>
            <a:off x="10090150" y="2405459"/>
            <a:ext cx="177800" cy="177800"/>
          </a:xfrm>
          <a:prstGeom prst="rect">
            <a:avLst/>
          </a:prstGeom>
        </p:spPr>
      </p:pic>
      <p:pic>
        <p:nvPicPr>
          <p:cNvPr id="11" name="Image 2" descr="ellipse">    </p:cNvPr>
          <p:cNvPicPr>
            <a:picLocks noChangeAspect="1"/>
          </p:cNvPicPr>
          <p:nvPr/>
        </p:nvPicPr>
        <p:blipFill>
          <a:blip r:embed="rId3"/>
          <a:srcRect l="0" r="0" t="0" b="0"/>
          <a:stretch/>
        </p:blipFill>
        <p:spPr>
          <a:xfrm>
            <a:off x="9169400" y="2818209"/>
            <a:ext cx="177800" cy="177800"/>
          </a:xfrm>
          <a:prstGeom prst="rect">
            <a:avLst/>
          </a:prstGeom>
        </p:spPr>
      </p:pic>
      <p:sp>
        <p:nvSpPr>
          <p:cNvPr id="12" name="Shape 7"/>
          <p:cNvSpPr/>
          <p:nvPr/>
        </p:nvSpPr>
        <p:spPr>
          <a:xfrm>
            <a:off x="7505700" y="3326209"/>
            <a:ext cx="2711450" cy="177800"/>
          </a:xfrm>
          <a:prstGeom prst="roundRect">
            <a:avLst>
              <a:gd name="adj" fmla="val 28571"/>
            </a:avLst>
          </a:prstGeom>
          <a:solidFill>
            <a:srgbClr val="0E7C7B"/>
          </a:solidFill>
          <a:ln/>
        </p:spPr>
      </p:sp>
      <p:pic>
        <p:nvPicPr>
          <p:cNvPr id="13" name="Image 3" descr="ellipse">    </p:cNvPr>
          <p:cNvPicPr>
            <a:picLocks noChangeAspect="1"/>
          </p:cNvPicPr>
          <p:nvPr/>
        </p:nvPicPr>
        <p:blipFill>
          <a:blip r:embed="rId4"/>
          <a:srcRect l="0" r="0" t="0" b="0"/>
          <a:stretch/>
        </p:blipFill>
        <p:spPr>
          <a:xfrm>
            <a:off x="8743950" y="3300809"/>
            <a:ext cx="228600" cy="228600"/>
          </a:xfrm>
          <a:prstGeom prst="rect">
            <a:avLst/>
          </a:prstGeom>
        </p:spPr>
      </p:pic>
      <p:sp>
        <p:nvSpPr>
          <p:cNvPr id="14" name="Text 8"/>
          <p:cNvSpPr/>
          <p:nvPr/>
        </p:nvSpPr>
        <p:spPr>
          <a:xfrm>
            <a:off x="7410450" y="1973659"/>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IBM Plex Sans" pitchFamily="34" charset="0"/>
                <a:ea typeface="IBM Plex Sans" pitchFamily="34" charset="-122"/>
                <a:cs typeface="IBM Plex Sans" pitchFamily="34" charset="-120"/>
              </a:rPr>
              <a:t>+0.0044</a:t>
            </a:r>
            <a:endParaRPr lang="en-US" sz="1200" dirty="0"/>
          </a:p>
        </p:txBody>
      </p:sp>
      <p:sp>
        <p:nvSpPr>
          <p:cNvPr id="15" name="Text 9"/>
          <p:cNvSpPr/>
          <p:nvPr/>
        </p:nvSpPr>
        <p:spPr>
          <a:xfrm>
            <a:off x="10356850" y="2386409"/>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IBM Plex Sans" pitchFamily="34" charset="0"/>
                <a:ea typeface="IBM Plex Sans" pitchFamily="34" charset="-122"/>
                <a:cs typeface="IBM Plex Sans" pitchFamily="34" charset="-120"/>
              </a:rPr>
              <a:t>+0.0104</a:t>
            </a:r>
            <a:endParaRPr lang="en-US" sz="1200" dirty="0"/>
          </a:p>
        </p:txBody>
      </p:sp>
      <p:sp>
        <p:nvSpPr>
          <p:cNvPr id="16" name="Text 10"/>
          <p:cNvSpPr/>
          <p:nvPr/>
        </p:nvSpPr>
        <p:spPr>
          <a:xfrm>
            <a:off x="9436100" y="2799159"/>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IBM Plex Sans" pitchFamily="34" charset="0"/>
                <a:ea typeface="IBM Plex Sans" pitchFamily="34" charset="-122"/>
                <a:cs typeface="IBM Plex Sans" pitchFamily="34" charset="-120"/>
              </a:rPr>
              <a:t>+0.0085</a:t>
            </a:r>
            <a:endParaRPr lang="en-US" sz="1200" dirty="0"/>
          </a:p>
        </p:txBody>
      </p:sp>
      <p:sp>
        <p:nvSpPr>
          <p:cNvPr id="17" name="Text 11"/>
          <p:cNvSpPr/>
          <p:nvPr/>
        </p:nvSpPr>
        <p:spPr>
          <a:xfrm>
            <a:off x="10306050" y="3307159"/>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70"/>
                </a:solidFill>
                <a:latin typeface="IBM Plex Sans" pitchFamily="34" charset="0"/>
                <a:ea typeface="IBM Plex Sans" pitchFamily="34" charset="-122"/>
                <a:cs typeface="IBM Plex Sans" pitchFamily="34" charset="-120"/>
              </a:rPr>
              <a:t>+0.0077</a:t>
            </a:r>
            <a:endParaRPr lang="en-US" sz="1200" dirty="0"/>
          </a:p>
        </p:txBody>
      </p:sp>
      <p:sp>
        <p:nvSpPr>
          <p:cNvPr id="18" name="Text 12"/>
          <p:cNvSpPr/>
          <p:nvPr/>
        </p:nvSpPr>
        <p:spPr>
          <a:xfrm>
            <a:off x="377190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−0.002</a:t>
            </a:r>
            <a:endParaRPr lang="en-US" sz="1200" dirty="0"/>
          </a:p>
        </p:txBody>
      </p:sp>
      <p:sp>
        <p:nvSpPr>
          <p:cNvPr id="19" name="Text 13"/>
          <p:cNvSpPr/>
          <p:nvPr/>
        </p:nvSpPr>
        <p:spPr>
          <a:xfrm>
            <a:off x="474980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4B"/>
                </a:solidFill>
                <a:latin typeface="IBM Plex Sans" pitchFamily="34" charset="0"/>
                <a:ea typeface="IBM Plex Sans" pitchFamily="34" charset="-122"/>
                <a:cs typeface="IBM Plex Sans" pitchFamily="34" charset="-120"/>
              </a:rPr>
              <a:t>0</a:t>
            </a:r>
            <a:endParaRPr lang="en-US" sz="1200" dirty="0"/>
          </a:p>
        </p:txBody>
      </p:sp>
      <p:sp>
        <p:nvSpPr>
          <p:cNvPr id="20" name="Text 14"/>
          <p:cNvSpPr/>
          <p:nvPr/>
        </p:nvSpPr>
        <p:spPr>
          <a:xfrm>
            <a:off x="573405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+0.002</a:t>
            </a:r>
            <a:endParaRPr lang="en-US" sz="1200" dirty="0"/>
          </a:p>
        </p:txBody>
      </p:sp>
      <p:sp>
        <p:nvSpPr>
          <p:cNvPr id="21" name="Text 15"/>
          <p:cNvSpPr/>
          <p:nvPr/>
        </p:nvSpPr>
        <p:spPr>
          <a:xfrm>
            <a:off x="671195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+0.004</a:t>
            </a:r>
            <a:endParaRPr lang="en-US" sz="1200" dirty="0"/>
          </a:p>
        </p:txBody>
      </p:sp>
      <p:sp>
        <p:nvSpPr>
          <p:cNvPr id="22" name="Text 16"/>
          <p:cNvSpPr/>
          <p:nvPr/>
        </p:nvSpPr>
        <p:spPr>
          <a:xfrm>
            <a:off x="768985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+0.006</a:t>
            </a:r>
            <a:endParaRPr lang="en-US" sz="1200" dirty="0"/>
          </a:p>
        </p:txBody>
      </p:sp>
      <p:sp>
        <p:nvSpPr>
          <p:cNvPr id="23" name="Text 17"/>
          <p:cNvSpPr/>
          <p:nvPr/>
        </p:nvSpPr>
        <p:spPr>
          <a:xfrm>
            <a:off x="866775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+0.008</a:t>
            </a:r>
            <a:endParaRPr lang="en-US" sz="1200" dirty="0"/>
          </a:p>
        </p:txBody>
      </p:sp>
      <p:sp>
        <p:nvSpPr>
          <p:cNvPr id="24" name="Text 18"/>
          <p:cNvSpPr/>
          <p:nvPr/>
        </p:nvSpPr>
        <p:spPr>
          <a:xfrm>
            <a:off x="9652000" y="3872309"/>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+0.010</a:t>
            </a:r>
            <a:endParaRPr lang="en-US" sz="1200" dirty="0"/>
          </a:p>
        </p:txBody>
      </p:sp>
      <p:sp>
        <p:nvSpPr>
          <p:cNvPr id="25" name="Text 19"/>
          <p:cNvSpPr/>
          <p:nvPr/>
        </p:nvSpPr>
        <p:spPr>
          <a:xfrm>
            <a:off x="4011930" y="4126309"/>
            <a:ext cx="70637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Booster minus matched logistic, historical nested F1 (0 = no difference)</a:t>
            </a:r>
            <a:endParaRPr lang="en-US" sz="1200" dirty="0"/>
          </a:p>
        </p:txBody>
      </p:sp>
      <p:sp>
        <p:nvSpPr>
          <p:cNvPr id="26" name="Text 20"/>
          <p:cNvSpPr/>
          <p:nvPr/>
        </p:nvSpPr>
        <p:spPr>
          <a:xfrm>
            <a:off x="812800" y="4937919"/>
            <a:ext cx="1088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Pooled nested F1: reference booster </a:t>
            </a:r>
            <a:r>
              <a:rPr lang="en-US" sz="1200" b="1" dirty="0">
                <a:solidFill>
                  <a:srgbClr val="34435C"/>
                </a:solidFill>
                <a:latin typeface="IBM Plex Sans" pitchFamily="34" charset="0"/>
                <a:ea typeface="IBM Plex Sans" pitchFamily="34" charset="-122"/>
                <a:cs typeface="IBM Plex Sans" pitchFamily="34" charset="-120"/>
              </a:rPr>
              <a:t>0.442155</a:t>
            </a:r>
            <a:r>
              <a:rPr lang="en-US" sz="1200" dirty="0">
                <a:solidFill>
                  <a:srgbClr val="34435C"/>
                </a:solidFill>
                <a:latin typeface="IBM Plex Sans" pitchFamily="34" charset="0"/>
                <a:ea typeface="IBM Plex Sans" pitchFamily="34" charset="-122"/>
                <a:cs typeface="IBM Plex Sans" pitchFamily="34" charset="-120"/>
              </a:rPr>
              <a:t>, matched logistic </a:t>
            </a:r>
            <a:r>
              <a:rPr lang="en-US" sz="1200" b="1" dirty="0">
                <a:solidFill>
                  <a:srgbClr val="34435C"/>
                </a:solidFill>
                <a:latin typeface="IBM Plex Sans" pitchFamily="34" charset="0"/>
                <a:ea typeface="IBM Plex Sans" pitchFamily="34" charset="-122"/>
                <a:cs typeface="IBM Plex Sans" pitchFamily="34" charset="-120"/>
              </a:rPr>
              <a:t>0.434467</a:t>
            </a:r>
            <a:r>
              <a:rPr lang="en-US" sz="1200" dirty="0">
                <a:solidFill>
                  <a:srgbClr val="34435C"/>
                </a:solidFill>
                <a:latin typeface="IBM Plex Sans" pitchFamily="34" charset="0"/>
                <a:ea typeface="IBM Plex Sans" pitchFamily="34" charset="-122"/>
                <a:cs typeface="IBM Plex Sans" pitchFamily="34" charset="-120"/>
              </a:rPr>
              <a:t>. Same cleaning, 295 source variables, development rows and folds; logistic regression has its own fitted filling, scaling and missingness flags, so this compares complete pipelines. The interval is conditional on the fitted models and thresholds.</a:t>
            </a:r>
            <a:endParaRPr lang="en-US" sz="1200" dirty="0"/>
          </a:p>
        </p:txBody>
      </p:sp>
      <p:sp>
        <p:nvSpPr>
          <p:cNvPr id="27" name="Text 2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4E12"/>
                </a:solidFill>
                <a:latin typeface="IBM Plex Sans" pitchFamily="34" charset="0"/>
                <a:ea typeface="IBM Plex Sans" pitchFamily="34" charset="-122"/>
                <a:cs typeface="IBM Plex Sans" pitchFamily="34" charset="-120"/>
              </a:rPr>
              <a:t>This historical comparison does not evaluate the final combined pipeline.</a:t>
            </a:r>
            <a:endParaRPr lang="en-US" sz="1200" dirty="0"/>
          </a:p>
        </p:txBody>
      </p:sp>
      <p:sp>
        <p:nvSpPr>
          <p:cNvPr id="28" name="Text 2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phase38_matched_logistic_summary.md, assets/chart_data/model_comparison.csv</a:t>
            </a:r>
            <a:endParaRPr lang="en-US" sz="1200" dirty="0"/>
          </a:p>
        </p:txBody>
      </p:sp>
      <p:sp>
        <p:nvSpPr>
          <p:cNvPr id="29"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0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Evaluation and threshold calibration are separate</a:t>
            </a:r>
            <a:endParaRPr lang="en-US" sz="3000" dirty="0"/>
          </a:p>
        </p:txBody>
      </p:sp>
      <p:sp>
        <p:nvSpPr>
          <p:cNvPr id="3" name="Text 1"/>
          <p:cNvSpPr/>
          <p:nvPr/>
        </p:nvSpPr>
        <p:spPr>
          <a:xfrm>
            <a:off x="812800" y="1735832"/>
            <a:ext cx="196215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84B"/>
                </a:solidFill>
                <a:latin typeface="IBM Plex Sans" pitchFamily="34" charset="0"/>
                <a:ea typeface="IBM Plex Sans" pitchFamily="34" charset="-122"/>
                <a:cs typeface="IBM Plex Sans" pitchFamily="34" charset="-120"/>
              </a:rPr>
              <a:t>Historical nested evaluation · 262,508 rows</a:t>
            </a:r>
            <a:endParaRPr lang="en-US" sz="1200" dirty="0"/>
          </a:p>
        </p:txBody>
      </p:sp>
      <p:sp>
        <p:nvSpPr>
          <p:cNvPr id="4" name="Text 2"/>
          <p:cNvSpPr/>
          <p:nvPr/>
        </p:nvSpPr>
        <p:spPr>
          <a:xfrm>
            <a:off x="2794000" y="1733252"/>
            <a:ext cx="1656060" cy="401290"/>
          </a:xfrm>
          <a:prstGeom prst="roundRect">
            <a:avLst>
              <a:gd name="adj" fmla="val 18989"/>
            </a:avLst>
          </a:prstGeom>
          <a:solidFill>
            <a:srgbClr val="FCFDFB"/>
          </a:solidFill>
          <a:ln/>
        </p:spPr>
        <p:txBody>
          <a:bodyPr wrap="square" lIns="104682" tIns="79282" rIns="53882"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3 outer folds</a:t>
            </a:r>
            <a:endParaRPr lang="en-US" sz="1200" dirty="0"/>
          </a:p>
        </p:txBody>
      </p:sp>
      <p:pic>
        <p:nvPicPr>
          <p:cNvPr id="5" name="Image 0" descr="arrow-right">    </p:cNvPr>
          <p:cNvPicPr>
            <a:picLocks noChangeAspect="1"/>
          </p:cNvPicPr>
          <p:nvPr/>
        </p:nvPicPr>
        <p:blipFill>
          <a:blip r:embed="rId1"/>
          <a:srcRect l="0" r="0" t="0" b="0"/>
          <a:stretch/>
        </p:blipFill>
        <p:spPr>
          <a:xfrm>
            <a:off x="4526260" y="1870422"/>
            <a:ext cx="254000" cy="127000"/>
          </a:xfrm>
          <a:prstGeom prst="rect">
            <a:avLst/>
          </a:prstGeom>
        </p:spPr>
      </p:pic>
      <p:sp>
        <p:nvSpPr>
          <p:cNvPr id="6" name="Text 3"/>
          <p:cNvSpPr/>
          <p:nvPr/>
        </p:nvSpPr>
        <p:spPr>
          <a:xfrm>
            <a:off x="4856460" y="1634232"/>
            <a:ext cx="3058170" cy="599380"/>
          </a:xfrm>
          <a:prstGeom prst="roundRect">
            <a:avLst>
              <a:gd name="adj" fmla="val 12713"/>
            </a:avLst>
          </a:prstGeom>
          <a:solidFill>
            <a:srgbClr val="FCFDFB"/>
          </a:solidFill>
          <a:ln/>
        </p:spPr>
        <p:txBody>
          <a:bodyPr wrap="square" lIns="104682" tIns="79282" rIns="20557"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2 inner folds choose the threshold from OOF probabilities</a:t>
            </a:r>
            <a:endParaRPr lang="en-US" sz="1200" dirty="0"/>
          </a:p>
        </p:txBody>
      </p:sp>
      <p:pic>
        <p:nvPicPr>
          <p:cNvPr id="7" name="Image 1" descr="arrow-right">    </p:cNvPr>
          <p:cNvPicPr>
            <a:picLocks noChangeAspect="1"/>
          </p:cNvPicPr>
          <p:nvPr/>
        </p:nvPicPr>
        <p:blipFill>
          <a:blip r:embed="rId2"/>
          <a:srcRect l="0" r="0" t="0" b="0"/>
          <a:stretch/>
        </p:blipFill>
        <p:spPr>
          <a:xfrm>
            <a:off x="7990830" y="1870422"/>
            <a:ext cx="254000" cy="127000"/>
          </a:xfrm>
          <a:prstGeom prst="rect">
            <a:avLst/>
          </a:prstGeom>
        </p:spPr>
      </p:pic>
      <p:sp>
        <p:nvSpPr>
          <p:cNvPr id="8" name="Text 4"/>
          <p:cNvSpPr/>
          <p:nvPr/>
        </p:nvSpPr>
        <p:spPr>
          <a:xfrm>
            <a:off x="8321030" y="1634232"/>
            <a:ext cx="3058170" cy="599380"/>
          </a:xfrm>
          <a:prstGeom prst="roundRect">
            <a:avLst>
              <a:gd name="adj" fmla="val 12713"/>
            </a:avLst>
          </a:prstGeom>
          <a:solidFill>
            <a:srgbClr val="FCFDFB"/>
          </a:solidFill>
          <a:ln/>
        </p:spPr>
        <p:txBody>
          <a:bodyPr wrap="square" lIns="104682" tIns="79282" rIns="20557"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Fixed threshold scores the excluded outer fold</a:t>
            </a:r>
            <a:endParaRPr lang="en-US" sz="1200" dirty="0"/>
          </a:p>
        </p:txBody>
      </p:sp>
      <p:sp>
        <p:nvSpPr>
          <p:cNvPr id="9" name="Text 5"/>
          <p:cNvSpPr/>
          <p:nvPr/>
        </p:nvSpPr>
        <p:spPr>
          <a:xfrm>
            <a:off x="812800" y="2436813"/>
            <a:ext cx="196215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B6E70"/>
                </a:solidFill>
                <a:latin typeface="IBM Plex Sans" pitchFamily="34" charset="0"/>
                <a:ea typeface="IBM Plex Sans" pitchFamily="34" charset="-122"/>
                <a:cs typeface="IBM Plex Sans" pitchFamily="34" charset="-120"/>
              </a:rPr>
              <a:t>Final threshold calibration · 328,135 rows</a:t>
            </a:r>
            <a:endParaRPr lang="en-US" sz="1200" dirty="0"/>
          </a:p>
        </p:txBody>
      </p:sp>
      <p:sp>
        <p:nvSpPr>
          <p:cNvPr id="10" name="Text 6"/>
          <p:cNvSpPr/>
          <p:nvPr/>
        </p:nvSpPr>
        <p:spPr>
          <a:xfrm>
            <a:off x="2794000" y="2335213"/>
            <a:ext cx="1656060" cy="599380"/>
          </a:xfrm>
          <a:prstGeom prst="roundRect">
            <a:avLst>
              <a:gd name="adj" fmla="val 12713"/>
            </a:avLst>
          </a:prstGeom>
          <a:solidFill>
            <a:srgbClr val="CFE8E5"/>
          </a:solidFill>
          <a:ln/>
        </p:spPr>
        <p:txBody>
          <a:bodyPr wrap="square" lIns="104682" tIns="79282" rIns="53882"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3 new stratified folds</a:t>
            </a:r>
            <a:endParaRPr lang="en-US" sz="1200" dirty="0"/>
          </a:p>
        </p:txBody>
      </p:sp>
      <p:pic>
        <p:nvPicPr>
          <p:cNvPr id="11" name="Image 2" descr="arrow-right">    </p:cNvPr>
          <p:cNvPicPr>
            <a:picLocks noChangeAspect="1"/>
          </p:cNvPicPr>
          <p:nvPr/>
        </p:nvPicPr>
        <p:blipFill>
          <a:blip r:embed="rId3"/>
          <a:srcRect l="0" r="0" t="0" b="0"/>
          <a:stretch/>
        </p:blipFill>
        <p:spPr>
          <a:xfrm>
            <a:off x="4526260" y="2571403"/>
            <a:ext cx="254000" cy="127000"/>
          </a:xfrm>
          <a:prstGeom prst="rect">
            <a:avLst/>
          </a:prstGeom>
        </p:spPr>
      </p:pic>
      <p:sp>
        <p:nvSpPr>
          <p:cNvPr id="12" name="Text 7"/>
          <p:cNvSpPr/>
          <p:nvPr/>
        </p:nvSpPr>
        <p:spPr>
          <a:xfrm>
            <a:off x="4856460" y="2335213"/>
            <a:ext cx="3058170" cy="599380"/>
          </a:xfrm>
          <a:prstGeom prst="roundRect">
            <a:avLst>
              <a:gd name="adj" fmla="val 12713"/>
            </a:avLst>
          </a:prstGeom>
          <a:solidFill>
            <a:srgbClr val="CFE8E5"/>
          </a:solidFill>
          <a:ln/>
        </p:spPr>
        <p:txBody>
          <a:bodyPr wrap="square" lIns="104682" tIns="79282" rIns="20557"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Threshold maximizes pooled OOF F1; accuracy breaks ties</a:t>
            </a:r>
            <a:endParaRPr lang="en-US" sz="1200" dirty="0"/>
          </a:p>
        </p:txBody>
      </p:sp>
      <p:pic>
        <p:nvPicPr>
          <p:cNvPr id="13" name="Image 3" descr="arrow-right">    </p:cNvPr>
          <p:cNvPicPr>
            <a:picLocks noChangeAspect="1"/>
          </p:cNvPicPr>
          <p:nvPr/>
        </p:nvPicPr>
        <p:blipFill>
          <a:blip r:embed="rId4"/>
          <a:srcRect l="0" r="0" t="0" b="0"/>
          <a:stretch/>
        </p:blipFill>
        <p:spPr>
          <a:xfrm>
            <a:off x="7990830" y="2571403"/>
            <a:ext cx="254000" cy="127000"/>
          </a:xfrm>
          <a:prstGeom prst="rect">
            <a:avLst/>
          </a:prstGeom>
        </p:spPr>
      </p:pic>
      <p:sp>
        <p:nvSpPr>
          <p:cNvPr id="14" name="Text 8"/>
          <p:cNvSpPr/>
          <p:nvPr/>
        </p:nvSpPr>
        <p:spPr>
          <a:xfrm>
            <a:off x="8321030" y="2335213"/>
            <a:ext cx="3058170" cy="599380"/>
          </a:xfrm>
          <a:prstGeom prst="roundRect">
            <a:avLst>
              <a:gd name="adj" fmla="val 12713"/>
            </a:avLst>
          </a:prstGeom>
          <a:solidFill>
            <a:srgbClr val="CFE8E5"/>
          </a:solidFill>
          <a:ln/>
        </p:spPr>
        <p:txBody>
          <a:bodyPr wrap="square" lIns="104682" tIns="79282" rIns="20557" bIns="53882"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Final fit on all labeled rows applies the fixed threshold</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349625"/>
          <a:ext cx="10553700" cy="1663402"/>
        </p:xfrm>
        <a:graphic>
          <a:graphicData uri="http://schemas.openxmlformats.org/drawingml/2006/table">
            <a:tbl>
              <a:tblPr/>
              <a:tblGrid>
                <a:gridCol w="4854702"/>
                <a:gridCol w="1477518"/>
                <a:gridCol w="4221480"/>
              </a:tblGrid>
              <a:tr h="332680">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Pipeline and protocol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F1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Interpretation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Historical reference, nested development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0.442155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Earlier pipeline, excluded outer folds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Final combination, OOF threshold calibration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0.443882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Same labels select and score the threshold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Final combination, AIcrowd 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Author-reported, used in selection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BBC0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Final combination, nested development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C4B0A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4B0A3"/>
                      </a:solidFill>
                      <a:prstDash val="solid"/>
                      <a:round/>
                      <a:headEnd type="none" w="med" len="med"/>
                      <a:tailEnd type="none" w="med" len="med"/>
                    </a:lnB>
                    <a:solidFill>
                      <a:srgbClr val="F6DCCB"/>
                    </a:solidFill>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A3"/>
                      </a:solidFill>
                      <a:prstDash val="solid"/>
                      <a:round/>
                      <a:headEnd type="none" w="med" len="med"/>
                      <a:tailEnd type="none" w="med" len="med"/>
                    </a:lnL>
                    <a:lnR w="12700" cap="flat" cmpd="sng" algn="ctr">
                      <a:solidFill>
                        <a:srgbClr val="C4B0A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4B0A3"/>
                      </a:solidFill>
                      <a:prstDash val="solid"/>
                      <a:round/>
                      <a:headEnd type="none" w="med" len="med"/>
                      <a:tailEnd type="none" w="med" len="med"/>
                    </a:lnB>
                    <a:solidFill>
                      <a:srgbClr val="F6DCCB"/>
                    </a:solidFill>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No completed estimate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A3"/>
                      </a:solidFill>
                      <a:prstDash val="solid"/>
                      <a:round/>
                      <a:headEnd type="none" w="med" len="med"/>
                      <a:tailEnd type="none" w="med" len="med"/>
                    </a:lnL>
                    <a:lnR w="12700" cap="flat" cmpd="sng" algn="ctr">
                      <a:solidFill>
                        <a:srgbClr val="C4B0A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4B0A3"/>
                      </a:solidFill>
                      <a:prstDash val="solid"/>
                      <a:round/>
                      <a:headEnd type="none" w="med" len="med"/>
                      <a:tailEnd type="none" w="med" len="med"/>
                    </a:lnB>
                    <a:solidFill>
                      <a:srgbClr val="F6DCCB"/>
                    </a:solidFill>
                  </a:tcPr>
                </a:tc>
              </a:tr>
            </a:tbl>
          </a:graphicData>
        </a:graphic>
      </p:graphicFrame>
      <p:sp>
        <p:nvSpPr>
          <p:cNvPr id="16" name="Text 9"/>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Preprocessing is learned inside each training partition. Calibration F1 is not an independent test, and this is threshold calibration, not a probability-calibration model. The values are not successive improvements.</a:t>
            </a:r>
            <a:endParaRPr lang="en-US" sz="1200" dirty="0"/>
          </a:p>
        </p:txBody>
      </p:sp>
      <p:sp>
        <p:nvSpPr>
          <p:cNvPr id="17" name="Text 1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final_phase14_validation.json, final_combined18_24_submission.json, final_model.json</a:t>
            </a:r>
            <a:endParaRPr lang="en-US" sz="1200" dirty="0"/>
          </a:p>
        </p:txBody>
      </p:sp>
      <p:sp>
        <p:nvSpPr>
          <p:cNvPr id="18"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Challenge feedback selected the final combination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43609"/>
          <a:ext cx="6464300" cy="2328763"/>
        </p:xfrm>
        <a:graphic>
          <a:graphicData uri="http://schemas.openxmlformats.org/drawingml/2006/table">
            <a:tbl>
              <a:tblPr/>
              <a:tblGrid>
                <a:gridCol w="4007866"/>
                <a:gridCol w="1228217"/>
                <a:gridCol w="1228217"/>
              </a:tblGrid>
              <a:tr h="332680">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Completed candidate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Displayed F1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Accuracy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Historical reference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0.878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Diet representation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0.882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Restricted imputation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0.880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Leaf L2 = 5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0.883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FCFDFB"/>
                          </a:solidFill>
                          <a:latin typeface="IBM Plex Sans" pitchFamily="34" charset="0"/>
                          <a:ea typeface="IBM Plex Sans" pitchFamily="34" charset="-122"/>
                          <a:cs typeface="IBM Plex Sans" pitchFamily="34" charset="-120"/>
                        </a:rPr>
                        <a:t>Diet + restricted imputation, L2 = 1 (selected)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0F656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0F6564"/>
                      </a:solidFill>
                      <a:prstDash val="solid"/>
                      <a:round/>
                      <a:headEnd type="none" w="med" len="med"/>
                      <a:tailEnd type="none" w="med" len="med"/>
                    </a:lnB>
                    <a:solidFill>
                      <a:srgbClr val="0E7C7B"/>
                    </a:solidFill>
                  </a:tcPr>
                </a:tc>
                <a:tc>
                  <a:txBody>
                    <a:bodyPr/>
                    <a:lstStyle/>
                    <a:p>
                      <a:pPr algn="r" indent="0" marL="0">
                        <a:lnSpc>
                          <a:spcPts val="1680"/>
                        </a:lnSpc>
                        <a:buNone/>
                      </a:pPr>
                      <a:r>
                        <a:rPr lang="en-US" sz="1200" dirty="0">
                          <a:solidFill>
                            <a:srgbClr val="FCFDFB"/>
                          </a:solidFill>
                          <a:latin typeface="IBM Plex Sans" pitchFamily="34" charset="0"/>
                          <a:ea typeface="IBM Plex Sans" pitchFamily="34" charset="-122"/>
                          <a:cs typeface="IBM Plex Sans" pitchFamily="34" charset="-120"/>
                        </a:rPr>
                        <a:t>0.455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6564"/>
                      </a:solidFill>
                      <a:prstDash val="solid"/>
                      <a:round/>
                      <a:headEnd type="none" w="med" len="med"/>
                      <a:tailEnd type="none" w="med" len="med"/>
                    </a:lnL>
                    <a:lnR w="12700" cap="flat" cmpd="sng" algn="ctr">
                      <a:solidFill>
                        <a:srgbClr val="0F656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0F6564"/>
                      </a:solidFill>
                      <a:prstDash val="solid"/>
                      <a:round/>
                      <a:headEnd type="none" w="med" len="med"/>
                      <a:tailEnd type="none" w="med" len="med"/>
                    </a:lnB>
                    <a:solidFill>
                      <a:srgbClr val="0E7C7B"/>
                    </a:solidFill>
                  </a:tcPr>
                </a:tc>
                <a:tc>
                  <a:txBody>
                    <a:bodyPr/>
                    <a:lstStyle/>
                    <a:p>
                      <a:pPr algn="r" indent="0" marL="0">
                        <a:lnSpc>
                          <a:spcPts val="1680"/>
                        </a:lnSpc>
                        <a:buNone/>
                      </a:pPr>
                      <a:r>
                        <a:rPr lang="en-US" sz="1200" dirty="0">
                          <a:solidFill>
                            <a:srgbClr val="FCFDFB"/>
                          </a:solidFill>
                          <a:latin typeface="IBM Plex Sans" pitchFamily="34" charset="0"/>
                          <a:ea typeface="IBM Plex Sans" pitchFamily="34" charset="-122"/>
                          <a:cs typeface="IBM Plex Sans" pitchFamily="34" charset="-120"/>
                        </a:rPr>
                        <a:t>0.882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6564"/>
                      </a:solidFill>
                      <a:prstDash val="solid"/>
                      <a:round/>
                      <a:headEnd type="none" w="med" len="med"/>
                      <a:tailEnd type="none" w="med" len="med"/>
                    </a:lnL>
                    <a:lnR w="12700" cap="flat" cmpd="sng" algn="ctr">
                      <a:solidFill>
                        <a:srgbClr val="0F656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0F6564"/>
                      </a:solidFill>
                      <a:prstDash val="solid"/>
                      <a:round/>
                      <a:headEnd type="none" w="med" len="med"/>
                      <a:tailEnd type="none" w="med" len="med"/>
                    </a:lnB>
                    <a:solidFill>
                      <a:srgbClr val="0E7C7B"/>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Diet + restricted imputation, L2 = 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0F656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0F656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0.883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0F656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4" name="Shape 1"/>
          <p:cNvSpPr/>
          <p:nvPr/>
        </p:nvSpPr>
        <p:spPr>
          <a:xfrm>
            <a:off x="7493000" y="2030909"/>
            <a:ext cx="3886200" cy="2585442"/>
          </a:xfrm>
          <a:prstGeom prst="roundRect">
            <a:avLst>
              <a:gd name="adj" fmla="val 3930"/>
            </a:avLst>
          </a:prstGeom>
          <a:solidFill>
            <a:srgbClr val="CFE8E5"/>
          </a:solidFill>
          <a:ln/>
        </p:spPr>
      </p:sp>
      <p:sp>
        <p:nvSpPr>
          <p:cNvPr id="5" name="Text 2"/>
          <p:cNvSpPr/>
          <p:nvPr/>
        </p:nvSpPr>
        <p:spPr>
          <a:xfrm>
            <a:off x="7696200" y="2234109"/>
            <a:ext cx="3584194"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B6E70"/>
                </a:solidFill>
                <a:latin typeface="IBM Plex Sans" pitchFamily="34" charset="0"/>
                <a:ea typeface="IBM Plex Sans" pitchFamily="34" charset="-122"/>
                <a:cs typeface="IBM Plex Sans" pitchFamily="34" charset="-120"/>
              </a:rPr>
              <a:t>+0.003</a:t>
            </a:r>
            <a:endParaRPr lang="en-US" sz="3000" dirty="0"/>
          </a:p>
        </p:txBody>
      </p:sp>
      <p:sp>
        <p:nvSpPr>
          <p:cNvPr id="6" name="Text 3"/>
          <p:cNvSpPr/>
          <p:nvPr/>
        </p:nvSpPr>
        <p:spPr>
          <a:xfrm>
            <a:off x="7696200" y="2742109"/>
            <a:ext cx="35841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IBM Plex Sans" pitchFamily="34" charset="0"/>
                <a:ea typeface="IBM Plex Sans" pitchFamily="34" charset="-122"/>
                <a:cs typeface="IBM Plex Sans" pitchFamily="34" charset="-120"/>
              </a:rPr>
              <a:t>displayed F1 over the historical submission; not a statistically reliable improvement</a:t>
            </a:r>
            <a:endParaRPr lang="en-US" sz="1200" dirty="0"/>
          </a:p>
        </p:txBody>
      </p:sp>
      <p:sp>
        <p:nvSpPr>
          <p:cNvPr id="7" name="Text 4"/>
          <p:cNvSpPr/>
          <p:nvPr/>
        </p:nvSpPr>
        <p:spPr>
          <a:xfrm>
            <a:off x="7696200" y="3257649"/>
            <a:ext cx="358419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F1 decided the choice even where another candidate has higher accuracy. Each candidate uses its own OOF-selected threshold.</a:t>
            </a:r>
            <a:endParaRPr lang="en-US" sz="1200" dirty="0"/>
          </a:p>
        </p:txBody>
      </p:sp>
      <p:sp>
        <p:nvSpPr>
          <p:cNvPr id="8" name="Text 5"/>
          <p:cNvSpPr/>
          <p:nvPr/>
        </p:nvSpPr>
        <p:spPr>
          <a:xfrm>
            <a:off x="7696200" y="3986510"/>
            <a:ext cx="358419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IBM Plex Sans" pitchFamily="34" charset="0"/>
                <a:ea typeface="IBM Plex Sans" pitchFamily="34" charset="-122"/>
                <a:cs typeface="IBM Plex Sans" pitchFamily="34" charset="-120"/>
              </a:rPr>
              <a:t>Locally, diet only (0.4419) and imputation only (0.4418) did not exceed the reference (0.4422).</a:t>
            </a:r>
            <a:endParaRPr lang="en-US" sz="1200" dirty="0"/>
          </a:p>
        </p:txBody>
      </p:sp>
      <p:sp>
        <p:nvSpPr>
          <p:cNvPr id="9" name="Text 6"/>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Author-reported AIcrowd display scores, rounded to three decimals: historical reference on 12 October 2026, other candidates on 13 October 2026. Direct submission URLs and screenshots were not supplied. Repeated feedback informed selection.</a:t>
            </a:r>
            <a:endParaRPr lang="en-US" sz="1200" dirty="0"/>
          </a:p>
        </p:txBody>
      </p:sp>
      <p:sp>
        <p:nvSpPr>
          <p:cNvPr id="10" name="Text 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aicrowd_progression.csv, evidence/aicrowd/, final_combined18_24_submission.json</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0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Post-event information limits the interpretation</a:t>
            </a:r>
            <a:endParaRPr lang="en-US" sz="3000" dirty="0"/>
          </a:p>
        </p:txBody>
      </p:sp>
      <p:sp>
        <p:nvSpPr>
          <p:cNvPr id="3" name="Shape 1"/>
          <p:cNvSpPr/>
          <p:nvPr/>
        </p:nvSpPr>
        <p:spPr>
          <a:xfrm>
            <a:off x="815975" y="1856581"/>
            <a:ext cx="3147467" cy="791170"/>
          </a:xfrm>
          <a:prstGeom prst="roundRect">
            <a:avLst>
              <a:gd name="adj" fmla="val 12440"/>
            </a:avLst>
          </a:prstGeom>
          <a:solidFill>
            <a:srgbClr val="FCFDFB"/>
          </a:solidFill>
          <a:ln w="6350">
            <a:solidFill>
              <a:srgbClr val="D3DCD9"/>
            </a:solidFill>
            <a:prstDash val="solid"/>
          </a:ln>
        </p:spPr>
      </p:sp>
      <p:sp>
        <p:nvSpPr>
          <p:cNvPr id="4" name="Text 2"/>
          <p:cNvSpPr/>
          <p:nvPr/>
        </p:nvSpPr>
        <p:spPr>
          <a:xfrm>
            <a:off x="996950" y="2012156"/>
            <a:ext cx="28690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678"/>
                </a:solidFill>
                <a:latin typeface="IBM Plex Sans" pitchFamily="34" charset="0"/>
                <a:ea typeface="IBM Plex Sans" pitchFamily="34" charset="-122"/>
                <a:cs typeface="IBM Plex Sans" pitchFamily="34" charset="-120"/>
              </a:rPr>
              <a:t>Event</a:t>
            </a:r>
            <a:endParaRPr lang="en-US" sz="1200" dirty="0"/>
          </a:p>
        </p:txBody>
      </p:sp>
      <p:sp>
        <p:nvSpPr>
          <p:cNvPr id="5" name="Text 3"/>
          <p:cNvSpPr/>
          <p:nvPr/>
        </p:nvSpPr>
        <p:spPr>
          <a:xfrm>
            <a:off x="996950" y="2261046"/>
            <a:ext cx="286908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Heart attack</a:t>
            </a:r>
            <a:endParaRPr lang="en-US" sz="1400" dirty="0"/>
          </a:p>
        </p:txBody>
      </p:sp>
      <p:pic>
        <p:nvPicPr>
          <p:cNvPr id="6" name="Image 0" descr="arrow-right">    </p:cNvPr>
          <p:cNvPicPr>
            <a:picLocks noChangeAspect="1"/>
          </p:cNvPicPr>
          <p:nvPr/>
        </p:nvPicPr>
        <p:blipFill>
          <a:blip r:embed="rId1"/>
          <a:srcRect l="0" r="0" t="0" b="0"/>
          <a:stretch/>
        </p:blipFill>
        <p:spPr>
          <a:xfrm>
            <a:off x="4068217" y="2163266"/>
            <a:ext cx="355600" cy="177800"/>
          </a:xfrm>
          <a:prstGeom prst="rect">
            <a:avLst/>
          </a:prstGeom>
        </p:spPr>
      </p:pic>
      <p:sp>
        <p:nvSpPr>
          <p:cNvPr id="7" name="Shape 4"/>
          <p:cNvSpPr/>
          <p:nvPr/>
        </p:nvSpPr>
        <p:spPr>
          <a:xfrm>
            <a:off x="4525417" y="1859756"/>
            <a:ext cx="3141166" cy="784820"/>
          </a:xfrm>
          <a:prstGeom prst="roundRect">
            <a:avLst>
              <a:gd name="adj" fmla="val 12946"/>
            </a:avLst>
          </a:prstGeom>
          <a:solidFill>
            <a:srgbClr val="F6DCCB"/>
          </a:solidFill>
          <a:ln/>
        </p:spPr>
      </p:sp>
      <p:sp>
        <p:nvSpPr>
          <p:cNvPr id="8" name="Text 5"/>
          <p:cNvSpPr/>
          <p:nvPr/>
        </p:nvSpPr>
        <p:spPr>
          <a:xfrm>
            <a:off x="4703217" y="2012156"/>
            <a:ext cx="286913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Collected after the event</a:t>
            </a:r>
            <a:endParaRPr lang="en-US" sz="1200" dirty="0"/>
          </a:p>
        </p:txBody>
      </p:sp>
      <p:sp>
        <p:nvSpPr>
          <p:cNvPr id="9" name="Text 6"/>
          <p:cNvSpPr/>
          <p:nvPr/>
        </p:nvSpPr>
        <p:spPr>
          <a:xfrm>
            <a:off x="4703217" y="2261046"/>
            <a:ext cx="286913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HAREHAB1: rehabilitation</a:t>
            </a:r>
            <a:endParaRPr lang="en-US" sz="1400" dirty="0"/>
          </a:p>
        </p:txBody>
      </p:sp>
      <p:pic>
        <p:nvPicPr>
          <p:cNvPr id="10" name="Image 1" descr="arrow-right">    </p:cNvPr>
          <p:cNvPicPr>
            <a:picLocks noChangeAspect="1"/>
          </p:cNvPicPr>
          <p:nvPr/>
        </p:nvPicPr>
        <p:blipFill>
          <a:blip r:embed="rId2"/>
          <a:srcRect l="0" r="0" t="0" b="0"/>
          <a:stretch/>
        </p:blipFill>
        <p:spPr>
          <a:xfrm>
            <a:off x="7768183" y="2163266"/>
            <a:ext cx="355600" cy="177800"/>
          </a:xfrm>
          <a:prstGeom prst="rect">
            <a:avLst/>
          </a:prstGeom>
        </p:spPr>
      </p:pic>
      <p:sp>
        <p:nvSpPr>
          <p:cNvPr id="11" name="Shape 7"/>
          <p:cNvSpPr/>
          <p:nvPr/>
        </p:nvSpPr>
        <p:spPr>
          <a:xfrm>
            <a:off x="8228558" y="1856581"/>
            <a:ext cx="3147467" cy="791170"/>
          </a:xfrm>
          <a:prstGeom prst="roundRect">
            <a:avLst>
              <a:gd name="adj" fmla="val 12440"/>
            </a:avLst>
          </a:prstGeom>
          <a:solidFill>
            <a:srgbClr val="FCFDFB"/>
          </a:solidFill>
          <a:ln w="6350">
            <a:solidFill>
              <a:srgbClr val="D3DCD9"/>
            </a:solidFill>
            <a:prstDash val="solid"/>
          </a:ln>
        </p:spPr>
      </p:sp>
      <p:sp>
        <p:nvSpPr>
          <p:cNvPr id="12" name="Text 8"/>
          <p:cNvSpPr/>
          <p:nvPr/>
        </p:nvSpPr>
        <p:spPr>
          <a:xfrm>
            <a:off x="8409533" y="2012156"/>
            <a:ext cx="28690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678"/>
                </a:solidFill>
                <a:latin typeface="IBM Plex Sans" pitchFamily="34" charset="0"/>
                <a:ea typeface="IBM Plex Sans" pitchFamily="34" charset="-122"/>
                <a:cs typeface="IBM Plex Sans" pitchFamily="34" charset="-120"/>
              </a:rPr>
              <a:t>Target, _MICHD</a:t>
            </a:r>
            <a:endParaRPr lang="en-US" sz="1200" dirty="0"/>
          </a:p>
        </p:txBody>
      </p:sp>
      <p:sp>
        <p:nvSpPr>
          <p:cNvPr id="13" name="Text 9"/>
          <p:cNvSpPr/>
          <p:nvPr/>
        </p:nvSpPr>
        <p:spPr>
          <a:xfrm>
            <a:off x="8409533" y="2261046"/>
            <a:ext cx="286908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Reported MI or coronary disease</a:t>
            </a:r>
            <a:endParaRPr lang="en-US" sz="1400" dirty="0"/>
          </a:p>
        </p:txBody>
      </p:sp>
      <p:sp>
        <p:nvSpPr>
          <p:cNvPr id="14" name="Shape 10"/>
          <p:cNvSpPr/>
          <p:nvPr/>
        </p:nvSpPr>
        <p:spPr>
          <a:xfrm>
            <a:off x="815975" y="3275657"/>
            <a:ext cx="5200650" cy="1194991"/>
          </a:xfrm>
          <a:prstGeom prst="roundRect">
            <a:avLst>
              <a:gd name="adj" fmla="val 8236"/>
            </a:avLst>
          </a:prstGeom>
          <a:solidFill>
            <a:srgbClr val="FCFDFB"/>
          </a:solidFill>
          <a:ln w="6350">
            <a:solidFill>
              <a:srgbClr val="D3DCD9"/>
            </a:solidFill>
            <a:prstDash val="solid"/>
          </a:ln>
        </p:spPr>
      </p:sp>
      <p:sp>
        <p:nvSpPr>
          <p:cNvPr id="15" name="Text 11"/>
          <p:cNvSpPr/>
          <p:nvPr/>
        </p:nvSpPr>
        <p:spPr>
          <a:xfrm>
            <a:off x="996950" y="3431232"/>
            <a:ext cx="4983861"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B34E12"/>
                </a:solidFill>
                <a:latin typeface="IBM Plex Sans" pitchFamily="34" charset="0"/>
                <a:ea typeface="IBM Plex Sans" pitchFamily="34" charset="-122"/>
                <a:cs typeface="IBM Plex Sans" pitchFamily="34" charset="-120"/>
              </a:rPr>
              <a:t>620 / 620</a:t>
            </a:r>
            <a:endParaRPr lang="en-US" sz="3000" dirty="0"/>
          </a:p>
        </p:txBody>
      </p:sp>
      <p:sp>
        <p:nvSpPr>
          <p:cNvPr id="16" name="Text 12"/>
          <p:cNvSpPr/>
          <p:nvPr/>
        </p:nvSpPr>
        <p:spPr>
          <a:xfrm>
            <a:off x="996950" y="3888432"/>
            <a:ext cx="498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development respondents with a recorded response are positive; the feature remains in the final pipeline</a:t>
            </a:r>
            <a:endParaRPr lang="en-US" sz="1200" dirty="0"/>
          </a:p>
        </p:txBody>
      </p:sp>
      <p:sp>
        <p:nvSpPr>
          <p:cNvPr id="17" name="Shape 13"/>
          <p:cNvSpPr/>
          <p:nvPr/>
        </p:nvSpPr>
        <p:spPr>
          <a:xfrm>
            <a:off x="6175375" y="3275657"/>
            <a:ext cx="5200650" cy="1194991"/>
          </a:xfrm>
          <a:prstGeom prst="roundRect">
            <a:avLst>
              <a:gd name="adj" fmla="val 8236"/>
            </a:avLst>
          </a:prstGeom>
          <a:solidFill>
            <a:srgbClr val="FCFDFB"/>
          </a:solidFill>
          <a:ln w="6350">
            <a:solidFill>
              <a:srgbClr val="D3DCD9"/>
            </a:solidFill>
            <a:prstDash val="solid"/>
          </a:ln>
        </p:spPr>
      </p:sp>
      <p:sp>
        <p:nvSpPr>
          <p:cNvPr id="18" name="Text 14"/>
          <p:cNvSpPr/>
          <p:nvPr/>
        </p:nvSpPr>
        <p:spPr>
          <a:xfrm>
            <a:off x="6356350" y="3431232"/>
            <a:ext cx="4983861"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0.442155 → 0.431039</a:t>
            </a:r>
            <a:endParaRPr lang="en-US" sz="3000" dirty="0"/>
          </a:p>
        </p:txBody>
      </p:sp>
      <p:sp>
        <p:nvSpPr>
          <p:cNvPr id="19" name="Text 15"/>
          <p:cNvSpPr/>
          <p:nvPr/>
        </p:nvSpPr>
        <p:spPr>
          <a:xfrm>
            <a:off x="6356350" y="3888432"/>
            <a:ext cx="498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historical nested F1 without it; this ablation does not measure its effect in the final combination</a:t>
            </a:r>
            <a:endParaRPr lang="en-US" sz="1200" dirty="0"/>
          </a:p>
        </p:txBody>
      </p:sp>
      <p:sp>
        <p:nvSpPr>
          <p:cNvPr id="20" name="Text 16"/>
          <p:cNvSpPr/>
          <p:nvPr/>
        </p:nvSpPr>
        <p:spPr>
          <a:xfrm>
            <a:off x="812800" y="5095329"/>
            <a:ext cx="1088339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84B"/>
                </a:solidFill>
                <a:latin typeface="IBM Plex Sans" pitchFamily="34" charset="0"/>
                <a:ea typeface="IBM Plex Sans" pitchFamily="34" charset="-122"/>
                <a:cs typeface="IBM Plex Sans" pitchFamily="34" charset="-120"/>
              </a:rPr>
              <a:t>The project classifies reported disease in a survey. It does not demonstrate prospective clinical prediction, and no temporal or external-population validation is established. Development folds and challenge feedback were consulted repeatedly, so model-selection optimism remains.</a:t>
            </a:r>
            <a:endParaRPr lang="en-US" sz="1400" dirty="0"/>
          </a:p>
        </p:txBody>
      </p:sp>
      <p:sp>
        <p:nvSpPr>
          <p:cNvPr id="21" name="Text 1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feature_metadata.json, evidence/METRICS.json, FINAL_REPORT.md (HAREHAB1)</a:t>
            </a:r>
            <a:endParaRPr lang="en-US" sz="12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84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5F7FA"/>
                </a:solidFill>
                <a:latin typeface="IBM Plex Sans" pitchFamily="34" charset="0"/>
                <a:ea typeface="IBM Plex Sans" pitchFamily="34" charset="-122"/>
                <a:cs typeface="IBM Plex Sans" pitchFamily="34" charset="-120"/>
              </a:rPr>
              <a:t>Reproduction and dated release evidence</a:t>
            </a:r>
            <a:endParaRPr lang="en-US" sz="3000" dirty="0"/>
          </a:p>
        </p:txBody>
      </p:sp>
      <p:sp>
        <p:nvSpPr>
          <p:cNvPr id="3" name="Shape 1"/>
          <p:cNvSpPr/>
          <p:nvPr/>
        </p:nvSpPr>
        <p:spPr>
          <a:xfrm>
            <a:off x="815975" y="1612057"/>
            <a:ext cx="10560050" cy="803870"/>
          </a:xfrm>
          <a:prstGeom prst="roundRect">
            <a:avLst>
              <a:gd name="adj" fmla="val 12244"/>
            </a:avLst>
          </a:prstGeom>
          <a:solidFill>
            <a:srgbClr val="1E3563"/>
          </a:solidFill>
          <a:ln w="6350">
            <a:solidFill>
              <a:srgbClr val="3A5388"/>
            </a:solidFill>
            <a:prstDash val="solid"/>
          </a:ln>
        </p:spPr>
      </p:sp>
      <p:sp>
        <p:nvSpPr>
          <p:cNvPr id="4" name="Text 2"/>
          <p:cNvSpPr/>
          <p:nvPr/>
        </p:nvSpPr>
        <p:spPr>
          <a:xfrm>
            <a:off x="996950" y="1767632"/>
            <a:ext cx="1050404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4E3"/>
                </a:solidFill>
                <a:latin typeface="IBM Plex Sans" pitchFamily="34" charset="0"/>
                <a:ea typeface="IBM Plex Sans" pitchFamily="34" charset="-122"/>
                <a:cs typeface="IBM Plex Sans" pitchFamily="34" charset="-120"/>
              </a:rPr>
              <a:t>From project/, with the documented environment and the official challenge CSVs:</a:t>
            </a:r>
            <a:endParaRPr lang="en-US" sz="1200" dirty="0"/>
          </a:p>
        </p:txBody>
      </p:sp>
      <p:sp>
        <p:nvSpPr>
          <p:cNvPr id="5" name="Text 3"/>
          <p:cNvSpPr/>
          <p:nvPr/>
        </p:nvSpPr>
        <p:spPr>
          <a:xfrm>
            <a:off x="996950" y="2029222"/>
            <a:ext cx="10504043" cy="256530"/>
          </a:xfrm>
          <a:prstGeom prst="rect">
            <a:avLst/>
          </a:prstGeom>
          <a:noFill/>
          <a:ln/>
        </p:spPr>
        <p:txBody>
          <a:bodyPr wrap="none" lIns="0" tIns="0" rIns="0" bIns="0" rtlCol="0" anchor="t">
            <a:normAutofit/>
          </a:bodyPr>
          <a:lstStyle/>
          <a:p>
            <a:pPr algn="l" indent="0" marL="0">
              <a:lnSpc>
                <a:spcPts val="1820"/>
              </a:lnSpc>
              <a:buNone/>
            </a:pPr>
            <a:r>
              <a:rPr lang="en-US" sz="1400" dirty="0">
                <a:solidFill>
                  <a:srgbClr val="6FD6CC"/>
                </a:solidFill>
                <a:latin typeface="IBM Plex Mono" pitchFamily="49" charset="0"/>
                <a:ea typeface="IBM Plex Mono" pitchFamily="49" charset="-122"/>
                <a:cs typeface="IBM Plex Mono" pitchFamily="49" charset="-120"/>
              </a:rPr>
              <a:t>python run.py --data-dir data/raw/dataset --output submission.csv</a:t>
            </a:r>
            <a:endParaRPr lang="en-US" sz="1400" dirty="0"/>
          </a:p>
        </p:txBody>
      </p:sp>
      <p:sp>
        <p:nvSpPr>
          <p:cNvPr id="6" name="Shape 4"/>
          <p:cNvSpPr/>
          <p:nvPr/>
        </p:nvSpPr>
        <p:spPr>
          <a:xfrm>
            <a:off x="815975" y="2799259"/>
            <a:ext cx="3414167" cy="1019721"/>
          </a:xfrm>
          <a:prstGeom prst="roundRect">
            <a:avLst>
              <a:gd name="adj" fmla="val 9652"/>
            </a:avLst>
          </a:prstGeom>
          <a:solidFill>
            <a:srgbClr val="1E3563"/>
          </a:solidFill>
          <a:ln w="6350">
            <a:solidFill>
              <a:srgbClr val="3A5388"/>
            </a:solidFill>
            <a:prstDash val="solid"/>
          </a:ln>
        </p:spPr>
      </p:sp>
      <p:sp>
        <p:nvSpPr>
          <p:cNvPr id="7" name="Text 5"/>
          <p:cNvSpPr/>
          <p:nvPr/>
        </p:nvSpPr>
        <p:spPr>
          <a:xfrm>
            <a:off x="996950" y="2954834"/>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5F7FA"/>
                </a:solidFill>
                <a:latin typeface="IBM Plex Sans" pitchFamily="34" charset="0"/>
                <a:ea typeface="IBM Plex Sans" pitchFamily="34" charset="-122"/>
                <a:cs typeface="IBM Plex Sans" pitchFamily="34" charset="-120"/>
              </a:rPr>
              <a:t>Entry point</a:t>
            </a:r>
            <a:endParaRPr lang="en-US" sz="1400" dirty="0"/>
          </a:p>
        </p:txBody>
      </p:sp>
      <p:sp>
        <p:nvSpPr>
          <p:cNvPr id="8" name="Text 6"/>
          <p:cNvSpPr/>
          <p:nvPr/>
        </p:nvSpPr>
        <p:spPr>
          <a:xfrm>
            <a:off x="996950" y="3236764"/>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Fits all labeled rows and uses the threshold stored in the selected configuration.</a:t>
            </a:r>
            <a:endParaRPr lang="en-US" sz="1200" dirty="0"/>
          </a:p>
        </p:txBody>
      </p:sp>
      <p:sp>
        <p:nvSpPr>
          <p:cNvPr id="9" name="Shape 7"/>
          <p:cNvSpPr/>
          <p:nvPr/>
        </p:nvSpPr>
        <p:spPr>
          <a:xfrm>
            <a:off x="4388892" y="2799259"/>
            <a:ext cx="3414216" cy="1019721"/>
          </a:xfrm>
          <a:prstGeom prst="roundRect">
            <a:avLst>
              <a:gd name="adj" fmla="val 9652"/>
            </a:avLst>
          </a:prstGeom>
          <a:solidFill>
            <a:srgbClr val="1E3563"/>
          </a:solidFill>
          <a:ln w="6350">
            <a:solidFill>
              <a:srgbClr val="3A5388"/>
            </a:solidFill>
            <a:prstDash val="solid"/>
          </a:ln>
        </p:spPr>
      </p:sp>
      <p:sp>
        <p:nvSpPr>
          <p:cNvPr id="10" name="Text 8"/>
          <p:cNvSpPr/>
          <p:nvPr/>
        </p:nvSpPr>
        <p:spPr>
          <a:xfrm>
            <a:off x="4569867" y="2954834"/>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5F7FA"/>
                </a:solidFill>
                <a:latin typeface="IBM Plex Sans" pitchFamily="34" charset="0"/>
                <a:ea typeface="IBM Plex Sans" pitchFamily="34" charset="-122"/>
                <a:cs typeface="IBM Plex Sans" pitchFamily="34" charset="-120"/>
              </a:rPr>
              <a:t>109,379 predictions</a:t>
            </a:r>
            <a:endParaRPr lang="en-US" sz="1400" dirty="0"/>
          </a:p>
        </p:txBody>
      </p:sp>
      <p:sp>
        <p:nvSpPr>
          <p:cNvPr id="11" name="Text 9"/>
          <p:cNvSpPr/>
          <p:nvPr/>
        </p:nvSpPr>
        <p:spPr>
          <a:xfrm>
            <a:off x="4569867" y="3236764"/>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13,999 positive and 95,380 negative: prediction counts, not classification errors.</a:t>
            </a:r>
            <a:endParaRPr lang="en-US" sz="1200" dirty="0"/>
          </a:p>
        </p:txBody>
      </p:sp>
      <p:sp>
        <p:nvSpPr>
          <p:cNvPr id="12" name="Shape 10"/>
          <p:cNvSpPr/>
          <p:nvPr/>
        </p:nvSpPr>
        <p:spPr>
          <a:xfrm>
            <a:off x="7961858" y="2799259"/>
            <a:ext cx="3414167" cy="1019721"/>
          </a:xfrm>
          <a:prstGeom prst="roundRect">
            <a:avLst>
              <a:gd name="adj" fmla="val 9652"/>
            </a:avLst>
          </a:prstGeom>
          <a:solidFill>
            <a:srgbClr val="1E3563"/>
          </a:solidFill>
          <a:ln w="6350">
            <a:solidFill>
              <a:srgbClr val="3A5388"/>
            </a:solidFill>
            <a:prstDash val="solid"/>
          </a:ln>
        </p:spPr>
      </p:sp>
      <p:sp>
        <p:nvSpPr>
          <p:cNvPr id="13" name="Text 11"/>
          <p:cNvSpPr/>
          <p:nvPr/>
        </p:nvSpPr>
        <p:spPr>
          <a:xfrm>
            <a:off x="8142833" y="2954834"/>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5F7FA"/>
                </a:solidFill>
                <a:latin typeface="IBM Plex Sans" pitchFamily="34" charset="0"/>
                <a:ea typeface="IBM Plex Sans" pitchFamily="34" charset="-122"/>
                <a:cs typeface="IBM Plex Sans" pitchFamily="34" charset="-120"/>
              </a:rPr>
              <a:t>14 October 2026 checks</a:t>
            </a:r>
            <a:endParaRPr lang="en-US" sz="1400" dirty="0"/>
          </a:p>
        </p:txBody>
      </p:sp>
      <p:sp>
        <p:nvSpPr>
          <p:cNvPr id="14" name="Text 12"/>
          <p:cNvSpPr/>
          <p:nvPr/>
        </p:nvSpPr>
        <p:spPr>
          <a:xfrm>
            <a:off x="8142833" y="3236764"/>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242 synthetic project tests and exact replay of the selected predictions; not new training.</a:t>
            </a:r>
            <a:endParaRPr lang="en-US" sz="1200" dirty="0"/>
          </a:p>
        </p:txBody>
      </p:sp>
      <p:sp>
        <p:nvSpPr>
          <p:cNvPr id="15" name="Text 13"/>
          <p:cNvSpPr/>
          <p:nvPr/>
        </p:nvSpPr>
        <p:spPr>
          <a:xfrm>
            <a:off x="812800" y="4199186"/>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Guides from the repository root: </a:t>
            </a:r>
            <a:r>
              <a:rPr lang="en-US" sz="1200" dirty="0">
                <a:solidFill>
                  <a:srgbClr val="6FD6CC"/>
                </a:solidFill>
                <a:latin typeface="IBM Plex Sans" pitchFamily="34" charset="0"/>
                <a:ea typeface="IBM Plex Sans" pitchFamily="34" charset="-122"/>
                <a:cs typeface="IBM Plex Sans" pitchFamily="34" charset="-120"/>
              </a:rPr>
              <a:t>docs/RESULTS.md</a:t>
            </a:r>
            <a:r>
              <a:rPr lang="en-US" sz="1200" dirty="0">
                <a:solidFill>
                  <a:srgbClr val="C9D4E3"/>
                </a:solidFill>
                <a:latin typeface="IBM Plex Sans" pitchFamily="34" charset="0"/>
                <a:ea typeface="IBM Plex Sans" pitchFamily="34" charset="-122"/>
                <a:cs typeface="IBM Plex Sans" pitchFamily="34" charset="-120"/>
              </a:rPr>
              <a:t> · </a:t>
            </a:r>
            <a:r>
              <a:rPr lang="en-US" sz="1200" dirty="0">
                <a:solidFill>
                  <a:srgbClr val="6FD6CC"/>
                </a:solidFill>
                <a:latin typeface="IBM Plex Sans" pitchFamily="34" charset="0"/>
                <a:ea typeface="IBM Plex Sans" pitchFamily="34" charset="-122"/>
                <a:cs typeface="IBM Plex Sans" pitchFamily="34" charset="-120"/>
              </a:rPr>
              <a:t>project/README.md</a:t>
            </a:r>
            <a:r>
              <a:rPr lang="en-US" sz="1200" dirty="0">
                <a:solidFill>
                  <a:srgbClr val="C9D4E3"/>
                </a:solidFill>
                <a:latin typeface="IBM Plex Sans" pitchFamily="34" charset="0"/>
                <a:ea typeface="IBM Plex Sans" pitchFamily="34" charset="-122"/>
                <a:cs typeface="IBM Plex Sans" pitchFamily="34" charset="-120"/>
              </a:rPr>
              <a:t> · </a:t>
            </a:r>
            <a:r>
              <a:rPr lang="en-US" sz="1200" dirty="0">
                <a:solidFill>
                  <a:srgbClr val="6FD6CC"/>
                </a:solidFill>
                <a:latin typeface="IBM Plex Sans" pitchFamily="34" charset="0"/>
                <a:ea typeface="IBM Plex Sans" pitchFamily="34" charset="-122"/>
                <a:cs typeface="IBM Plex Sans" pitchFamily="34" charset="-120"/>
              </a:rPr>
              <a:t>evidence/RELEASE_20261014.json</a:t>
            </a:r>
            <a:r>
              <a:rPr lang="en-US" sz="1200" dirty="0">
                <a:solidFill>
                  <a:srgbClr val="C9D4E3"/>
                </a:solidFill>
                <a:latin typeface="IBM Plex Sans" pitchFamily="34" charset="0"/>
                <a:ea typeface="IBM Plex Sans" pitchFamily="34" charset="-122"/>
                <a:cs typeface="IBM Plex Sans" pitchFamily="34" charset="-120"/>
              </a:rPr>
              <a:t>. Data, checkpoints and row-level predictions stay outside Git.</a:t>
            </a:r>
            <a:endParaRPr lang="en-US" sz="1200" dirty="0"/>
          </a:p>
        </p:txBody>
      </p:sp>
      <p:sp>
        <p:nvSpPr>
          <p:cNvPr id="16" name="Text 14"/>
          <p:cNvSpPr/>
          <p:nvPr/>
        </p:nvSpPr>
        <p:spPr>
          <a:xfrm>
            <a:off x="812800" y="500280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E"/>
                </a:solidFill>
                <a:latin typeface="IBM Plex Sans" pitchFamily="34" charset="0"/>
                <a:ea typeface="IBM Plex Sans" pitchFamily="34" charset="-122"/>
                <a:cs typeface="IBM Plex Sans" pitchFamily="34" charset="-120"/>
              </a:rPr>
              <a:t>3rd on the </a:t>
            </a:r>
            <a:r>
              <a:rPr lang="en-US" sz="1200" u="sng" dirty="0">
                <a:solidFill>
                  <a:srgbClr val="6FD6CC"/>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AIcrowd leaderboard</a:t>
            </a:r>
            <a:r>
              <a:rPr lang="en-US" sz="1200" dirty="0">
                <a:solidFill>
                  <a:srgbClr val="A9B8CE"/>
                </a:solidFill>
                <a:latin typeface="IBM Plex Sans" pitchFamily="34" charset="0"/>
                <a:ea typeface="IBM Plex Sans" pitchFamily="34" charset="-122"/>
                <a:cs typeface="IBM Plex Sans" pitchFamily="34" charset="-120"/>
              </a:rPr>
              <a:t> as anto_arbi on 14 October 2026: an author-reported snapshot, not a final placing.</a:t>
            </a:r>
            <a:endParaRPr lang="en-US" sz="1200" dirty="0"/>
          </a:p>
        </p:txBody>
      </p:sp>
      <p:sp>
        <p:nvSpPr>
          <p:cNvPr id="17" name="Text 15"/>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Antonio Arbizzani Tonelli · </a:t>
            </a:r>
            <a:r>
              <a:rPr lang="en-US" sz="1400" u="sng" dirty="0">
                <a:solidFill>
                  <a:srgbClr val="6FD6CC"/>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linkedin.com/in/antonio-arbizzani-tonelli</a:t>
            </a:r>
            <a:endParaRPr lang="en-US" sz="1400" dirty="0"/>
          </a:p>
        </p:txBody>
      </p:sp>
      <p:sp>
        <p:nvSpPr>
          <p:cNvPr id="18" name="Text 1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6FD6CC"/>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github.com/antonio-arbizzani-tonelli/cardiovascular-classification-numpy</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E"/>
                </a:solidFill>
                <a:latin typeface="IBM Plex Sans" pitchFamily="34" charset="0"/>
                <a:ea typeface="IBM Plex Sans" pitchFamily="34" charset="-122"/>
                <a:cs typeface="IBM Plex Sans" pitchFamily="34" charset="-120"/>
              </a:rPr>
              <a:t>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Appendix A · Selected recipe and threshold</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832918"/>
          <a:ext cx="6718300" cy="2994124"/>
        </p:xfrm>
        <a:graphic>
          <a:graphicData uri="http://schemas.openxmlformats.org/drawingml/2006/table">
            <a:tbl>
              <a:tblPr/>
              <a:tblGrid>
                <a:gridCol w="2821686"/>
                <a:gridCol w="3896614"/>
              </a:tblGrid>
              <a:tr h="332680">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Selected 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Identifier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combined18_24_l2_1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Model 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289 source variables + 8 missing-state flags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Trees · depth · learning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200 · 5 · 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Leaf rows · bins · features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 200 · up to 64 · 128 per node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Leaf L2 · model seed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1 · 20260920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Decision threshold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0.21811010373987366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Threshold selection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Pooled 3-fold full-training OOF F1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Fold seed · tie-break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20260919 · accuracy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4" name="Shape 1"/>
          <p:cNvSpPr/>
          <p:nvPr/>
        </p:nvSpPr>
        <p:spPr>
          <a:xfrm>
            <a:off x="7747000" y="1820218"/>
            <a:ext cx="3632200" cy="3006824"/>
          </a:xfrm>
          <a:prstGeom prst="roundRect">
            <a:avLst>
              <a:gd name="adj" fmla="val 3379"/>
            </a:avLst>
          </a:prstGeom>
          <a:solidFill>
            <a:srgbClr val="EAF0EF"/>
          </a:solidFill>
          <a:ln/>
        </p:spPr>
      </p:sp>
      <p:sp>
        <p:nvSpPr>
          <p:cNvPr id="5" name="Text 2"/>
          <p:cNvSpPr/>
          <p:nvPr/>
        </p:nvSpPr>
        <p:spPr>
          <a:xfrm>
            <a:off x="7924800" y="1998018"/>
            <a:ext cx="33748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4B"/>
                </a:solidFill>
                <a:latin typeface="IBM Plex Sans" pitchFamily="34" charset="0"/>
                <a:ea typeface="IBM Plex Sans" pitchFamily="34" charset="-122"/>
                <a:cs typeface="IBM Plex Sans" pitchFamily="34" charset="-120"/>
              </a:rPr>
              <a:t>Repository identifiers</a:t>
            </a:r>
            <a:endParaRPr lang="en-US" sz="1400" dirty="0"/>
          </a:p>
        </p:txBody>
      </p:sp>
      <p:sp>
        <p:nvSpPr>
          <p:cNvPr id="6" name="Text 3"/>
          <p:cNvSpPr/>
          <p:nvPr/>
        </p:nvSpPr>
        <p:spPr>
          <a:xfrm>
            <a:off x="7924800" y="2300238"/>
            <a:ext cx="3374898"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4435C"/>
                </a:solidFill>
                <a:latin typeface="IBM Plex Sans" pitchFamily="34" charset="0"/>
                <a:ea typeface="IBM Plex Sans" pitchFamily="34" charset="-122"/>
                <a:cs typeface="IBM Plex Sans" pitchFamily="34" charset="-120"/>
              </a:rPr>
              <a:t>Phase 14</a:t>
            </a:r>
            <a:r>
              <a:rPr lang="en-US" sz="1200" dirty="0">
                <a:solidFill>
                  <a:srgbClr val="34435C"/>
                </a:solidFill>
                <a:latin typeface="IBM Plex Sans" pitchFamily="34" charset="0"/>
                <a:ea typeface="IBM Plex Sans" pitchFamily="34" charset="-122"/>
                <a:cs typeface="IBM Plex Sans" pitchFamily="34" charset="-120"/>
              </a:rPr>
              <a:t>: historical booster source and codebook cleaning.</a:t>
            </a:r>
            <a:endParaRPr lang="en-US" sz="1200" dirty="0"/>
          </a:p>
        </p:txBody>
      </p:sp>
      <p:sp>
        <p:nvSpPr>
          <p:cNvPr id="7" name="Text 4"/>
          <p:cNvSpPr/>
          <p:nvPr/>
        </p:nvSpPr>
        <p:spPr>
          <a:xfrm>
            <a:off x="7924800" y="2815779"/>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4435C"/>
                </a:solidFill>
                <a:latin typeface="IBM Plex Sans" pitchFamily="34" charset="0"/>
                <a:ea typeface="IBM Plex Sans" pitchFamily="34" charset="-122"/>
                <a:cs typeface="IBM Plex Sans" pitchFamily="34" charset="-120"/>
              </a:rPr>
              <a:t>Phase 18</a:t>
            </a:r>
            <a:r>
              <a:rPr lang="en-US" sz="1200" dirty="0">
                <a:solidFill>
                  <a:srgbClr val="34435C"/>
                </a:solidFill>
                <a:latin typeface="IBM Plex Sans" pitchFamily="34" charset="0"/>
                <a:ea typeface="IBM Plex Sans" pitchFamily="34" charset="-122"/>
                <a:cs typeface="IBM Plex Sans" pitchFamily="34" charset="-120"/>
              </a:rPr>
              <a:t>: diet exclusions.</a:t>
            </a:r>
            <a:endParaRPr lang="en-US" sz="1200" dirty="0"/>
          </a:p>
        </p:txBody>
      </p:sp>
      <p:sp>
        <p:nvSpPr>
          <p:cNvPr id="8" name="Text 5"/>
          <p:cNvSpPr/>
          <p:nvPr/>
        </p:nvSpPr>
        <p:spPr>
          <a:xfrm>
            <a:off x="7924800" y="3117999"/>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4435C"/>
                </a:solidFill>
                <a:latin typeface="IBM Plex Sans" pitchFamily="34" charset="0"/>
                <a:ea typeface="IBM Plex Sans" pitchFamily="34" charset="-122"/>
                <a:cs typeface="IBM Plex Sans" pitchFamily="34" charset="-120"/>
              </a:rPr>
              <a:t>Phase 24</a:t>
            </a:r>
            <a:r>
              <a:rPr lang="en-US" sz="1200" dirty="0">
                <a:solidFill>
                  <a:srgbClr val="34435C"/>
                </a:solidFill>
                <a:latin typeface="IBM Plex Sans" pitchFamily="34" charset="0"/>
                <a:ea typeface="IBM Plex Sans" pitchFamily="34" charset="-122"/>
                <a:cs typeface="IBM Plex Sans" pitchFamily="34" charset="-120"/>
              </a:rPr>
              <a:t>: restricted conditional imputation.</a:t>
            </a:r>
            <a:endParaRPr lang="en-US" sz="1200" dirty="0"/>
          </a:p>
        </p:txBody>
      </p:sp>
      <p:sp>
        <p:nvSpPr>
          <p:cNvPr id="9" name="Text 6"/>
          <p:cNvSpPr/>
          <p:nvPr/>
        </p:nvSpPr>
        <p:spPr>
          <a:xfrm>
            <a:off x="7924800" y="3420219"/>
            <a:ext cx="33748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The final recipe applies the two later preprocessing changes to the unchanged Phase 14 source.</a:t>
            </a:r>
            <a:endParaRPr lang="en-US" sz="1200" dirty="0"/>
          </a:p>
        </p:txBody>
      </p:sp>
      <p:sp>
        <p:nvSpPr>
          <p:cNvPr id="10" name="Text 7"/>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The booster source is byte-identical to the historical reference; the changed preprocessing and the calibrated threshold define a new pipeline. Preserving the source does not transfer the historical evaluation to it.</a:t>
            </a:r>
            <a:endParaRPr lang="en-US" sz="1200" dirty="0"/>
          </a:p>
        </p:txBody>
      </p:sp>
      <p:sp>
        <p:nvSpPr>
          <p:cNvPr id="11" name="Text 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configs/final_model.json, combined18_24_preprocessing.json, final_combined18_24_submission.json</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Appendix B1 · Historical nested comparisons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999258"/>
          <a:ext cx="10553700" cy="2661444"/>
        </p:xfrm>
        <a:graphic>
          <a:graphicData uri="http://schemas.openxmlformats.org/drawingml/2006/table">
            <a:tbl>
              <a:tblPr/>
              <a:tblGrid>
                <a:gridCol w="3799332"/>
                <a:gridCol w="1688592"/>
                <a:gridCol w="1688592"/>
                <a:gridCol w="1688592"/>
                <a:gridCol w="1688592"/>
              </a:tblGrid>
              <a:tr h="332680">
                <a:tc>
                  <a:txBody>
                    <a:bodyPr/>
                    <a:lstStyle/>
                    <a:p>
                      <a:pP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Historical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F1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Precision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c>
                  <a:txBody>
                    <a:bodyPr/>
                    <a:lstStyle/>
                    <a:p>
                      <a:pPr algn="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43F"/>
                      </a:solidFill>
                      <a:prstDash val="solid"/>
                      <a:round/>
                      <a:headEnd type="none" w="med" len="med"/>
                      <a:tailEnd type="none" w="med" len="med"/>
                    </a:lnL>
                    <a:lnR w="12700" cap="flat" cmpd="sng" algn="ctr">
                      <a:solidFill>
                        <a:srgbClr val="14243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243F"/>
                      </a:solidFill>
                      <a:prstDash val="solid"/>
                      <a:round/>
                      <a:headEnd type="none" w="med" len="med"/>
                      <a:tailEnd type="none" w="med" len="med"/>
                    </a:lnB>
                    <a:solidFill>
                      <a:srgbClr val="14284B"/>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Ridge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0.419508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0.333029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0.566652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0.390283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14243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Earlier logistic regression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0.425628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0.357279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0.526316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0.387745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Matched logistic regression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0.434467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0.367541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0.531191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0.420990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Reference booster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BC0BF"/>
                      </a:solidFill>
                      <a:prstDash val="solid"/>
                      <a:round/>
                      <a:headEnd type="none" w="med" len="med"/>
                      <a:tailEnd type="none" w="med" len="med"/>
                    </a:lnB>
                    <a:solidFill>
                      <a:srgbClr val="EAF0EF"/>
                    </a:solidFill>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0.442155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BC0BF"/>
                      </a:solidFill>
                      <a:prstDash val="solid"/>
                      <a:round/>
                      <a:headEnd type="none" w="med" len="med"/>
                      <a:tailEnd type="none" w="med" len="med"/>
                    </a:lnB>
                    <a:solidFill>
                      <a:srgbClr val="EAF0EF"/>
                    </a:solidFill>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0.367632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BC0BF"/>
                      </a:solidFill>
                      <a:prstDash val="solid"/>
                      <a:round/>
                      <a:headEnd type="none" w="med" len="med"/>
                      <a:tailEnd type="none" w="med" len="med"/>
                    </a:lnB>
                    <a:solidFill>
                      <a:srgbClr val="EAF0EF"/>
                    </a:solidFill>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0.554573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BC0BF"/>
                      </a:solidFill>
                      <a:prstDash val="solid"/>
                      <a:round/>
                      <a:headEnd type="none" w="med" len="med"/>
                      <a:tailEnd type="none" w="med" len="med"/>
                    </a:lnB>
                    <a:solidFill>
                      <a:srgbClr val="EAF0EF"/>
                    </a:solidFill>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0.428609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0BF"/>
                      </a:solidFill>
                      <a:prstDash val="solid"/>
                      <a:round/>
                      <a:headEnd type="none" w="med" len="med"/>
                      <a:tailEnd type="none" w="med" len="med"/>
                    </a:lnL>
                    <a:lnR w="12700" cap="flat" cmpd="sng" algn="ctr">
                      <a:solidFill>
                        <a:srgbClr val="BBC0BF"/>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BC0BF"/>
                      </a:solidFill>
                      <a:prstDash val="solid"/>
                      <a:round/>
                      <a:headEnd type="none" w="med" len="med"/>
                      <a:tailEnd type="none" w="med" len="med"/>
                    </a:lnB>
                    <a:solidFill>
                      <a:srgbClr val="EAF0EF"/>
                    </a:solidFill>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Corrected split 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0.440803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0.362001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0.563460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0.428781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BC0BF"/>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MLP 64 → 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0.424451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0.360722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0.515531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0.387782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MLP 128 → 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0.419268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0.340005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0.546721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0.379380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4" name="Text 1"/>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All rows are historical nested pipelines (262,508 rows, 3 outer and 2 inner folds, preprocessing fitted in training partitions); none evaluates the final combination. Ridge and earlier logistic regression keep their historical median-fill representations. AP = average precision.</a:t>
            </a:r>
            <a:endParaRPr lang="en-US" sz="1200" dirty="0"/>
          </a:p>
        </p:txBody>
      </p:sp>
      <p:sp>
        <p:nvSpPr>
          <p:cNvPr id="5" name="Text 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assets/chart_data/model_comparison.csv, evidence/METRICS.json</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B1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0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Appendix B2 · Two historical differences include zero</a:t>
            </a:r>
            <a:endParaRPr lang="en-US" sz="3000" dirty="0"/>
          </a:p>
        </p:txBody>
      </p:sp>
      <p:sp>
        <p:nvSpPr>
          <p:cNvPr id="3" name="Text 1"/>
          <p:cNvSpPr/>
          <p:nvPr/>
        </p:nvSpPr>
        <p:spPr>
          <a:xfrm>
            <a:off x="812800" y="2345730"/>
            <a:ext cx="35318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Cleaning and exclusions</a:t>
            </a:r>
            <a:endParaRPr lang="en-US" sz="1400" dirty="0"/>
          </a:p>
        </p:txBody>
      </p:sp>
      <p:sp>
        <p:nvSpPr>
          <p:cNvPr id="4" name="Text 2"/>
          <p:cNvSpPr/>
          <p:nvPr/>
        </p:nvSpPr>
        <p:spPr>
          <a:xfrm>
            <a:off x="812800" y="2599730"/>
            <a:ext cx="35318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cleaned − raw: +0.000698 [−0.001226, +0.002635]</a:t>
            </a:r>
            <a:endParaRPr lang="en-US" sz="1200" dirty="0"/>
          </a:p>
        </p:txBody>
      </p:sp>
      <p:sp>
        <p:nvSpPr>
          <p:cNvPr id="5" name="Text 3"/>
          <p:cNvSpPr/>
          <p:nvPr/>
        </p:nvSpPr>
        <p:spPr>
          <a:xfrm>
            <a:off x="812800" y="3234730"/>
            <a:ext cx="35318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Corrected split search</a:t>
            </a:r>
            <a:endParaRPr lang="en-US" sz="1400" dirty="0"/>
          </a:p>
        </p:txBody>
      </p:sp>
      <p:sp>
        <p:nvSpPr>
          <p:cNvPr id="6" name="Text 4"/>
          <p:cNvSpPr/>
          <p:nvPr/>
        </p:nvSpPr>
        <p:spPr>
          <a:xfrm>
            <a:off x="812800" y="3488730"/>
            <a:ext cx="35318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corrected − historical: −0.001352 [−0.003005, +0.000319]</a:t>
            </a:r>
            <a:endParaRPr lang="en-US" sz="1200" dirty="0"/>
          </a:p>
        </p:txBody>
      </p:sp>
      <p:sp>
        <p:nvSpPr>
          <p:cNvPr id="7" name="Shape 5"/>
          <p:cNvSpPr/>
          <p:nvPr/>
        </p:nvSpPr>
        <p:spPr>
          <a:xfrm>
            <a:off x="4622800" y="3958630"/>
            <a:ext cx="5715000" cy="12700"/>
          </a:xfrm>
          <a:prstGeom prst="rect">
            <a:avLst/>
          </a:prstGeom>
          <a:solidFill>
            <a:srgbClr val="5B6678"/>
          </a:solidFill>
          <a:ln/>
        </p:spPr>
      </p:sp>
      <p:sp>
        <p:nvSpPr>
          <p:cNvPr id="8" name="Shape 6"/>
          <p:cNvSpPr/>
          <p:nvPr/>
        </p:nvSpPr>
        <p:spPr>
          <a:xfrm>
            <a:off x="7473950" y="2180630"/>
            <a:ext cx="12700" cy="1778000"/>
          </a:xfrm>
          <a:prstGeom prst="rect">
            <a:avLst/>
          </a:prstGeom>
          <a:solidFill>
            <a:srgbClr val="14284B"/>
          </a:solidFill>
          <a:ln/>
        </p:spPr>
      </p:sp>
      <p:sp>
        <p:nvSpPr>
          <p:cNvPr id="9" name="Shape 7"/>
          <p:cNvSpPr/>
          <p:nvPr/>
        </p:nvSpPr>
        <p:spPr>
          <a:xfrm>
            <a:off x="6604000" y="2447330"/>
            <a:ext cx="2755900" cy="228600"/>
          </a:xfrm>
          <a:prstGeom prst="roundRect">
            <a:avLst>
              <a:gd name="adj" fmla="val 22222"/>
            </a:avLst>
          </a:prstGeom>
          <a:solidFill>
            <a:srgbClr val="0E7C7B"/>
          </a:solidFill>
          <a:ln/>
        </p:spPr>
      </p:sp>
      <p:pic>
        <p:nvPicPr>
          <p:cNvPr id="10" name="Image 0" descr="ellipse">    </p:cNvPr>
          <p:cNvPicPr>
            <a:picLocks noChangeAspect="1"/>
          </p:cNvPicPr>
          <p:nvPr/>
        </p:nvPicPr>
        <p:blipFill>
          <a:blip r:embed="rId1"/>
          <a:srcRect l="0" r="0" t="0" b="0"/>
          <a:stretch/>
        </p:blipFill>
        <p:spPr>
          <a:xfrm>
            <a:off x="7861300" y="2447330"/>
            <a:ext cx="228600" cy="228600"/>
          </a:xfrm>
          <a:prstGeom prst="rect">
            <a:avLst/>
          </a:prstGeom>
        </p:spPr>
      </p:pic>
      <p:sp>
        <p:nvSpPr>
          <p:cNvPr id="11" name="Shape 8"/>
          <p:cNvSpPr/>
          <p:nvPr/>
        </p:nvSpPr>
        <p:spPr>
          <a:xfrm>
            <a:off x="5334000" y="3336330"/>
            <a:ext cx="2374900" cy="228600"/>
          </a:xfrm>
          <a:prstGeom prst="roundRect">
            <a:avLst>
              <a:gd name="adj" fmla="val 22222"/>
            </a:avLst>
          </a:prstGeom>
          <a:solidFill>
            <a:srgbClr val="7A8FAB"/>
          </a:solidFill>
          <a:ln/>
        </p:spPr>
      </p:sp>
      <p:pic>
        <p:nvPicPr>
          <p:cNvPr id="12" name="Image 1" descr="ellipse">    </p:cNvPr>
          <p:cNvPicPr>
            <a:picLocks noChangeAspect="1"/>
          </p:cNvPicPr>
          <p:nvPr/>
        </p:nvPicPr>
        <p:blipFill>
          <a:blip r:embed="rId2"/>
          <a:srcRect l="0" r="0" t="0" b="0"/>
          <a:stretch/>
        </p:blipFill>
        <p:spPr>
          <a:xfrm>
            <a:off x="6400800" y="3336330"/>
            <a:ext cx="228600" cy="228600"/>
          </a:xfrm>
          <a:prstGeom prst="rect">
            <a:avLst/>
          </a:prstGeom>
        </p:spPr>
      </p:pic>
      <p:sp>
        <p:nvSpPr>
          <p:cNvPr id="13" name="Text 9"/>
          <p:cNvSpPr/>
          <p:nvPr/>
        </p:nvSpPr>
        <p:spPr>
          <a:xfrm>
            <a:off x="4279900" y="406023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−0.004</a:t>
            </a:r>
            <a:endParaRPr lang="en-US" sz="1200" dirty="0"/>
          </a:p>
        </p:txBody>
      </p:sp>
      <p:sp>
        <p:nvSpPr>
          <p:cNvPr id="14" name="Text 10"/>
          <p:cNvSpPr/>
          <p:nvPr/>
        </p:nvSpPr>
        <p:spPr>
          <a:xfrm>
            <a:off x="5708650" y="406023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−0.002</a:t>
            </a:r>
            <a:endParaRPr lang="en-US" sz="1200" dirty="0"/>
          </a:p>
        </p:txBody>
      </p:sp>
      <p:sp>
        <p:nvSpPr>
          <p:cNvPr id="15" name="Text 11"/>
          <p:cNvSpPr/>
          <p:nvPr/>
        </p:nvSpPr>
        <p:spPr>
          <a:xfrm>
            <a:off x="7137400" y="406023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4B"/>
                </a:solidFill>
                <a:latin typeface="IBM Plex Sans" pitchFamily="34" charset="0"/>
                <a:ea typeface="IBM Plex Sans" pitchFamily="34" charset="-122"/>
                <a:cs typeface="IBM Plex Sans" pitchFamily="34" charset="-120"/>
              </a:rPr>
              <a:t>0</a:t>
            </a:r>
            <a:endParaRPr lang="en-US" sz="1200" dirty="0"/>
          </a:p>
        </p:txBody>
      </p:sp>
      <p:sp>
        <p:nvSpPr>
          <p:cNvPr id="16" name="Text 12"/>
          <p:cNvSpPr/>
          <p:nvPr/>
        </p:nvSpPr>
        <p:spPr>
          <a:xfrm>
            <a:off x="8566150" y="406023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+0.002</a:t>
            </a:r>
            <a:endParaRPr lang="en-US" sz="1200" dirty="0"/>
          </a:p>
        </p:txBody>
      </p:sp>
      <p:sp>
        <p:nvSpPr>
          <p:cNvPr id="17" name="Text 13"/>
          <p:cNvSpPr/>
          <p:nvPr/>
        </p:nvSpPr>
        <p:spPr>
          <a:xfrm>
            <a:off x="9994900" y="406023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+0.004</a:t>
            </a:r>
            <a:endParaRPr lang="en-US" sz="1200" dirty="0"/>
          </a:p>
        </p:txBody>
      </p:sp>
      <p:sp>
        <p:nvSpPr>
          <p:cNvPr id="18" name="Text 14"/>
          <p:cNvSpPr/>
          <p:nvPr/>
        </p:nvSpPr>
        <p:spPr>
          <a:xfrm>
            <a:off x="4537075" y="4377730"/>
            <a:ext cx="58864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Paired nested F1 difference with 95% interval (0 = no difference)</a:t>
            </a:r>
            <a:endParaRPr lang="en-US" sz="1200" dirty="0"/>
          </a:p>
        </p:txBody>
      </p:sp>
      <p:sp>
        <p:nvSpPr>
          <p:cNvPr id="19" name="Text 15"/>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Both intervals are conditional on fixed fits and thresholds and exclude retraining and repeated selection. The cleaning benchmark combines recoding and exclusions. The final pipeline keeps the cleaning and the historical split search.</a:t>
            </a:r>
            <a:endParaRPr lang="en-US" sz="1200" dirty="0"/>
          </a:p>
        </p:txBody>
      </p:sp>
      <p:sp>
        <p:nvSpPr>
          <p:cNvPr id="20" name="Text 1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phase33_raw_preprocessing_summary.md, phase34_missing_only_split_summary.md</a:t>
            </a:r>
            <a:endParaRPr lang="en-US" sz="1200" dirty="0"/>
          </a:p>
        </p:txBody>
      </p:sp>
      <p:sp>
        <p:nvSpPr>
          <p:cNvPr id="21"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B2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84B"/>
                </a:solidFill>
                <a:latin typeface="IBM Plex Sans" pitchFamily="34" charset="0"/>
                <a:ea typeface="IBM Plex Sans" pitchFamily="34" charset="-122"/>
                <a:cs typeface="IBM Plex Sans" pitchFamily="34" charset="-120"/>
              </a:rPr>
              <a:t>Appendix C · Historical classification errors</a:t>
            </a:r>
            <a:endParaRPr lang="en-US" sz="3000" dirty="0"/>
          </a:p>
        </p:txBody>
      </p:sp>
      <p:sp>
        <p:nvSpPr>
          <p:cNvPr id="3" name="Text 1"/>
          <p:cNvSpPr/>
          <p:nvPr/>
        </p:nvSpPr>
        <p:spPr>
          <a:xfrm>
            <a:off x="812800" y="2099419"/>
            <a:ext cx="1719872" cy="2742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8"/>
                </a:solidFill>
                <a:latin typeface="IBM Plex Sans" pitchFamily="34" charset="0"/>
                <a:ea typeface="IBM Plex Sans" pitchFamily="34" charset="-122"/>
                <a:cs typeface="IBM Plex Sans" pitchFamily="34" charset="-120"/>
              </a:rPr>
              <a:t>Actual ↓ · Predicted →</a:t>
            </a:r>
            <a:endParaRPr lang="en-US" sz="1200" dirty="0"/>
          </a:p>
        </p:txBody>
      </p:sp>
      <p:sp>
        <p:nvSpPr>
          <p:cNvPr id="4" name="Text 2"/>
          <p:cNvSpPr/>
          <p:nvPr/>
        </p:nvSpPr>
        <p:spPr>
          <a:xfrm>
            <a:off x="2532672" y="2099419"/>
            <a:ext cx="224732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4B"/>
                </a:solidFill>
                <a:latin typeface="IBM Plex Sans" pitchFamily="34" charset="0"/>
                <a:ea typeface="IBM Plex Sans" pitchFamily="34" charset="-122"/>
                <a:cs typeface="IBM Plex Sans" pitchFamily="34" charset="-120"/>
              </a:rPr>
              <a:t>Predicted positive</a:t>
            </a:r>
            <a:endParaRPr lang="en-US" sz="1400" dirty="0"/>
          </a:p>
        </p:txBody>
      </p:sp>
      <p:sp>
        <p:nvSpPr>
          <p:cNvPr id="5" name="Text 3"/>
          <p:cNvSpPr/>
          <p:nvPr/>
        </p:nvSpPr>
        <p:spPr>
          <a:xfrm>
            <a:off x="4816142" y="2099419"/>
            <a:ext cx="224732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84B"/>
                </a:solidFill>
                <a:latin typeface="IBM Plex Sans" pitchFamily="34" charset="0"/>
                <a:ea typeface="IBM Plex Sans" pitchFamily="34" charset="-122"/>
                <a:cs typeface="IBM Plex Sans" pitchFamily="34" charset="-120"/>
              </a:rPr>
              <a:t>Predicted negative</a:t>
            </a:r>
            <a:endParaRPr lang="en-US" sz="1400" dirty="0"/>
          </a:p>
        </p:txBody>
      </p:sp>
      <p:sp>
        <p:nvSpPr>
          <p:cNvPr id="6" name="Text 4"/>
          <p:cNvSpPr/>
          <p:nvPr/>
        </p:nvSpPr>
        <p:spPr>
          <a:xfrm>
            <a:off x="812800" y="2714079"/>
            <a:ext cx="1701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Actual positive</a:t>
            </a:r>
            <a:endParaRPr lang="en-US" sz="1400" dirty="0"/>
          </a:p>
        </p:txBody>
      </p:sp>
      <p:sp>
        <p:nvSpPr>
          <p:cNvPr id="7" name="Text 5"/>
          <p:cNvSpPr/>
          <p:nvPr/>
        </p:nvSpPr>
        <p:spPr>
          <a:xfrm>
            <a:off x="812800" y="2970609"/>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23,180 respondents</a:t>
            </a:r>
            <a:endParaRPr lang="en-US" sz="1200" dirty="0"/>
          </a:p>
        </p:txBody>
      </p:sp>
      <p:sp>
        <p:nvSpPr>
          <p:cNvPr id="8" name="Shape 6"/>
          <p:cNvSpPr/>
          <p:nvPr/>
        </p:nvSpPr>
        <p:spPr>
          <a:xfrm>
            <a:off x="2565400" y="2449909"/>
            <a:ext cx="2181870" cy="998190"/>
          </a:xfrm>
          <a:prstGeom prst="roundRect">
            <a:avLst>
              <a:gd name="adj" fmla="val 7634"/>
            </a:avLst>
          </a:prstGeom>
          <a:solidFill>
            <a:srgbClr val="CFE8E5"/>
          </a:solidFill>
          <a:ln/>
        </p:spPr>
      </p:sp>
      <p:sp>
        <p:nvSpPr>
          <p:cNvPr id="9" name="Text 7"/>
          <p:cNvSpPr/>
          <p:nvPr/>
        </p:nvSpPr>
        <p:spPr>
          <a:xfrm>
            <a:off x="2743200" y="2627709"/>
            <a:ext cx="188105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12,855</a:t>
            </a:r>
            <a:endParaRPr lang="en-US" sz="3000" dirty="0"/>
          </a:p>
        </p:txBody>
      </p:sp>
      <p:sp>
        <p:nvSpPr>
          <p:cNvPr id="10" name="Text 8"/>
          <p:cNvSpPr/>
          <p:nvPr/>
        </p:nvSpPr>
        <p:spPr>
          <a:xfrm>
            <a:off x="2743200" y="3072209"/>
            <a:ext cx="188105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True positives</a:t>
            </a:r>
            <a:endParaRPr lang="en-US" sz="1200" dirty="0"/>
          </a:p>
        </p:txBody>
      </p:sp>
      <p:sp>
        <p:nvSpPr>
          <p:cNvPr id="11" name="Shape 9"/>
          <p:cNvSpPr/>
          <p:nvPr/>
        </p:nvSpPr>
        <p:spPr>
          <a:xfrm>
            <a:off x="4848870" y="2449909"/>
            <a:ext cx="2181870" cy="998190"/>
          </a:xfrm>
          <a:prstGeom prst="roundRect">
            <a:avLst>
              <a:gd name="adj" fmla="val 7634"/>
            </a:avLst>
          </a:prstGeom>
          <a:solidFill>
            <a:srgbClr val="F6DCCB"/>
          </a:solidFill>
          <a:ln/>
        </p:spPr>
      </p:sp>
      <p:sp>
        <p:nvSpPr>
          <p:cNvPr id="12" name="Text 10"/>
          <p:cNvSpPr/>
          <p:nvPr/>
        </p:nvSpPr>
        <p:spPr>
          <a:xfrm>
            <a:off x="5026670" y="2627709"/>
            <a:ext cx="188105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10,325</a:t>
            </a:r>
            <a:endParaRPr lang="en-US" sz="3000" dirty="0"/>
          </a:p>
        </p:txBody>
      </p:sp>
      <p:sp>
        <p:nvSpPr>
          <p:cNvPr id="13" name="Text 11"/>
          <p:cNvSpPr/>
          <p:nvPr/>
        </p:nvSpPr>
        <p:spPr>
          <a:xfrm>
            <a:off x="5026670" y="3072209"/>
            <a:ext cx="188105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False negatives</a:t>
            </a:r>
            <a:endParaRPr lang="en-US" sz="1200" dirty="0"/>
          </a:p>
        </p:txBody>
      </p:sp>
      <p:sp>
        <p:nvSpPr>
          <p:cNvPr id="14" name="Text 12"/>
          <p:cNvSpPr/>
          <p:nvPr/>
        </p:nvSpPr>
        <p:spPr>
          <a:xfrm>
            <a:off x="812800" y="3813870"/>
            <a:ext cx="1701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84B"/>
                </a:solidFill>
                <a:latin typeface="IBM Plex Sans" pitchFamily="34" charset="0"/>
                <a:ea typeface="IBM Plex Sans" pitchFamily="34" charset="-122"/>
                <a:cs typeface="IBM Plex Sans" pitchFamily="34" charset="-120"/>
              </a:rPr>
              <a:t>Actual negative</a:t>
            </a:r>
            <a:endParaRPr lang="en-US" sz="1400" dirty="0"/>
          </a:p>
        </p:txBody>
      </p:sp>
      <p:sp>
        <p:nvSpPr>
          <p:cNvPr id="15" name="Text 13"/>
          <p:cNvSpPr/>
          <p:nvPr/>
        </p:nvSpPr>
        <p:spPr>
          <a:xfrm>
            <a:off x="812800" y="4070400"/>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239,328 respondents</a:t>
            </a:r>
            <a:endParaRPr lang="en-US" sz="1200" dirty="0"/>
          </a:p>
        </p:txBody>
      </p:sp>
      <p:sp>
        <p:nvSpPr>
          <p:cNvPr id="16" name="Shape 14"/>
          <p:cNvSpPr/>
          <p:nvPr/>
        </p:nvSpPr>
        <p:spPr>
          <a:xfrm>
            <a:off x="2565400" y="3549700"/>
            <a:ext cx="2181870" cy="998190"/>
          </a:xfrm>
          <a:prstGeom prst="roundRect">
            <a:avLst>
              <a:gd name="adj" fmla="val 7634"/>
            </a:avLst>
          </a:prstGeom>
          <a:solidFill>
            <a:srgbClr val="F6DCCB"/>
          </a:solidFill>
          <a:ln/>
        </p:spPr>
      </p:sp>
      <p:sp>
        <p:nvSpPr>
          <p:cNvPr id="17" name="Text 15"/>
          <p:cNvSpPr/>
          <p:nvPr/>
        </p:nvSpPr>
        <p:spPr>
          <a:xfrm>
            <a:off x="2743200" y="3727500"/>
            <a:ext cx="188105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22,112</a:t>
            </a:r>
            <a:endParaRPr lang="en-US" sz="3000" dirty="0"/>
          </a:p>
        </p:txBody>
      </p:sp>
      <p:sp>
        <p:nvSpPr>
          <p:cNvPr id="18" name="Text 16"/>
          <p:cNvSpPr/>
          <p:nvPr/>
        </p:nvSpPr>
        <p:spPr>
          <a:xfrm>
            <a:off x="2743200" y="4172000"/>
            <a:ext cx="188105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False positives</a:t>
            </a:r>
            <a:endParaRPr lang="en-US" sz="1200" dirty="0"/>
          </a:p>
        </p:txBody>
      </p:sp>
      <p:sp>
        <p:nvSpPr>
          <p:cNvPr id="19" name="Shape 17"/>
          <p:cNvSpPr/>
          <p:nvPr/>
        </p:nvSpPr>
        <p:spPr>
          <a:xfrm>
            <a:off x="4848870" y="3549700"/>
            <a:ext cx="2181870" cy="998190"/>
          </a:xfrm>
          <a:prstGeom prst="roundRect">
            <a:avLst>
              <a:gd name="adj" fmla="val 7634"/>
            </a:avLst>
          </a:prstGeom>
          <a:solidFill>
            <a:srgbClr val="DDE3E1"/>
          </a:solidFill>
          <a:ln/>
        </p:spPr>
      </p:sp>
      <p:sp>
        <p:nvSpPr>
          <p:cNvPr id="20" name="Text 18"/>
          <p:cNvSpPr/>
          <p:nvPr/>
        </p:nvSpPr>
        <p:spPr>
          <a:xfrm>
            <a:off x="5026670" y="3727500"/>
            <a:ext cx="188105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84B"/>
                </a:solidFill>
                <a:latin typeface="IBM Plex Sans" pitchFamily="34" charset="0"/>
                <a:ea typeface="IBM Plex Sans" pitchFamily="34" charset="-122"/>
                <a:cs typeface="IBM Plex Sans" pitchFamily="34" charset="-120"/>
              </a:rPr>
              <a:t>217,216</a:t>
            </a:r>
            <a:endParaRPr lang="en-US" sz="3000" dirty="0"/>
          </a:p>
        </p:txBody>
      </p:sp>
      <p:sp>
        <p:nvSpPr>
          <p:cNvPr id="21" name="Text 19"/>
          <p:cNvSpPr/>
          <p:nvPr/>
        </p:nvSpPr>
        <p:spPr>
          <a:xfrm>
            <a:off x="5026670" y="4172000"/>
            <a:ext cx="188105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4B"/>
                </a:solidFill>
                <a:latin typeface="IBM Plex Sans" pitchFamily="34" charset="0"/>
                <a:ea typeface="IBM Plex Sans" pitchFamily="34" charset="-122"/>
                <a:cs typeface="IBM Plex Sans" pitchFamily="34" charset="-120"/>
              </a:rPr>
              <a:t>True negatives</a:t>
            </a:r>
            <a:endParaRPr lang="en-US" sz="1200" dirty="0"/>
          </a:p>
        </p:txBody>
      </p:sp>
      <p:sp>
        <p:nvSpPr>
          <p:cNvPr id="22" name="Shape 20"/>
          <p:cNvSpPr/>
          <p:nvPr/>
        </p:nvSpPr>
        <p:spPr>
          <a:xfrm>
            <a:off x="7233940" y="2099419"/>
            <a:ext cx="4145260" cy="1226741"/>
          </a:xfrm>
          <a:prstGeom prst="roundRect">
            <a:avLst>
              <a:gd name="adj" fmla="val 8282"/>
            </a:avLst>
          </a:prstGeom>
          <a:solidFill>
            <a:srgbClr val="EAF0EF"/>
          </a:solidFill>
          <a:ln/>
        </p:spPr>
      </p:sp>
      <p:sp>
        <p:nvSpPr>
          <p:cNvPr id="23" name="Text 21"/>
          <p:cNvSpPr/>
          <p:nvPr/>
        </p:nvSpPr>
        <p:spPr>
          <a:xfrm>
            <a:off x="7411740" y="2277219"/>
            <a:ext cx="39033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B6E70"/>
                </a:solidFill>
                <a:latin typeface="IBM Plex Sans" pitchFamily="34" charset="0"/>
                <a:ea typeface="IBM Plex Sans" pitchFamily="34" charset="-122"/>
                <a:cs typeface="IBM Plex Sans" pitchFamily="34" charset="-120"/>
              </a:rPr>
              <a:t>0.367632</a:t>
            </a:r>
            <a:endParaRPr lang="en-US" sz="3000" dirty="0"/>
          </a:p>
        </p:txBody>
      </p:sp>
      <p:sp>
        <p:nvSpPr>
          <p:cNvPr id="24" name="Text 22"/>
          <p:cNvSpPr/>
          <p:nvPr/>
        </p:nvSpPr>
        <p:spPr>
          <a:xfrm>
            <a:off x="7411740" y="2721719"/>
            <a:ext cx="3903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Precision: share of predicted positives that are reported cases</a:t>
            </a:r>
            <a:endParaRPr lang="en-US" sz="1200" dirty="0"/>
          </a:p>
        </p:txBody>
      </p:sp>
      <p:sp>
        <p:nvSpPr>
          <p:cNvPr id="25" name="Shape 23"/>
          <p:cNvSpPr/>
          <p:nvPr/>
        </p:nvSpPr>
        <p:spPr>
          <a:xfrm>
            <a:off x="7233940" y="3478560"/>
            <a:ext cx="4145260" cy="1013420"/>
          </a:xfrm>
          <a:prstGeom prst="roundRect">
            <a:avLst>
              <a:gd name="adj" fmla="val 10025"/>
            </a:avLst>
          </a:prstGeom>
          <a:solidFill>
            <a:srgbClr val="EAF0EF"/>
          </a:solidFill>
          <a:ln/>
        </p:spPr>
      </p:sp>
      <p:sp>
        <p:nvSpPr>
          <p:cNvPr id="26" name="Text 24"/>
          <p:cNvSpPr/>
          <p:nvPr/>
        </p:nvSpPr>
        <p:spPr>
          <a:xfrm>
            <a:off x="7411740" y="3656360"/>
            <a:ext cx="39033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B6E70"/>
                </a:solidFill>
                <a:latin typeface="IBM Plex Sans" pitchFamily="34" charset="0"/>
                <a:ea typeface="IBM Plex Sans" pitchFamily="34" charset="-122"/>
                <a:cs typeface="IBM Plex Sans" pitchFamily="34" charset="-120"/>
              </a:rPr>
              <a:t>0.554573</a:t>
            </a:r>
            <a:endParaRPr lang="en-US" sz="3000" dirty="0"/>
          </a:p>
        </p:txBody>
      </p:sp>
      <p:sp>
        <p:nvSpPr>
          <p:cNvPr id="27" name="Text 25"/>
          <p:cNvSpPr/>
          <p:nvPr/>
        </p:nvSpPr>
        <p:spPr>
          <a:xfrm>
            <a:off x="7411740" y="4100860"/>
            <a:ext cx="3903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35C"/>
                </a:solidFill>
                <a:latin typeface="IBM Plex Sans" pitchFamily="34" charset="0"/>
                <a:ea typeface="IBM Plex Sans" pitchFamily="34" charset="-122"/>
                <a:cs typeface="IBM Plex Sans" pitchFamily="34" charset="-120"/>
              </a:rPr>
              <a:t>Recall: share of reported cases that are found</a:t>
            </a:r>
            <a:endParaRPr lang="en-US" sz="1200" dirty="0"/>
          </a:p>
        </p:txBody>
      </p:sp>
      <p:sp>
        <p:nvSpPr>
          <p:cNvPr id="28" name="Text 26"/>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Historical reference booster, nested development decisions on 262,508 rows. These counts are not an independent evaluation of the final model, and the final test prediction counts are not confusion-matrix counts.</a:t>
            </a:r>
            <a:endParaRPr lang="en-US" sz="1200" dirty="0"/>
          </a:p>
        </p:txBody>
      </p:sp>
      <p:sp>
        <p:nvSpPr>
          <p:cNvPr id="29" name="Text 2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Source: evidence/METRICS.json (Phase 14 reference, confusion_counts)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C</a:t>
            </a:r>
            <a:endParaRPr lang="en-US" sz="1200" dirty="0"/>
          </a:p>
        </p:txBody>
      </p:sp>
    </p:spTree>
  </p:cSld>
  <p:clrMapOvr>
    <a:masterClrMapping/>
  </p:clrMapOvr>
</p:sld>
</file>

<file path=ppt/theme/theme1.xml><?xml version="1.0" encoding="utf-8"?>
<a:theme xmlns:a="http://schemas.openxmlformats.org/drawingml/2006/main" name="Cardiovascular Disease Classification in NumPy">
  <a:themeElements>
    <a:clrScheme name="Cardiovascular Disease Classification in NumPy">
      <a:dk1>
        <a:srgbClr val="5B6678"/>
      </a:dk1>
      <a:lt1>
        <a:srgbClr val="F7F8F5"/>
      </a:lt1>
      <a:dk2>
        <a:srgbClr val="828B97"/>
      </a:dk2>
      <a:lt2>
        <a:srgbClr val="E7E9E9"/>
      </a:lt2>
      <a:accent1>
        <a:srgbClr val="14284B"/>
      </a:accent1>
      <a:accent2>
        <a:srgbClr val="34435C"/>
      </a:accent2>
      <a:accent3>
        <a:srgbClr val="1E3563"/>
      </a:accent3>
      <a:accent4>
        <a:srgbClr val="0B6E70"/>
      </a:accent4>
      <a:accent5>
        <a:srgbClr val="0E7C7B"/>
      </a:accent5>
      <a:accent6>
        <a:srgbClr val="F6DCCB"/>
      </a:accent6>
      <a:hlink>
        <a:srgbClr val="0563C1"/>
      </a:hlink>
      <a:folHlink>
        <a:srgbClr val="954F72"/>
      </a:folHlink>
    </a:clrScheme>
    <a:fontScheme name="Cardiovascular Disease Classification in NumP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Disease Classification in NumPy</dc:title>
  <dc:subject/>
  <dc:creator/>
  <cp:lastModifiedBy/>
  <cp:revision>1</cp:revision>
  <dcterms:created xsi:type="dcterms:W3CDTF">2026-10-15T01:47:39Z</dcterms:created>
  <dcterms:modified xsi:type="dcterms:W3CDTF">2026-10-15T01:47:39Z</dcterms:modified>
</cp:coreProperties>
</file>